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drawingml.chart+xml" PartName="/ppt/charts/char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6858000" cy="9144000"/>
  <p:embeddedFontLst>
    <p:embeddedFont>
      <p:font typeface="Arial Narrow"/>
      <p:regular r:id="rId25"/>
      <p:bold r:id="rId26"/>
      <p:italic r:id="rId27"/>
      <p:boldItalic r:id="rId28"/>
    </p:embeddedFont>
    <p:embeddedFont>
      <p:font typeface="Cambria Math"/>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jlXLybK9ihRJ4C/rLtflh8YLDu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A80F3BA-3C41-4C19-AA86-348411CC9863}">
  <a:tblStyle styleId="{2A80F3BA-3C41-4C19-AA86-348411CC9863}"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font>
          <a:latin typeface="Arial"/>
          <a:ea typeface="Arial"/>
          <a:cs typeface="Arial"/>
        </a:font>
        <a:schemeClr val="lt1"/>
      </a:tcTxStyle>
      <a:tcStyle>
        <a:fill>
          <a:solidFill>
            <a:schemeClr val="dk1"/>
          </a:solidFill>
        </a:fill>
      </a:tcStyle>
    </a:lastCol>
    <a:firstCol>
      <a:tcTxStyle b="on" i="off">
        <a:font>
          <a:latin typeface="Arial"/>
          <a:ea typeface="Arial"/>
          <a:cs typeface="Arial"/>
        </a:font>
        <a:schemeClr val="lt1"/>
      </a:tcTxStyle>
      <a:tcStyle>
        <a:fill>
          <a:solidFill>
            <a:schemeClr val="dk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dk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dk1"/>
          </a:solidFill>
        </a:fill>
      </a:tcStyle>
    </a:firstRow>
    <a:neCell>
      <a:tcTxStyle/>
    </a:neCell>
    <a:nwCell>
      <a:tcTxStyle/>
    </a:nwCell>
  </a:tblStyle>
  <a:tblStyle styleId="{DEB9E4B6-BD7D-45AB-9CC1-8DE3A95DDF93}"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ArialNarrow-bold.fntdata"/><Relationship Id="rId25" Type="http://schemas.openxmlformats.org/officeDocument/2006/relationships/font" Target="fonts/ArialNarrow-regular.fntdata"/><Relationship Id="rId28" Type="http://schemas.openxmlformats.org/officeDocument/2006/relationships/font" Target="fonts/ArialNarrow-boldItalic.fntdata"/><Relationship Id="rId27" Type="http://schemas.openxmlformats.org/officeDocument/2006/relationships/font" Target="fonts/ArialNarrow-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CambriaMath-regular.fntdata"/><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ltLang="zh-CN" dirty="0"/>
              <a:t>Refined V-COCO</a:t>
            </a:r>
            <a:r>
              <a:rPr lang="en-US" altLang="zh-CN" baseline="0" dirty="0"/>
              <a:t> Dataset</a:t>
            </a:r>
            <a:r>
              <a:rPr lang="en-US" altLang="zh-CN" dirty="0"/>
              <a:t> Result</a:t>
            </a:r>
            <a:endParaRPr lang="en-AU"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AU"/>
        </a:p>
      </c:txPr>
    </c:title>
    <c:autoTitleDeleted val="0"/>
    <c:plotArea>
      <c:layout/>
      <c:barChart>
        <c:barDir val="col"/>
        <c:grouping val="clustered"/>
        <c:varyColors val="0"/>
        <c:ser>
          <c:idx val="0"/>
          <c:order val="0"/>
          <c:tx>
            <c:strRef>
              <c:f>Sheet1!$B$1</c:f>
              <c:strCache>
                <c:ptCount val="1"/>
                <c:pt idx="0">
                  <c:v>Ratio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PVIC</c:v>
                </c:pt>
                <c:pt idx="1">
                  <c:v>6 kpts</c:v>
                </c:pt>
                <c:pt idx="2">
                  <c:v>17 kpts</c:v>
                </c:pt>
                <c:pt idx="3">
                  <c:v>23 kpts</c:v>
                </c:pt>
                <c:pt idx="4">
                  <c:v>31 kpts</c:v>
                </c:pt>
              </c:strCache>
            </c:strRef>
          </c:cat>
          <c:val>
            <c:numRef>
              <c:f>Sheet1!$B$2:$B$6</c:f>
              <c:numCache>
                <c:formatCode>General</c:formatCode>
                <c:ptCount val="5"/>
                <c:pt idx="0">
                  <c:v>63.57</c:v>
                </c:pt>
                <c:pt idx="1">
                  <c:v>63.67</c:v>
                </c:pt>
                <c:pt idx="2">
                  <c:v>63.97</c:v>
                </c:pt>
                <c:pt idx="3">
                  <c:v>63.6</c:v>
                </c:pt>
                <c:pt idx="4">
                  <c:v>63.51</c:v>
                </c:pt>
              </c:numCache>
            </c:numRef>
          </c:val>
          <c:extLst>
            <c:ext xmlns:c16="http://schemas.microsoft.com/office/drawing/2014/chart" uri="{C3380CC4-5D6E-409C-BE32-E72D297353CC}">
              <c16:uniqueId val="{00000000-284A-4CCE-BE4A-F264D4DAF817}"/>
            </c:ext>
          </c:extLst>
        </c:ser>
        <c:ser>
          <c:idx val="1"/>
          <c:order val="1"/>
          <c:tx>
            <c:strRef>
              <c:f>Sheet1!$C$1</c:f>
              <c:strCache>
                <c:ptCount val="1"/>
                <c:pt idx="0">
                  <c:v>Ratio 3</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PVIC</c:v>
                </c:pt>
                <c:pt idx="1">
                  <c:v>6 kpts</c:v>
                </c:pt>
                <c:pt idx="2">
                  <c:v>17 kpts</c:v>
                </c:pt>
                <c:pt idx="3">
                  <c:v>23 kpts</c:v>
                </c:pt>
                <c:pt idx="4">
                  <c:v>31 kpts</c:v>
                </c:pt>
              </c:strCache>
            </c:strRef>
          </c:cat>
          <c:val>
            <c:numRef>
              <c:f>Sheet1!$C$2:$C$6</c:f>
              <c:numCache>
                <c:formatCode>General</c:formatCode>
                <c:ptCount val="5"/>
                <c:pt idx="1">
                  <c:v>63.7</c:v>
                </c:pt>
                <c:pt idx="2">
                  <c:v>63.88</c:v>
                </c:pt>
                <c:pt idx="3">
                  <c:v>63.51</c:v>
                </c:pt>
                <c:pt idx="4">
                  <c:v>63.36</c:v>
                </c:pt>
              </c:numCache>
            </c:numRef>
          </c:val>
          <c:extLst>
            <c:ext xmlns:c16="http://schemas.microsoft.com/office/drawing/2014/chart" uri="{C3380CC4-5D6E-409C-BE32-E72D297353CC}">
              <c16:uniqueId val="{00000001-284A-4CCE-BE4A-F264D4DAF817}"/>
            </c:ext>
          </c:extLst>
        </c:ser>
        <c:ser>
          <c:idx val="2"/>
          <c:order val="2"/>
          <c:tx>
            <c:strRef>
              <c:f>Sheet1!$D$1</c:f>
              <c:strCache>
                <c:ptCount val="1"/>
                <c:pt idx="0">
                  <c:v>Variable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PVIC</c:v>
                </c:pt>
                <c:pt idx="1">
                  <c:v>6 kpts</c:v>
                </c:pt>
                <c:pt idx="2">
                  <c:v>17 kpts</c:v>
                </c:pt>
                <c:pt idx="3">
                  <c:v>23 kpts</c:v>
                </c:pt>
                <c:pt idx="4">
                  <c:v>31 kpts</c:v>
                </c:pt>
              </c:strCache>
            </c:strRef>
          </c:cat>
          <c:val>
            <c:numRef>
              <c:f>Sheet1!$D$2:$D$6</c:f>
              <c:numCache>
                <c:formatCode>General</c:formatCode>
                <c:ptCount val="5"/>
                <c:pt idx="1">
                  <c:v>63.11</c:v>
                </c:pt>
                <c:pt idx="2">
                  <c:v>62.8</c:v>
                </c:pt>
                <c:pt idx="3">
                  <c:v>62.57</c:v>
                </c:pt>
                <c:pt idx="4">
                  <c:v>62.23</c:v>
                </c:pt>
              </c:numCache>
            </c:numRef>
          </c:val>
          <c:extLst>
            <c:ext xmlns:c16="http://schemas.microsoft.com/office/drawing/2014/chart" uri="{C3380CC4-5D6E-409C-BE32-E72D297353CC}">
              <c16:uniqueId val="{00000002-284A-4CCE-BE4A-F264D4DAF817}"/>
            </c:ext>
          </c:extLst>
        </c:ser>
        <c:dLbls>
          <c:dLblPos val="outEnd"/>
          <c:showLegendKey val="0"/>
          <c:showVal val="1"/>
          <c:showCatName val="0"/>
          <c:showSerName val="0"/>
          <c:showPercent val="0"/>
          <c:showBubbleSize val="0"/>
        </c:dLbls>
        <c:gapWidth val="219"/>
        <c:overlap val="-27"/>
        <c:axId val="1729634447"/>
        <c:axId val="1729634927"/>
      </c:barChart>
      <c:catAx>
        <c:axId val="172963444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29634927"/>
        <c:crosses val="autoZero"/>
        <c:auto val="1"/>
        <c:lblAlgn val="ctr"/>
        <c:lblOffset val="100"/>
        <c:noMultiLvlLbl val="0"/>
      </c:catAx>
      <c:valAx>
        <c:axId val="172963492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AU" dirty="0" err="1"/>
                  <a:t>mAP</a:t>
                </a:r>
                <a:r>
                  <a:rPr lang="en-AU" baseline="0" dirty="0"/>
                  <a:t> percent</a:t>
                </a:r>
                <a:endParaRPr lang="en-AU"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AU"/>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296344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A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"Good afternoon, members of the panel,. My name is </a:t>
            </a:r>
            <a:r>
              <a:rPr b="1" i="0" lang="en-AU" sz="1200" u="none" cap="none" strike="noStrike">
                <a:solidFill>
                  <a:schemeClr val="dk1"/>
                </a:solidFill>
                <a:latin typeface="Calibri"/>
                <a:ea typeface="Calibri"/>
                <a:cs typeface="Calibri"/>
                <a:sym typeface="Calibri"/>
              </a:rPr>
              <a:t>Chunyu Jiang</a:t>
            </a:r>
            <a:r>
              <a:rPr b="0" i="0" lang="en-AU" sz="1200" u="none" cap="none" strike="noStrike">
                <a:solidFill>
                  <a:schemeClr val="dk1"/>
                </a:solidFill>
                <a:latin typeface="Calibri"/>
                <a:ea typeface="Calibri"/>
                <a:cs typeface="Calibri"/>
                <a:sym typeface="Calibri"/>
              </a:rPr>
              <a:t>, a PhD candidate at Monash university supervised by prof chao chen.</a:t>
            </a:r>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Today, I am pleased to present my progress review presentation titled: '</a:t>
            </a:r>
            <a:r>
              <a:rPr b="1" i="0" lang="en-AU" sz="1200" u="none" cap="none" strike="noStrike">
                <a:solidFill>
                  <a:schemeClr val="dk1"/>
                </a:solidFill>
                <a:latin typeface="Calibri"/>
                <a:ea typeface="Calibri"/>
                <a:cs typeface="Calibri"/>
                <a:sym typeface="Calibri"/>
              </a:rPr>
              <a:t>Position-Aware Visual Interaction Transformers with Human-Centric Priors</a:t>
            </a:r>
            <a:r>
              <a:rPr b="0" i="0" lang="en-AU" sz="1200" u="none" cap="none" strike="noStrike">
                <a:solidFill>
                  <a:schemeClr val="dk1"/>
                </a:solidFill>
                <a:latin typeface="Calibri"/>
                <a:ea typeface="Calibri"/>
                <a:cs typeface="Calibri"/>
                <a:sym typeface="Calibri"/>
              </a:rPr>
              <a:t>'.</a:t>
            </a:r>
            <a:endParaRPr/>
          </a:p>
          <a:p>
            <a:pPr indent="0" lvl="0" marL="0" rtl="0" algn="l">
              <a:lnSpc>
                <a:spcPct val="100000"/>
              </a:lnSpc>
              <a:spcBef>
                <a:spcPts val="0"/>
              </a:spcBef>
              <a:spcAft>
                <a:spcPts val="0"/>
              </a:spcAft>
              <a:buSzPts val="1400"/>
              <a:buNone/>
            </a:pPr>
            <a:r>
              <a:t/>
            </a:r>
            <a:endParaRPr/>
          </a:p>
        </p:txBody>
      </p:sp>
      <p:sp>
        <p:nvSpPr>
          <p:cNvPr id="212" name="Google Shape;2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1"/>
          </a:p>
        </p:txBody>
      </p:sp>
      <p:sp>
        <p:nvSpPr>
          <p:cNvPr id="219" name="Google Shape;219;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AU"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d6425a97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dd6425a97b_0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"To begin, let us define the core focus of this research: </a:t>
            </a:r>
            <a:r>
              <a:rPr b="1" i="0" lang="en-AU" sz="1200" u="none" cap="none" strike="noStrike">
                <a:solidFill>
                  <a:schemeClr val="dk1"/>
                </a:solidFill>
                <a:latin typeface="Calibri"/>
                <a:ea typeface="Calibri"/>
                <a:cs typeface="Calibri"/>
                <a:sym typeface="Calibri"/>
              </a:rPr>
              <a:t>Human-Object Interaction</a:t>
            </a:r>
            <a:r>
              <a:rPr b="0" i="0" lang="en-AU" sz="1200" u="none" cap="none" strike="noStrike">
                <a:solidFill>
                  <a:schemeClr val="dk1"/>
                </a:solidFill>
                <a:latin typeface="Calibri"/>
                <a:ea typeface="Calibri"/>
                <a:cs typeface="Calibri"/>
                <a:sym typeface="Calibri"/>
              </a:rPr>
              <a:t>, or </a:t>
            </a:r>
            <a:r>
              <a:rPr b="1" i="0" lang="en-AU" sz="1200" u="none" cap="none" strike="noStrike">
                <a:solidFill>
                  <a:schemeClr val="dk1"/>
                </a:solidFill>
                <a:latin typeface="Calibri"/>
                <a:ea typeface="Calibri"/>
                <a:cs typeface="Calibri"/>
                <a:sym typeface="Calibri"/>
              </a:rPr>
              <a:t>HOI</a:t>
            </a:r>
            <a:r>
              <a:rPr b="0" i="0" lang="en-AU" sz="1200" u="none" cap="none" strike="noStrike">
                <a:solidFill>
                  <a:schemeClr val="dk1"/>
                </a:solidFill>
                <a:latin typeface="Calibri"/>
                <a:ea typeface="Calibri"/>
                <a:cs typeface="Calibri"/>
                <a:sym typeface="Calibri"/>
              </a:rPr>
              <a:t>.</a:t>
            </a:r>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At its heart, HOI detection is the process of estimating and classifying the complex relationships between humans and the objects they interact with in a image.</a:t>
            </a:r>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While standard object detection focuses on </a:t>
            </a:r>
            <a:r>
              <a:rPr b="0" i="1" lang="en-AU" sz="1200" u="none" cap="none" strike="noStrike">
                <a:solidFill>
                  <a:schemeClr val="dk1"/>
                </a:solidFill>
                <a:latin typeface="Calibri"/>
                <a:ea typeface="Calibri"/>
                <a:cs typeface="Calibri"/>
                <a:sym typeface="Calibri"/>
              </a:rPr>
              <a:t>what</a:t>
            </a:r>
            <a:r>
              <a:rPr b="0" i="0" lang="en-AU" sz="1200" u="none" cap="none" strike="noStrike">
                <a:solidFill>
                  <a:schemeClr val="dk1"/>
                </a:solidFill>
                <a:latin typeface="Calibri"/>
                <a:ea typeface="Calibri"/>
                <a:cs typeface="Calibri"/>
                <a:sym typeface="Calibri"/>
              </a:rPr>
              <a:t> is in an image, HOI aims to answer the more semantic question: </a:t>
            </a:r>
            <a:r>
              <a:rPr b="1" i="0" lang="en-AU" sz="1200" u="none" cap="none" strike="noStrike">
                <a:solidFill>
                  <a:schemeClr val="dk1"/>
                </a:solidFill>
                <a:latin typeface="Calibri"/>
                <a:ea typeface="Calibri"/>
                <a:cs typeface="Calibri"/>
                <a:sym typeface="Calibri"/>
              </a:rPr>
              <a:t>'What are the people doing with what objects?'</a:t>
            </a:r>
            <a:r>
              <a:rPr b="0" i="0" lang="en-AU" sz="1200" u="none" cap="none" strike="noStrike">
                <a:solidFill>
                  <a:schemeClr val="dk1"/>
                </a:solidFill>
                <a:latin typeface="Calibri"/>
                <a:ea typeface="Calibri"/>
                <a:cs typeface="Calibri"/>
                <a:sym typeface="Calibri"/>
              </a:rPr>
              <a:t>.</a:t>
            </a:r>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The output of hoi is a structured triplet: </a:t>
            </a:r>
            <a:r>
              <a:rPr b="1" i="0" lang="en-AU" sz="1200" u="none" cap="none" strike="noStrike">
                <a:solidFill>
                  <a:schemeClr val="dk1"/>
                </a:solidFill>
                <a:latin typeface="Calibri"/>
                <a:ea typeface="Calibri"/>
                <a:cs typeface="Calibri"/>
                <a:sym typeface="Calibri"/>
              </a:rPr>
              <a:t>&lt;human, action, object&gt;</a:t>
            </a:r>
            <a:r>
              <a:rPr b="0" i="0" lang="en-AU" sz="1200" u="none" cap="none" strike="noStrike">
                <a:solidFill>
                  <a:schemeClr val="dk1"/>
                </a:solidFill>
                <a:latin typeface="Calibri"/>
                <a:ea typeface="Calibri"/>
                <a:cs typeface="Calibri"/>
                <a:sym typeface="Calibri"/>
              </a:rPr>
              <a:t>.</a:t>
            </a:r>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Take </a:t>
            </a:r>
            <a:r>
              <a:rPr b="1" i="0" lang="en-AU" sz="1200" u="none" cap="none" strike="noStrike">
                <a:solidFill>
                  <a:schemeClr val="dk1"/>
                </a:solidFill>
                <a:latin typeface="Calibri"/>
                <a:ea typeface="Calibri"/>
                <a:cs typeface="Calibri"/>
                <a:sym typeface="Calibri"/>
              </a:rPr>
              <a:t>Figure 1</a:t>
            </a:r>
            <a:r>
              <a:rPr b="0" i="0" lang="en-AU" sz="1200" u="none" cap="none" strike="noStrike">
                <a:solidFill>
                  <a:schemeClr val="dk1"/>
                </a:solidFill>
                <a:latin typeface="Calibri"/>
                <a:ea typeface="Calibri"/>
                <a:cs typeface="Calibri"/>
                <a:sym typeface="Calibri"/>
              </a:rPr>
              <a:t> for example. A simple detector might find a human and an elephant. Our goal is to determine the precise interaction—'human ride elephant'.</a:t>
            </a:r>
            <a:endParaRPr/>
          </a:p>
          <a:p>
            <a:pPr indent="0" lvl="0" marL="0" rtl="0" algn="l">
              <a:lnSpc>
                <a:spcPct val="100000"/>
              </a:lnSpc>
              <a:spcBef>
                <a:spcPts val="0"/>
              </a:spcBef>
              <a:spcAft>
                <a:spcPts val="0"/>
              </a:spcAft>
              <a:buSzPts val="1400"/>
              <a:buNone/>
            </a:pPr>
            <a:r>
              <a:t/>
            </a:r>
            <a:endParaRPr/>
          </a:p>
        </p:txBody>
      </p:sp>
      <p:sp>
        <p:nvSpPr>
          <p:cNvPr id="227" name="Google Shape;227;g3dd6425a97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AU"/>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d49611c445_1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g3d49611c445_1_2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A central theme of my research is the effective utilization of </a:t>
            </a:r>
            <a:r>
              <a:rPr b="1" i="0" lang="en-AU" sz="1200" u="none" cap="none" strike="noStrike">
                <a:solidFill>
                  <a:schemeClr val="dk1"/>
                </a:solidFill>
                <a:latin typeface="Calibri"/>
                <a:ea typeface="Calibri"/>
                <a:cs typeface="Calibri"/>
                <a:sym typeface="Calibri"/>
              </a:rPr>
              <a:t>Prior Knowledge</a:t>
            </a:r>
            <a:r>
              <a:rPr b="0" i="0" lang="en-AU" sz="1200" u="none" cap="none" strike="noStrike">
                <a:solidFill>
                  <a:schemeClr val="dk1"/>
                </a:solidFill>
                <a:latin typeface="Calibri"/>
                <a:ea typeface="Calibri"/>
                <a:cs typeface="Calibri"/>
                <a:sym typeface="Calibri"/>
              </a:rPr>
              <a:t>.</a:t>
            </a:r>
            <a:endParaRPr/>
          </a:p>
          <a:p>
            <a:pPr indent="-228600" lvl="0" marL="457200" marR="0" rtl="0" algn="l">
              <a:lnSpc>
                <a:spcPct val="100000"/>
              </a:lnSpc>
              <a:spcBef>
                <a:spcPts val="0"/>
              </a:spcBef>
              <a:spcAft>
                <a:spcPts val="0"/>
              </a:spcAft>
              <a:buClr>
                <a:srgbClr val="000000"/>
              </a:buClr>
              <a:buSzPts val="1400"/>
              <a:buFont typeface="Arial"/>
              <a:buNone/>
            </a:pPr>
            <a:r>
              <a:rPr lang="en-AU"/>
              <a:t>Prior knowledge acts as a critical bridge between </a:t>
            </a:r>
            <a:r>
              <a:rPr b="1" lang="en-AU"/>
              <a:t>'known' and 'unknown'</a:t>
            </a:r>
            <a:r>
              <a:rPr lang="en-AU"/>
              <a:t> information. By leveraging expertise from one domain and applying it to another, we allow the new model to achieve high performance much faster</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AU"/>
              <a:t>One of the most common examples of prior knowledge is using a CNN pre-trained on </a:t>
            </a:r>
            <a:r>
              <a:rPr b="1" lang="en-AU"/>
              <a:t>ImageNet</a:t>
            </a:r>
            <a:r>
              <a:rPr lang="en-AU"/>
              <a:t> as backbone.  this because it provides the most powerful feature extraction capabilities currently available, giving model a 'head start' in understanding visual features."</a:t>
            </a:r>
            <a:endParaRPr/>
          </a:p>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
        <p:nvSpPr>
          <p:cNvPr id="238" name="Google Shape;238;g3d49611c445_1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AU"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49611c445_1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d49611c445_1_1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Next, I’d like to focus on the heart of the </a:t>
            </a:r>
            <a:r>
              <a:rPr b="1" i="0" lang="en-AU" sz="1200" u="none" cap="none" strike="noStrike">
                <a:solidFill>
                  <a:schemeClr val="dk1"/>
                </a:solidFill>
                <a:latin typeface="Calibri"/>
                <a:ea typeface="Calibri"/>
                <a:cs typeface="Calibri"/>
                <a:sym typeface="Calibri"/>
              </a:rPr>
              <a:t>Detection Transformer</a:t>
            </a:r>
            <a:r>
              <a:rPr b="0" i="0" lang="en-AU" sz="1200" u="none" cap="none" strike="noStrike">
                <a:solidFill>
                  <a:schemeClr val="dk1"/>
                </a:solidFill>
                <a:latin typeface="Calibri"/>
                <a:ea typeface="Calibri"/>
                <a:cs typeface="Calibri"/>
                <a:sym typeface="Calibri"/>
              </a:rPr>
              <a:t>, or </a:t>
            </a:r>
            <a:r>
              <a:rPr b="1" i="0" lang="en-AU" sz="1200" u="none" cap="none" strike="noStrike">
                <a:solidFill>
                  <a:schemeClr val="dk1"/>
                </a:solidFill>
                <a:latin typeface="Calibri"/>
                <a:ea typeface="Calibri"/>
                <a:cs typeface="Calibri"/>
                <a:sym typeface="Calibri"/>
              </a:rPr>
              <a:t>DETR</a:t>
            </a:r>
            <a:r>
              <a:rPr b="0" i="0" lang="en-AU" sz="1200" u="none" cap="none" strike="noStrike">
                <a:solidFill>
                  <a:schemeClr val="dk1"/>
                </a:solidFill>
                <a:latin typeface="Calibri"/>
                <a:ea typeface="Calibri"/>
                <a:cs typeface="Calibri"/>
                <a:sym typeface="Calibri"/>
              </a:rPr>
              <a:t>, which was done by the Facebook AI Research team. DETR represents a fundamental shift in how we approach object detection.</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If we look at the </a:t>
            </a:r>
            <a:r>
              <a:rPr b="1" i="0" lang="en-AU" sz="1200" u="none" cap="none" strike="noStrike">
                <a:solidFill>
                  <a:schemeClr val="dk1"/>
                </a:solidFill>
                <a:latin typeface="Calibri"/>
                <a:ea typeface="Calibri"/>
                <a:cs typeface="Calibri"/>
                <a:sym typeface="Calibri"/>
              </a:rPr>
              <a:t>formula</a:t>
            </a:r>
            <a:r>
              <a:rPr b="0" i="0" lang="en-AU" sz="1200" u="none" cap="none" strike="noStrike">
                <a:solidFill>
                  <a:schemeClr val="dk1"/>
                </a:solidFill>
                <a:latin typeface="Calibri"/>
                <a:ea typeface="Calibri"/>
                <a:cs typeface="Calibri"/>
                <a:sym typeface="Calibri"/>
              </a:rPr>
              <a:t> in the top right, it is the cross attention equation of detr</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The </a:t>
            </a:r>
            <a:r>
              <a:rPr b="1" i="0" lang="en-AU" sz="1200" u="none" cap="none" strike="noStrike">
                <a:solidFill>
                  <a:schemeClr val="dk1"/>
                </a:solidFill>
                <a:latin typeface="Calibri"/>
                <a:ea typeface="Calibri"/>
                <a:cs typeface="Calibri"/>
                <a:sym typeface="Calibri"/>
              </a:rPr>
              <a:t>Query ($Q$)</a:t>
            </a:r>
            <a:r>
              <a:rPr b="0" i="0" lang="en-AU" sz="1200" u="none" cap="none" strike="noStrike">
                <a:solidFill>
                  <a:schemeClr val="dk1"/>
                </a:solidFill>
                <a:latin typeface="Calibri"/>
                <a:ea typeface="Calibri"/>
                <a:cs typeface="Calibri"/>
                <a:sym typeface="Calibri"/>
              </a:rPr>
              <a:t> represents the detective’s question: </a:t>
            </a:r>
            <a:r>
              <a:rPr b="0" i="1" lang="en-AU" sz="1200" u="none" cap="none" strike="noStrike">
                <a:solidFill>
                  <a:schemeClr val="dk1"/>
                </a:solidFill>
                <a:latin typeface="Calibri"/>
                <a:ea typeface="Calibri"/>
                <a:cs typeface="Calibri"/>
                <a:sym typeface="Calibri"/>
              </a:rPr>
              <a:t>‘Is there an object of interest in my assigned zone?’</a:t>
            </a:r>
            <a:r>
              <a:rPr b="0" i="0" lang="en-AU" sz="1200" u="none" cap="none" strike="noStrike">
                <a:solidFill>
                  <a:schemeClr val="dk1"/>
                </a:solidFill>
                <a:latin typeface="Calibri"/>
                <a:ea typeface="Calibri"/>
                <a:cs typeface="Calibri"/>
                <a:sym typeface="Calibri"/>
              </a:rPr>
              <a:t> Initially, these are set to random initial, original detr has 100 query,The </a:t>
            </a:r>
            <a:r>
              <a:rPr b="1" i="0" lang="en-AU" sz="1200" u="none" cap="none" strike="noStrike">
                <a:solidFill>
                  <a:schemeClr val="dk1"/>
                </a:solidFill>
                <a:latin typeface="Calibri"/>
                <a:ea typeface="Calibri"/>
                <a:cs typeface="Calibri"/>
                <a:sym typeface="Calibri"/>
              </a:rPr>
              <a:t>Key is feature a feature position and </a:t>
            </a:r>
            <a:r>
              <a:rPr b="0" i="0" lang="en-AU" sz="1200" u="none" cap="none" strike="noStrike">
                <a:solidFill>
                  <a:schemeClr val="dk1"/>
                </a:solidFill>
                <a:latin typeface="Calibri"/>
                <a:ea typeface="Calibri"/>
                <a:cs typeface="Calibri"/>
                <a:sym typeface="Calibri"/>
              </a:rPr>
              <a:t>The </a:t>
            </a:r>
            <a:r>
              <a:rPr b="1" i="0" lang="en-AU" sz="1200" u="none" cap="none" strike="noStrike">
                <a:solidFill>
                  <a:schemeClr val="dk1"/>
                </a:solidFill>
                <a:latin typeface="Calibri"/>
                <a:ea typeface="Calibri"/>
                <a:cs typeface="Calibri"/>
                <a:sym typeface="Calibri"/>
              </a:rPr>
              <a:t>Value ($V$)</a:t>
            </a:r>
            <a:r>
              <a:rPr b="0" i="0" lang="en-AU" sz="1200" u="none" cap="none" strike="noStrike">
                <a:solidFill>
                  <a:schemeClr val="dk1"/>
                </a:solidFill>
                <a:latin typeface="Calibri"/>
                <a:ea typeface="Calibri"/>
                <a:cs typeface="Calibri"/>
                <a:sym typeface="Calibri"/>
              </a:rPr>
              <a:t> is the raw visual information.</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Figure 2 is the structure of detr, each query output bbox, classification</a:t>
            </a:r>
            <a:endParaRPr i="1"/>
          </a:p>
        </p:txBody>
      </p:sp>
      <p:sp>
        <p:nvSpPr>
          <p:cNvPr id="252" name="Google Shape;252;g3d49611c445_1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AU"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"Now, I want to highlight the </a:t>
            </a:r>
            <a:r>
              <a:rPr b="1" i="0" lang="en-AU" sz="1200" u="none" cap="none" strike="noStrike">
                <a:solidFill>
                  <a:schemeClr val="dk1"/>
                </a:solidFill>
                <a:latin typeface="Calibri"/>
                <a:ea typeface="Calibri"/>
                <a:cs typeface="Calibri"/>
                <a:sym typeface="Calibri"/>
              </a:rPr>
              <a:t>PVIC</a:t>
            </a:r>
            <a:r>
              <a:rPr b="0" i="0" lang="en-AU" sz="1200" u="none" cap="none" strike="noStrike">
                <a:solidFill>
                  <a:schemeClr val="dk1"/>
                </a:solidFill>
                <a:latin typeface="Calibri"/>
                <a:ea typeface="Calibri"/>
                <a:cs typeface="Calibri"/>
                <a:sym typeface="Calibri"/>
              </a:rPr>
              <a:t> model, which serves as a major baseline and inspiration for my research. </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PVIC</a:t>
            </a:r>
            <a:r>
              <a:rPr b="0" i="0" lang="en-AU" sz="1200" u="none" cap="none" strike="noStrike">
                <a:solidFill>
                  <a:schemeClr val="dk1"/>
                </a:solidFill>
                <a:latin typeface="Calibri"/>
                <a:ea typeface="Calibri"/>
                <a:cs typeface="Calibri"/>
                <a:sym typeface="Calibri"/>
              </a:rPr>
              <a:t> introduced a significant redesign of the query mechanism. Instead of random vectors, it constructs queries using two specific components:</a:t>
            </a:r>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Content Query ($Q_c$):</a:t>
            </a:r>
            <a:r>
              <a:rPr b="0" i="0" lang="en-AU" sz="1200" u="none" cap="none" strike="noStrike">
                <a:solidFill>
                  <a:schemeClr val="dk1"/>
                </a:solidFill>
                <a:latin typeface="Calibri"/>
                <a:ea typeface="Calibri"/>
                <a:cs typeface="Calibri"/>
                <a:sym typeface="Calibri"/>
              </a:rPr>
              <a:t> This fuses the appearance features of the detected human and object from the initial stage. </a:t>
            </a:r>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Positional Query ($Q_p$):</a:t>
            </a:r>
            <a:r>
              <a:rPr b="0" i="0" lang="en-AU" sz="1200" u="none" cap="none" strike="noStrike">
                <a:solidFill>
                  <a:schemeClr val="dk1"/>
                </a:solidFill>
                <a:latin typeface="Calibri"/>
                <a:ea typeface="Calibri"/>
                <a:cs typeface="Calibri"/>
                <a:sym typeface="Calibri"/>
              </a:rPr>
              <a:t> This concatenates the human and object position information and projects them into a higher-dimensional space. </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By replacing random initialization with this </a:t>
            </a:r>
            <a:r>
              <a:rPr b="1" i="0" lang="en-AU" sz="1200" u="none" cap="none" strike="noStrike">
                <a:solidFill>
                  <a:schemeClr val="dk1"/>
                </a:solidFill>
                <a:latin typeface="Calibri"/>
                <a:ea typeface="Calibri"/>
                <a:cs typeface="Calibri"/>
                <a:sym typeface="Calibri"/>
              </a:rPr>
              <a:t>strong prior</a:t>
            </a:r>
            <a:r>
              <a:rPr b="0" i="0" lang="en-AU" sz="1200" u="none" cap="none" strike="noStrike">
                <a:solidFill>
                  <a:schemeClr val="dk1"/>
                </a:solidFill>
                <a:latin typeface="Calibri"/>
                <a:ea typeface="Calibri"/>
                <a:cs typeface="Calibri"/>
                <a:sym typeface="Calibri"/>
              </a:rPr>
              <a:t>. This targeted approach not only improves detection accuracy but also enhances training efficiency, allowing the model to converge in only </a:t>
            </a:r>
            <a:r>
              <a:rPr b="1" i="0" lang="en-AU" sz="1200" u="none" cap="none" strike="noStrike">
                <a:solidFill>
                  <a:schemeClr val="dk1"/>
                </a:solidFill>
                <a:latin typeface="Calibri"/>
                <a:ea typeface="Calibri"/>
                <a:cs typeface="Calibri"/>
                <a:sym typeface="Calibri"/>
              </a:rPr>
              <a:t>30 epochs compare with 500 epoch of original detr</a:t>
            </a:r>
            <a:endParaRPr i="1"/>
          </a:p>
        </p:txBody>
      </p:sp>
      <p:sp>
        <p:nvSpPr>
          <p:cNvPr id="267" name="Google Shape;267;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AU"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"Next, I will provide a brief review of the primary benchmarks used in Human-Object Interaction research:  </a:t>
            </a:r>
            <a:r>
              <a:rPr b="1" i="0" lang="en-AU" sz="1200" u="none" cap="none" strike="noStrike">
                <a:solidFill>
                  <a:schemeClr val="dk1"/>
                </a:solidFill>
                <a:latin typeface="Calibri"/>
                <a:ea typeface="Calibri"/>
                <a:cs typeface="Calibri"/>
                <a:sym typeface="Calibri"/>
              </a:rPr>
              <a:t>V-COCO</a:t>
            </a:r>
            <a:r>
              <a:rPr b="0" i="0" lang="en-AU" sz="1200" u="none" cap="none" strike="noStrike">
                <a:solidFill>
                  <a:schemeClr val="dk1"/>
                </a:solidFill>
                <a:latin typeface="Calibri"/>
                <a:ea typeface="Calibri"/>
                <a:cs typeface="Calibri"/>
                <a:sym typeface="Calibri"/>
              </a:rPr>
              <a:t>.</a:t>
            </a:r>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As summarized in </a:t>
            </a:r>
            <a:r>
              <a:rPr b="1" i="0" lang="en-AU" sz="1200" u="none" cap="none" strike="noStrike">
                <a:solidFill>
                  <a:schemeClr val="dk1"/>
                </a:solidFill>
                <a:latin typeface="Calibri"/>
                <a:ea typeface="Calibri"/>
                <a:cs typeface="Calibri"/>
                <a:sym typeface="Calibri"/>
              </a:rPr>
              <a:t>Table 1</a:t>
            </a:r>
            <a:r>
              <a:rPr b="0" i="0" lang="en-AU" sz="1200" u="none" cap="none" strike="noStrike">
                <a:solidFill>
                  <a:schemeClr val="dk1"/>
                </a:solidFill>
                <a:latin typeface="Calibri"/>
                <a:ea typeface="Calibri"/>
                <a:cs typeface="Calibri"/>
                <a:sym typeface="Calibri"/>
              </a:rPr>
              <a:t>, </a:t>
            </a:r>
            <a:r>
              <a:rPr b="1" i="0" lang="en-AU" sz="1200" u="none" cap="none" strike="noStrike">
                <a:solidFill>
                  <a:schemeClr val="dk1"/>
                </a:solidFill>
                <a:latin typeface="Calibri"/>
                <a:ea typeface="Calibri"/>
                <a:cs typeface="Calibri"/>
                <a:sym typeface="Calibri"/>
              </a:rPr>
              <a:t>V-COCO</a:t>
            </a:r>
            <a:r>
              <a:rPr b="0" i="0" lang="en-AU" sz="1200" u="none" cap="none" strike="noStrike">
                <a:solidFill>
                  <a:schemeClr val="dk1"/>
                </a:solidFill>
                <a:latin typeface="Calibri"/>
                <a:ea typeface="Calibri"/>
                <a:cs typeface="Calibri"/>
                <a:sym typeface="Calibri"/>
              </a:rPr>
              <a:t> has roughly 10,000 images and 29 action categories. and 80 object categories.</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The datasets present three major challenges that my research seeks to address: first is human instance maybe small, or occlusion. Next is annotation focus on edge subject than primary, last is human error</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We can see a clear example of these challenges in </a:t>
            </a:r>
            <a:r>
              <a:rPr b="1" i="0" lang="en-AU" sz="1200" u="none" cap="none" strike="noStrike">
                <a:solidFill>
                  <a:schemeClr val="dk1"/>
                </a:solidFill>
                <a:latin typeface="Calibri"/>
                <a:ea typeface="Calibri"/>
                <a:cs typeface="Calibri"/>
                <a:sym typeface="Calibri"/>
              </a:rPr>
              <a:t>Figure 3</a:t>
            </a:r>
            <a:r>
              <a:rPr b="0" i="0" lang="en-AU" sz="1200" u="none" cap="none" strike="noStrike">
                <a:solidFill>
                  <a:schemeClr val="dk1"/>
                </a:solidFill>
                <a:latin typeface="Calibri"/>
                <a:ea typeface="Calibri"/>
                <a:cs typeface="Calibri"/>
                <a:sym typeface="Calibri"/>
              </a:rPr>
              <a:t>. While the ground truth for this image is the triplet </a:t>
            </a:r>
            <a:r>
              <a:rPr b="1" i="0" lang="en-AU" sz="1200" u="none" cap="none" strike="noStrike">
                <a:solidFill>
                  <a:schemeClr val="dk1"/>
                </a:solidFill>
                <a:latin typeface="Calibri"/>
                <a:ea typeface="Calibri"/>
                <a:cs typeface="Calibri"/>
                <a:sym typeface="Calibri"/>
              </a:rPr>
              <a:t>&lt;human, ride, boat&gt;</a:t>
            </a:r>
            <a:r>
              <a:rPr b="0" i="0" lang="en-AU" sz="1200" u="none" cap="none" strike="noStrike">
                <a:solidFill>
                  <a:schemeClr val="dk1"/>
                </a:solidFill>
                <a:latin typeface="Calibri"/>
                <a:ea typeface="Calibri"/>
                <a:cs typeface="Calibri"/>
                <a:sym typeface="Calibri"/>
              </a:rPr>
              <a:t>, the human instances are extremely small and positioned away from the center of the frame. </a:t>
            </a:r>
            <a:endParaRPr i="1"/>
          </a:p>
        </p:txBody>
      </p:sp>
      <p:sp>
        <p:nvSpPr>
          <p:cNvPr id="281" name="Google Shape;281;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AU"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1"/>
          </a:p>
        </p:txBody>
      </p:sp>
      <p:sp>
        <p:nvSpPr>
          <p:cNvPr id="295" name="Google Shape;295;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AU"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We know the dataset’s problem, so to To overcome these barriers, I have implemented a refine statety:</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Leveraging Off-the-shelf Detectors</a:t>
            </a:r>
            <a:r>
              <a:rPr b="0" i="0" lang="en-AU" sz="1200" u="none" cap="none" strike="noStrike">
                <a:solidFill>
                  <a:schemeClr val="dk1"/>
                </a:solidFill>
                <a:latin typeface="Calibri"/>
                <a:ea typeface="Calibri"/>
                <a:cs typeface="Calibri"/>
                <a:sym typeface="Calibri"/>
              </a:rPr>
              <a:t>: I utilize the state-of-the-art </a:t>
            </a:r>
            <a:r>
              <a:rPr b="1" i="0" lang="en-AU" sz="1200" u="none" cap="none" strike="noStrike">
                <a:solidFill>
                  <a:schemeClr val="dk1"/>
                </a:solidFill>
                <a:latin typeface="Calibri"/>
                <a:ea typeface="Calibri"/>
                <a:cs typeface="Calibri"/>
                <a:sym typeface="Calibri"/>
              </a:rPr>
              <a:t>RTMPose-L</a:t>
            </a:r>
            <a:r>
              <a:rPr b="0" i="0" lang="en-AU" sz="1200" u="none" cap="none" strike="noStrike">
                <a:solidFill>
                  <a:schemeClr val="dk1"/>
                </a:solidFill>
                <a:latin typeface="Calibri"/>
                <a:ea typeface="Calibri"/>
                <a:cs typeface="Calibri"/>
                <a:sym typeface="Calibri"/>
              </a:rPr>
              <a:t> human detection model to ground our search space and provide a reliable baseline for human localization.</a:t>
            </a:r>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Data Quality Refinement</a:t>
            </a:r>
            <a:r>
              <a:rPr b="0" i="0" lang="en-AU" sz="1200" u="none" cap="none" strike="noStrike">
                <a:solidFill>
                  <a:schemeClr val="dk1"/>
                </a:solidFill>
                <a:latin typeface="Calibri"/>
                <a:ea typeface="Calibri"/>
                <a:cs typeface="Calibri"/>
                <a:sym typeface="Calibri"/>
              </a:rPr>
              <a:t>: I apply a strict </a:t>
            </a:r>
            <a:r>
              <a:rPr b="1" i="0" lang="en-AU" sz="1200" u="none" cap="none" strike="noStrike">
                <a:solidFill>
                  <a:schemeClr val="dk1"/>
                </a:solidFill>
                <a:latin typeface="Calibri"/>
                <a:ea typeface="Calibri"/>
                <a:cs typeface="Calibri"/>
                <a:sym typeface="Calibri"/>
              </a:rPr>
              <a:t>80% confidence threshold</a:t>
            </a:r>
            <a:r>
              <a:rPr b="0" i="0" lang="en-AU" sz="1200" u="none" cap="none" strike="noStrike">
                <a:solidFill>
                  <a:schemeClr val="dk1"/>
                </a:solidFill>
                <a:latin typeface="Calibri"/>
                <a:ea typeface="Calibri"/>
                <a:cs typeface="Calibri"/>
                <a:sym typeface="Calibri"/>
              </a:rPr>
              <a:t> to all detections. </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303" name="Google Shape;303;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AU"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49611c445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g3d49611c445_1_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Now, I would like to walk you through the architecture of my proposed framework. </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First, is the standard routine, The input image passes through a </a:t>
            </a:r>
            <a:r>
              <a:rPr b="1" i="0" lang="en-AU" sz="1200" u="none" cap="none" strike="noStrike">
                <a:solidFill>
                  <a:schemeClr val="dk1"/>
                </a:solidFill>
                <a:latin typeface="Calibri"/>
                <a:ea typeface="Calibri"/>
                <a:cs typeface="Calibri"/>
                <a:sym typeface="Calibri"/>
              </a:rPr>
              <a:t>CNN backbone</a:t>
            </a:r>
            <a:r>
              <a:rPr b="0" i="0" lang="en-AU" sz="1200" u="none" cap="none" strike="noStrike">
                <a:solidFill>
                  <a:schemeClr val="dk1"/>
                </a:solidFill>
                <a:latin typeface="Calibri"/>
                <a:ea typeface="Calibri"/>
                <a:cs typeface="Calibri"/>
                <a:sym typeface="Calibri"/>
              </a:rPr>
              <a:t> to extract raw visual, then go to </a:t>
            </a:r>
            <a:r>
              <a:rPr b="1" i="0" lang="en-AU" sz="1200" u="none" cap="none" strike="noStrike">
                <a:solidFill>
                  <a:schemeClr val="dk1"/>
                </a:solidFill>
                <a:latin typeface="Calibri"/>
                <a:ea typeface="Calibri"/>
                <a:cs typeface="Calibri"/>
                <a:sym typeface="Calibri"/>
              </a:rPr>
              <a:t>Transformer Encoder</a:t>
            </a:r>
            <a:r>
              <a:rPr b="0" i="0" lang="en-AU" sz="1200" u="none" cap="none" strike="noStrike">
                <a:solidFill>
                  <a:schemeClr val="dk1"/>
                </a:solidFill>
                <a:latin typeface="Calibri"/>
                <a:ea typeface="Calibri"/>
                <a:cs typeface="Calibri"/>
                <a:sym typeface="Calibri"/>
              </a:rPr>
              <a:t> to produce a global image feature map, which we denote as $V_e$ . </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Then is The core innovation of my work, I have two parallel query enhancement unit:</a:t>
            </a:r>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Query Feature Enhancement (Yellow Box):</a:t>
            </a:r>
            <a:r>
              <a:rPr b="0" i="0" lang="en-AU" sz="1200" u="none" cap="none" strike="noStrike">
                <a:solidFill>
                  <a:schemeClr val="dk1"/>
                </a:solidFill>
                <a:latin typeface="Calibri"/>
                <a:ea typeface="Calibri"/>
                <a:cs typeface="Calibri"/>
                <a:sym typeface="Calibri"/>
              </a:rPr>
              <a:t> We utilize a detection module on $V_e$ to identify the </a:t>
            </a:r>
            <a:r>
              <a:rPr b="1" i="0" lang="en-AU" sz="1200" u="none" cap="none" strike="noStrike">
                <a:solidFill>
                  <a:schemeClr val="dk1"/>
                </a:solidFill>
                <a:latin typeface="Calibri"/>
                <a:ea typeface="Calibri"/>
                <a:cs typeface="Calibri"/>
                <a:sym typeface="Calibri"/>
              </a:rPr>
              <a:t>Object bounding box</a:t>
            </a:r>
            <a:r>
              <a:rPr b="0" i="0" lang="en-AU" sz="1200" u="none" cap="none" strike="noStrike">
                <a:solidFill>
                  <a:schemeClr val="dk1"/>
                </a:solidFill>
                <a:latin typeface="Calibri"/>
                <a:ea typeface="Calibri"/>
                <a:cs typeface="Calibri"/>
                <a:sym typeface="Calibri"/>
              </a:rPr>
              <a:t>, </a:t>
            </a:r>
            <a:r>
              <a:rPr b="1" i="0" lang="en-AU" sz="1200" u="none" cap="none" strike="noStrike">
                <a:solidFill>
                  <a:schemeClr val="dk1"/>
                </a:solidFill>
                <a:latin typeface="Calibri"/>
                <a:ea typeface="Calibri"/>
                <a:cs typeface="Calibri"/>
                <a:sym typeface="Calibri"/>
              </a:rPr>
              <a:t>Human bounding box</a:t>
            </a:r>
            <a:r>
              <a:rPr b="0" i="0" lang="en-AU" sz="1200" u="none" cap="none" strike="noStrike">
                <a:solidFill>
                  <a:schemeClr val="dk1"/>
                </a:solidFill>
                <a:latin typeface="Calibri"/>
                <a:ea typeface="Calibri"/>
                <a:cs typeface="Calibri"/>
                <a:sym typeface="Calibri"/>
              </a:rPr>
              <a:t>, and a novel prior—</a:t>
            </a:r>
            <a:r>
              <a:rPr b="1" i="0" lang="en-AU" sz="1200" u="none" cap="none" strike="noStrike">
                <a:solidFill>
                  <a:schemeClr val="dk1"/>
                </a:solidFill>
                <a:latin typeface="Calibri"/>
                <a:ea typeface="Calibri"/>
                <a:cs typeface="Calibri"/>
                <a:sym typeface="Calibri"/>
              </a:rPr>
              <a:t>Face Direction</a:t>
            </a:r>
            <a:r>
              <a:rPr b="0" i="0" lang="en-AU" sz="1200" u="none" cap="none" strike="noStrike">
                <a:solidFill>
                  <a:schemeClr val="dk1"/>
                </a:solidFill>
                <a:latin typeface="Calibri"/>
                <a:ea typeface="Calibri"/>
                <a:cs typeface="Calibri"/>
                <a:sym typeface="Calibri"/>
              </a:rPr>
              <a:t> . These inputs are fed into the </a:t>
            </a:r>
            <a:r>
              <a:rPr b="1" i="0" lang="en-AU" sz="1200" u="none" cap="none" strike="noStrike">
                <a:solidFill>
                  <a:schemeClr val="dk1"/>
                </a:solidFill>
                <a:latin typeface="Calibri"/>
                <a:ea typeface="Calibri"/>
                <a:cs typeface="Calibri"/>
                <a:sym typeface="Calibri"/>
              </a:rPr>
              <a:t>Human-Object Matcher</a:t>
            </a:r>
            <a:r>
              <a:rPr b="0" i="0" lang="en-AU" sz="1200" u="none" cap="none" strike="noStrike">
                <a:solidFill>
                  <a:schemeClr val="dk1"/>
                </a:solidFill>
                <a:latin typeface="Calibri"/>
                <a:ea typeface="Calibri"/>
                <a:cs typeface="Calibri"/>
                <a:sym typeface="Calibri"/>
              </a:rPr>
              <a:t>, to output </a:t>
            </a:r>
            <a:r>
              <a:rPr b="1" i="0" lang="en-AU" sz="1200" u="none" cap="none" strike="noStrike">
                <a:solidFill>
                  <a:schemeClr val="dk1"/>
                </a:solidFill>
                <a:latin typeface="Calibri"/>
                <a:ea typeface="Calibri"/>
                <a:cs typeface="Calibri"/>
                <a:sym typeface="Calibri"/>
              </a:rPr>
              <a:t>$ho\_q$</a:t>
            </a:r>
            <a:r>
              <a:rPr b="0" i="0" lang="en-AU" sz="1200" u="none" cap="none" strike="noStrike">
                <a:solidFill>
                  <a:schemeClr val="dk1"/>
                </a:solidFill>
                <a:latin typeface="Calibri"/>
                <a:ea typeface="Calibri"/>
                <a:cs typeface="Calibri"/>
                <a:sym typeface="Calibri"/>
              </a:rPr>
              <a:t>.</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Query Position Enhancement (Blue Box):</a:t>
            </a:r>
            <a:r>
              <a:rPr b="0" i="0" lang="en-AU" sz="1200" u="none" cap="none" strike="noStrike">
                <a:solidFill>
                  <a:schemeClr val="dk1"/>
                </a:solidFill>
                <a:latin typeface="Calibri"/>
                <a:ea typeface="Calibri"/>
                <a:cs typeface="Calibri"/>
                <a:sym typeface="Calibri"/>
              </a:rPr>
              <a:t> Simultaneously, we perform </a:t>
            </a:r>
            <a:r>
              <a:rPr b="1" i="0" lang="en-AU" sz="1200" u="none" cap="none" strike="noStrike">
                <a:solidFill>
                  <a:schemeClr val="dk1"/>
                </a:solidFill>
                <a:latin typeface="Calibri"/>
                <a:ea typeface="Calibri"/>
                <a:cs typeface="Calibri"/>
                <a:sym typeface="Calibri"/>
              </a:rPr>
              <a:t>Skeleton Detection</a:t>
            </a:r>
            <a:r>
              <a:rPr b="0" i="0" lang="en-AU" sz="1200" u="none" cap="none" strike="noStrike">
                <a:solidFill>
                  <a:schemeClr val="dk1"/>
                </a:solidFill>
                <a:latin typeface="Calibri"/>
                <a:ea typeface="Calibri"/>
                <a:cs typeface="Calibri"/>
                <a:sym typeface="Calibri"/>
              </a:rPr>
              <a:t> and </a:t>
            </a:r>
            <a:r>
              <a:rPr b="1" i="0" lang="en-AU" sz="1200" u="none" cap="none" strike="noStrike">
                <a:solidFill>
                  <a:schemeClr val="dk1"/>
                </a:solidFill>
                <a:latin typeface="Calibri"/>
                <a:ea typeface="Calibri"/>
                <a:cs typeface="Calibri"/>
                <a:sym typeface="Calibri"/>
              </a:rPr>
              <a:t>Dynamic Keypoints Selection</a:t>
            </a:r>
            <a:r>
              <a:rPr b="0" i="0" lang="en-AU" sz="1200" u="none" cap="none" strike="noStrike">
                <a:solidFill>
                  <a:schemeClr val="dk1"/>
                </a:solidFill>
                <a:latin typeface="Calibri"/>
                <a:ea typeface="Calibri"/>
                <a:cs typeface="Calibri"/>
                <a:sym typeface="Calibri"/>
              </a:rPr>
              <a:t> directly from the input . These keypoints are processed through an MLP and combined with the Object bbox information in the </a:t>
            </a:r>
            <a:r>
              <a:rPr b="1" i="0" lang="en-AU" sz="1200" u="none" cap="none" strike="noStrike">
                <a:solidFill>
                  <a:schemeClr val="dk1"/>
                </a:solidFill>
                <a:latin typeface="Calibri"/>
                <a:ea typeface="Calibri"/>
                <a:cs typeface="Calibri"/>
                <a:sym typeface="Calibri"/>
              </a:rPr>
              <a:t>Position Dynamic Fusion</a:t>
            </a:r>
            <a:r>
              <a:rPr b="0" i="0" lang="en-AU" sz="1200" u="none" cap="none" strike="noStrike">
                <a:solidFill>
                  <a:schemeClr val="dk1"/>
                </a:solidFill>
                <a:latin typeface="Calibri"/>
                <a:ea typeface="Calibri"/>
                <a:cs typeface="Calibri"/>
                <a:sym typeface="Calibri"/>
              </a:rPr>
              <a:t> module. To generate, </a:t>
            </a:r>
            <a:r>
              <a:rPr b="1" i="0" lang="en-AU" sz="1200" u="none" cap="none" strike="noStrike">
                <a:solidFill>
                  <a:schemeClr val="dk1"/>
                </a:solidFill>
                <a:latin typeface="Calibri"/>
                <a:ea typeface="Calibri"/>
                <a:cs typeface="Calibri"/>
                <a:sym typeface="Calibri"/>
              </a:rPr>
              <a:t>$q\_pos$</a:t>
            </a:r>
            <a:r>
              <a:rPr b="0" i="0" lang="en-AU" sz="1200" u="none" cap="none" strike="noStrike">
                <a:solidFill>
                  <a:schemeClr val="dk1"/>
                </a:solidFill>
                <a:latin typeface="Calibri"/>
                <a:ea typeface="Calibri"/>
                <a:cs typeface="Calibri"/>
                <a:sym typeface="Calibri"/>
              </a:rPr>
              <a:t>.</a:t>
            </a:r>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3. Decoder Interaction and Output:</a:t>
            </a:r>
            <a:r>
              <a:rPr b="0" i="0" lang="en-AU" sz="1200" u="none" cap="none" strike="noStrike">
                <a:solidFill>
                  <a:schemeClr val="dk1"/>
                </a:solidFill>
                <a:latin typeface="Calibri"/>
                <a:ea typeface="Calibri"/>
                <a:cs typeface="Calibri"/>
                <a:sym typeface="Calibri"/>
              </a:rPr>
              <a:t> These two enhanced components form our final </a:t>
            </a:r>
            <a:r>
              <a:rPr b="1" i="0" lang="en-AU" sz="1200" u="none" cap="none" strike="noStrike">
                <a:solidFill>
                  <a:schemeClr val="dk1"/>
                </a:solidFill>
                <a:latin typeface="Calibri"/>
                <a:ea typeface="Calibri"/>
                <a:cs typeface="Calibri"/>
                <a:sym typeface="Calibri"/>
              </a:rPr>
              <a:t>Query</a:t>
            </a:r>
            <a:endParaRPr i="1"/>
          </a:p>
        </p:txBody>
      </p:sp>
      <p:sp>
        <p:nvSpPr>
          <p:cNvPr id="319" name="Google Shape;319;g3d49611c445_1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AU"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b="1" i="0" lang="en-AU" sz="1200" u="none" cap="none" strike="noStrike">
                <a:solidFill>
                  <a:schemeClr val="dk1"/>
                </a:solidFill>
                <a:latin typeface="Arial"/>
                <a:ea typeface="Arial"/>
                <a:cs typeface="Arial"/>
                <a:sym typeface="Arial"/>
              </a:rPr>
              <a:t>Core Logic: </a:t>
            </a:r>
            <a:endParaRPr/>
          </a:p>
          <a:p>
            <a:pPr indent="0" lvl="0" marL="0" marR="0" rtl="0" algn="l">
              <a:lnSpc>
                <a:spcPct val="100000"/>
              </a:lnSpc>
              <a:spcBef>
                <a:spcPts val="0"/>
              </a:spcBef>
              <a:spcAft>
                <a:spcPts val="0"/>
              </a:spcAft>
              <a:buClr>
                <a:schemeClr val="dk1"/>
              </a:buClr>
              <a:buSzPts val="1200"/>
              <a:buFont typeface="Arial"/>
              <a:buNone/>
            </a:pPr>
            <a:r>
              <a:rPr b="1" i="0" lang="en-AU" sz="1200" u="none" cap="none" strike="noStrike">
                <a:solidFill>
                  <a:schemeClr val="dk1"/>
                </a:solidFill>
                <a:latin typeface="Arial"/>
                <a:ea typeface="Arial"/>
                <a:cs typeface="Arial"/>
                <a:sym typeface="Arial"/>
              </a:rPr>
              <a:t>        </a:t>
            </a:r>
            <a:r>
              <a:rPr i="0" lang="en-AU" sz="1200" u="none" cap="none" strike="noStrike">
                <a:solidFill>
                  <a:schemeClr val="dk1"/>
                </a:solidFill>
                <a:latin typeface="Arial"/>
                <a:ea typeface="Arial"/>
                <a:cs typeface="Arial"/>
                <a:sym typeface="Arial"/>
              </a:rPr>
              <a:t>High Similarity </a:t>
            </a:r>
            <a:r>
              <a:rPr b="0" i="0" lang="en-AU" sz="1200" u="none" cap="none" strike="noStrike">
                <a:solidFill>
                  <a:schemeClr val="dk1"/>
                </a:solidFill>
                <a:latin typeface="Cambria Math"/>
                <a:ea typeface="Cambria Math"/>
                <a:cs typeface="Cambria Math"/>
                <a:sym typeface="Cambria Math"/>
              </a:rPr>
              <a:t>→</a:t>
            </a:r>
            <a:r>
              <a:rPr i="0" lang="en-AU" sz="1200" u="none" cap="none" strike="noStrike">
                <a:solidFill>
                  <a:schemeClr val="dk1"/>
                </a:solidFill>
                <a:latin typeface="Arial"/>
                <a:ea typeface="Arial"/>
                <a:cs typeface="Arial"/>
                <a:sym typeface="Arial"/>
              </a:rPr>
              <a:t> Focused Attention</a:t>
            </a:r>
            <a:endParaRPr/>
          </a:p>
          <a:p>
            <a:pPr indent="0" lvl="0" marL="0" marR="0" rtl="0" algn="l">
              <a:lnSpc>
                <a:spcPct val="100000"/>
              </a:lnSpc>
              <a:spcBef>
                <a:spcPts val="0"/>
              </a:spcBef>
              <a:spcAft>
                <a:spcPts val="0"/>
              </a:spcAft>
              <a:buClr>
                <a:schemeClr val="dk1"/>
              </a:buClr>
              <a:buSzPts val="1200"/>
              <a:buFont typeface="Calibri"/>
              <a:buNone/>
            </a:pPr>
            <a:r>
              <a:t/>
            </a:r>
            <a:endParaRPr i="0" sz="1200" u="none" cap="none" strike="noStrike">
              <a:solidFill>
                <a:schemeClr val="dk1"/>
              </a:solidFill>
              <a:latin typeface="Arial"/>
              <a:ea typeface="Arial"/>
              <a:cs typeface="Arial"/>
              <a:sym typeface="Arial"/>
            </a:endParaRPr>
          </a:p>
          <a:p>
            <a:pPr indent="-228600" lvl="0" marL="457200" rtl="0" algn="l">
              <a:lnSpc>
                <a:spcPct val="100000"/>
              </a:lnSpc>
              <a:spcBef>
                <a:spcPts val="0"/>
              </a:spcBef>
              <a:spcAft>
                <a:spcPts val="0"/>
              </a:spcAft>
              <a:buClr>
                <a:schemeClr val="dk1"/>
              </a:buClr>
              <a:buSzPts val="1400"/>
              <a:buNone/>
            </a:pPr>
            <a:r>
              <a:rPr b="1" lang="en-AU" sz="1200"/>
              <a:t>Cross-Attention:</a:t>
            </a:r>
            <a:r>
              <a:rPr lang="en-AU" sz="1200"/>
              <a:t> </a:t>
            </a:r>
            <a:endParaRPr/>
          </a:p>
          <a:p>
            <a:pPr indent="-228600" lvl="0" marL="457200" rtl="0" algn="l">
              <a:lnSpc>
                <a:spcPct val="100000"/>
              </a:lnSpc>
              <a:spcBef>
                <a:spcPts val="0"/>
              </a:spcBef>
              <a:spcAft>
                <a:spcPts val="0"/>
              </a:spcAft>
              <a:buClr>
                <a:schemeClr val="dk1"/>
              </a:buClr>
              <a:buSzPts val="1400"/>
              <a:buNone/>
            </a:pPr>
            <a:r>
              <a:rPr lang="en-AU" sz="1200"/>
              <a:t>        Enables Holistic Scene Understanding and global relationship modeling.</a:t>
            </a:r>
            <a:endParaRPr/>
          </a:p>
          <a:p>
            <a:pPr indent="-228600" lvl="0" marL="457200" rtl="0" algn="l">
              <a:lnSpc>
                <a:spcPct val="100000"/>
              </a:lnSpc>
              <a:spcBef>
                <a:spcPts val="0"/>
              </a:spcBef>
              <a:spcAft>
                <a:spcPts val="0"/>
              </a:spcAft>
              <a:buClr>
                <a:schemeClr val="dk1"/>
              </a:buClr>
              <a:buSzPts val="1400"/>
              <a:buNone/>
            </a:pPr>
            <a:r>
              <a:t/>
            </a:r>
            <a:endParaRPr sz="1200"/>
          </a:p>
          <a:p>
            <a:pPr indent="-228600" lvl="0" marL="457200" rtl="0" algn="l">
              <a:lnSpc>
                <a:spcPct val="100000"/>
              </a:lnSpc>
              <a:spcBef>
                <a:spcPts val="0"/>
              </a:spcBef>
              <a:spcAft>
                <a:spcPts val="0"/>
              </a:spcAft>
              <a:buClr>
                <a:schemeClr val="dk1"/>
              </a:buClr>
              <a:buSzPts val="1400"/>
              <a:buNone/>
            </a:pPr>
            <a:r>
              <a:rPr b="1" lang="en-AU" sz="1200">
                <a:solidFill>
                  <a:schemeClr val="dk1"/>
                </a:solidFill>
                <a:latin typeface="Arial"/>
                <a:ea typeface="Arial"/>
                <a:cs typeface="Arial"/>
                <a:sym typeface="Arial"/>
              </a:rPr>
              <a:t>Dot-Product Similarity:</a:t>
            </a:r>
            <a:r>
              <a:rPr lang="en-AU" sz="1200">
                <a:solidFill>
                  <a:schemeClr val="dk1"/>
                </a:solidFill>
                <a:latin typeface="Arial"/>
                <a:ea typeface="Arial"/>
                <a:cs typeface="Arial"/>
                <a:sym typeface="Arial"/>
              </a:rPr>
              <a:t> </a:t>
            </a:r>
            <a:endParaRPr/>
          </a:p>
          <a:p>
            <a:pPr indent="-228600" lvl="0" marL="457200" rtl="0" algn="l">
              <a:lnSpc>
                <a:spcPct val="100000"/>
              </a:lnSpc>
              <a:spcBef>
                <a:spcPts val="0"/>
              </a:spcBef>
              <a:spcAft>
                <a:spcPts val="0"/>
              </a:spcAft>
              <a:buClr>
                <a:schemeClr val="dk1"/>
              </a:buClr>
              <a:buSzPts val="1400"/>
              <a:buNone/>
            </a:pPr>
            <a:r>
              <a:rPr lang="en-AU" sz="1200">
                <a:solidFill>
                  <a:schemeClr val="dk1"/>
                </a:solidFill>
                <a:latin typeface="Arial"/>
                <a:ea typeface="Arial"/>
                <a:cs typeface="Arial"/>
                <a:sym typeface="Arial"/>
              </a:rPr>
              <a:t>       Measures the geometric proximity between Query and Key in high-dimensional space.</a:t>
            </a:r>
            <a:endParaRPr/>
          </a:p>
          <a:p>
            <a:pPr indent="-228600" lvl="0" marL="457200" rtl="0" algn="l">
              <a:lnSpc>
                <a:spcPct val="100000"/>
              </a:lnSpc>
              <a:spcBef>
                <a:spcPts val="0"/>
              </a:spcBef>
              <a:spcAft>
                <a:spcPts val="0"/>
              </a:spcAft>
              <a:buClr>
                <a:schemeClr val="dk1"/>
              </a:buClr>
              <a:buSzPts val="1400"/>
              <a:buNone/>
            </a:pPr>
            <a:r>
              <a:t/>
            </a:r>
            <a:endParaRPr sz="1200">
              <a:solidFill>
                <a:schemeClr val="dk1"/>
              </a:solidFill>
              <a:latin typeface="Arial"/>
              <a:ea typeface="Arial"/>
              <a:cs typeface="Arial"/>
              <a:sym typeface="Arial"/>
            </a:endParaRPr>
          </a:p>
          <a:p>
            <a:pPr indent="-228600" lvl="0" marL="457200" rtl="0" algn="l">
              <a:lnSpc>
                <a:spcPct val="100000"/>
              </a:lnSpc>
              <a:spcBef>
                <a:spcPts val="0"/>
              </a:spcBef>
              <a:spcAft>
                <a:spcPts val="0"/>
              </a:spcAft>
              <a:buClr>
                <a:schemeClr val="dk1"/>
              </a:buClr>
              <a:buSzPts val="1400"/>
              <a:buNone/>
            </a:pPr>
            <a:r>
              <a:rPr b="1" lang="en-AU" sz="1200">
                <a:solidFill>
                  <a:schemeClr val="dk1"/>
                </a:solidFill>
                <a:latin typeface="Arial"/>
                <a:ea typeface="Arial"/>
                <a:cs typeface="Arial"/>
                <a:sym typeface="Arial"/>
              </a:rPr>
              <a:t>Spatial-Semantic Alignment:</a:t>
            </a:r>
            <a:r>
              <a:rPr lang="en-AU" sz="1200">
                <a:solidFill>
                  <a:schemeClr val="dk1"/>
                </a:solidFill>
                <a:latin typeface="Arial"/>
                <a:ea typeface="Arial"/>
                <a:cs typeface="Arial"/>
                <a:sym typeface="Arial"/>
              </a:rPr>
              <a:t> </a:t>
            </a:r>
            <a:endParaRPr/>
          </a:p>
          <a:p>
            <a:pPr indent="-228600" lvl="0" marL="457200" rtl="0" algn="l">
              <a:lnSpc>
                <a:spcPct val="100000"/>
              </a:lnSpc>
              <a:spcBef>
                <a:spcPts val="0"/>
              </a:spcBef>
              <a:spcAft>
                <a:spcPts val="0"/>
              </a:spcAft>
              <a:buClr>
                <a:schemeClr val="dk1"/>
              </a:buClr>
              <a:buSzPts val="1400"/>
              <a:buNone/>
            </a:pPr>
            <a:r>
              <a:rPr lang="en-AU" sz="1200">
                <a:solidFill>
                  <a:schemeClr val="dk1"/>
                </a:solidFill>
                <a:latin typeface="Arial"/>
                <a:ea typeface="Arial"/>
                <a:cs typeface="Arial"/>
                <a:sym typeface="Arial"/>
              </a:rPr>
              <a:t>        </a:t>
            </a:r>
            <a:r>
              <a:rPr lang="en-AU" sz="1200"/>
              <a:t>Elevated attention weights signify a convergence between spatial priors (expectations) and visual evidence (features), directing the model to concentrate on task-relevant regions.</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427" name="Google Shape;427;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AU"/>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"Moving into </a:t>
            </a:r>
            <a:r>
              <a:rPr b="1" i="0" lang="en-AU" sz="1200" u="none" cap="none" strike="noStrike">
                <a:solidFill>
                  <a:schemeClr val="dk1"/>
                </a:solidFill>
                <a:latin typeface="Calibri"/>
                <a:ea typeface="Calibri"/>
                <a:cs typeface="Calibri"/>
                <a:sym typeface="Calibri"/>
              </a:rPr>
              <a:t>Query feature enhancement</a:t>
            </a:r>
            <a:r>
              <a:rPr b="0" i="0" lang="en-AU" sz="1200" u="none" cap="none" strike="noStrike">
                <a:solidFill>
                  <a:schemeClr val="dk1"/>
                </a:solidFill>
                <a:latin typeface="Calibri"/>
                <a:ea typeface="Calibri"/>
                <a:cs typeface="Calibri"/>
                <a:sym typeface="Calibri"/>
              </a:rPr>
              <a:t>, As shown in </a:t>
            </a:r>
            <a:r>
              <a:rPr b="1" i="0" lang="en-AU" sz="1200" u="none" cap="none" strike="noStrike">
                <a:solidFill>
                  <a:schemeClr val="dk1"/>
                </a:solidFill>
                <a:latin typeface="Calibri"/>
                <a:ea typeface="Calibri"/>
                <a:cs typeface="Calibri"/>
                <a:sym typeface="Calibri"/>
              </a:rPr>
              <a:t>Equation 4</a:t>
            </a:r>
            <a:r>
              <a:rPr b="0" i="0" lang="en-AU" sz="1200" u="none" cap="none" strike="noStrike">
                <a:solidFill>
                  <a:schemeClr val="dk1"/>
                </a:solidFill>
                <a:latin typeface="Calibri"/>
                <a:ea typeface="Calibri"/>
                <a:cs typeface="Calibri"/>
                <a:sym typeface="Calibri"/>
              </a:rPr>
              <a:t>, $ho\_q$ is constructed by concatenating semantic and geometric information, and then project into 512 dimension for later dot product</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The inputs for this query are divided into two primary categories:</a:t>
            </a:r>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Instance Semantic Inputs</a:t>
            </a:r>
            <a:r>
              <a:rPr b="0" i="0" lang="en-AU" sz="1200" u="none" cap="none" strike="noStrike">
                <a:solidFill>
                  <a:schemeClr val="dk1"/>
                </a:solidFill>
                <a:latin typeface="Calibri"/>
                <a:ea typeface="Calibri"/>
                <a:cs typeface="Calibri"/>
                <a:sym typeface="Calibri"/>
              </a:rPr>
              <a:t>: We extract high-level semantic features for both the human and the object directly from the hidden states of our detector. This provides the 'content' context—telling the model </a:t>
            </a:r>
            <a:r>
              <a:rPr b="0" i="1" lang="en-AU" sz="1200" u="none" cap="none" strike="noStrike">
                <a:solidFill>
                  <a:schemeClr val="dk1"/>
                </a:solidFill>
                <a:latin typeface="Calibri"/>
                <a:ea typeface="Calibri"/>
                <a:cs typeface="Calibri"/>
                <a:sym typeface="Calibri"/>
              </a:rPr>
              <a:t>what</a:t>
            </a:r>
            <a:r>
              <a:rPr b="0" i="0" lang="en-AU" sz="1200" u="none" cap="none" strike="noStrike">
                <a:solidFill>
                  <a:schemeClr val="dk1"/>
                </a:solidFill>
                <a:latin typeface="Calibri"/>
                <a:ea typeface="Calibri"/>
                <a:cs typeface="Calibri"/>
                <a:sym typeface="Calibri"/>
              </a:rPr>
              <a:t> the entities in the scene are.</a:t>
            </a:r>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Geometric Spatial Information ($\mathbf{s}_{ho</a:t>
            </a:r>
            <a:r>
              <a:rPr b="0" i="0" lang="en-AU" sz="1200" u="none" cap="none" strike="noStrike">
                <a:solidFill>
                  <a:schemeClr val="dk1"/>
                </a:solidFill>
                <a:latin typeface="Calibri"/>
                <a:ea typeface="Calibri"/>
                <a:cs typeface="Calibri"/>
                <a:sym typeface="Calibri"/>
              </a:rPr>
              <a:t> this one have </a:t>
            </a:r>
            <a:r>
              <a:rPr b="1" i="0" lang="en-AU" sz="1200" u="none" cap="none" strike="noStrike">
                <a:solidFill>
                  <a:schemeClr val="dk1"/>
                </a:solidFill>
                <a:latin typeface="Calibri"/>
                <a:ea typeface="Calibri"/>
                <a:cs typeface="Calibri"/>
                <a:sym typeface="Calibri"/>
              </a:rPr>
              <a:t>human face direction -</a:t>
            </a:r>
            <a:r>
              <a:rPr b="0" i="0" lang="en-AU" sz="1200" u="none" cap="none" strike="noStrike">
                <a:solidFill>
                  <a:schemeClr val="dk1"/>
                </a:solidFill>
                <a:latin typeface="Calibri"/>
                <a:ea typeface="Calibri"/>
                <a:cs typeface="Calibri"/>
                <a:sym typeface="Calibri"/>
              </a:rPr>
              <a:t> as a key human centered spatial prior, box coordinates, relative offsets, scale ratios</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By adding face direction to the existing spatial features, we provide the model with a much stronger cue regarding the human's point of interest and intent. This additional prior is crucial for disambiguating complex interactions, especially in scenes where a human might be surrounded by multiple objects but is only interacting with one specific target."</a:t>
            </a:r>
            <a:endParaRPr/>
          </a:p>
          <a:p>
            <a:pPr indent="0" lvl="0" marL="0" rtl="0" algn="l">
              <a:lnSpc>
                <a:spcPct val="100000"/>
              </a:lnSpc>
              <a:spcBef>
                <a:spcPts val="0"/>
              </a:spcBef>
              <a:spcAft>
                <a:spcPts val="0"/>
              </a:spcAft>
              <a:buSzPts val="1400"/>
              <a:buNone/>
            </a:pPr>
            <a:r>
              <a:t/>
            </a:r>
            <a:endParaRPr/>
          </a:p>
        </p:txBody>
      </p:sp>
      <p:sp>
        <p:nvSpPr>
          <p:cNvPr id="453" name="Google Shape;453;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AU"/>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b="1" i="0" lang="en-AU" sz="1200" u="none" cap="none" strike="noStrike">
                <a:solidFill>
                  <a:schemeClr val="dk1"/>
                </a:solidFill>
                <a:latin typeface="Arial"/>
                <a:ea typeface="Arial"/>
                <a:cs typeface="Arial"/>
                <a:sym typeface="Arial"/>
              </a:rPr>
              <a:t>Core Logic: </a:t>
            </a:r>
            <a:endParaRPr/>
          </a:p>
          <a:p>
            <a:pPr indent="0" lvl="0" marL="0" marR="0" rtl="0" algn="l">
              <a:lnSpc>
                <a:spcPct val="100000"/>
              </a:lnSpc>
              <a:spcBef>
                <a:spcPts val="0"/>
              </a:spcBef>
              <a:spcAft>
                <a:spcPts val="0"/>
              </a:spcAft>
              <a:buClr>
                <a:schemeClr val="dk1"/>
              </a:buClr>
              <a:buSzPts val="1200"/>
              <a:buFont typeface="Arial"/>
              <a:buNone/>
            </a:pPr>
            <a:r>
              <a:rPr b="1" i="0" lang="en-AU" sz="1200" u="none" cap="none" strike="noStrike">
                <a:solidFill>
                  <a:schemeClr val="dk1"/>
                </a:solidFill>
                <a:latin typeface="Arial"/>
                <a:ea typeface="Arial"/>
                <a:cs typeface="Arial"/>
                <a:sym typeface="Arial"/>
              </a:rPr>
              <a:t>        </a:t>
            </a:r>
            <a:r>
              <a:rPr i="0" lang="en-AU" sz="1200" u="none" cap="none" strike="noStrike">
                <a:solidFill>
                  <a:schemeClr val="dk1"/>
                </a:solidFill>
                <a:latin typeface="Arial"/>
                <a:ea typeface="Arial"/>
                <a:cs typeface="Arial"/>
                <a:sym typeface="Arial"/>
              </a:rPr>
              <a:t>High Similarity </a:t>
            </a:r>
            <a:r>
              <a:rPr b="0" i="0" lang="en-AU" sz="1200" u="none" cap="none" strike="noStrike">
                <a:solidFill>
                  <a:schemeClr val="dk1"/>
                </a:solidFill>
                <a:latin typeface="Cambria Math"/>
                <a:ea typeface="Cambria Math"/>
                <a:cs typeface="Cambria Math"/>
                <a:sym typeface="Cambria Math"/>
              </a:rPr>
              <a:t>→</a:t>
            </a:r>
            <a:r>
              <a:rPr i="0" lang="en-AU" sz="1200" u="none" cap="none" strike="noStrike">
                <a:solidFill>
                  <a:schemeClr val="dk1"/>
                </a:solidFill>
                <a:latin typeface="Arial"/>
                <a:ea typeface="Arial"/>
                <a:cs typeface="Arial"/>
                <a:sym typeface="Arial"/>
              </a:rPr>
              <a:t> Focused Attention</a:t>
            </a:r>
            <a:endParaRPr/>
          </a:p>
          <a:p>
            <a:pPr indent="0" lvl="0" marL="0" marR="0" rtl="0" algn="l">
              <a:lnSpc>
                <a:spcPct val="100000"/>
              </a:lnSpc>
              <a:spcBef>
                <a:spcPts val="0"/>
              </a:spcBef>
              <a:spcAft>
                <a:spcPts val="0"/>
              </a:spcAft>
              <a:buClr>
                <a:schemeClr val="dk1"/>
              </a:buClr>
              <a:buSzPts val="1200"/>
              <a:buFont typeface="Calibri"/>
              <a:buNone/>
            </a:pPr>
            <a:r>
              <a:t/>
            </a:r>
            <a:endParaRPr i="0" sz="1200" u="none" cap="none" strike="noStrike">
              <a:solidFill>
                <a:schemeClr val="dk1"/>
              </a:solidFill>
              <a:latin typeface="Arial"/>
              <a:ea typeface="Arial"/>
              <a:cs typeface="Arial"/>
              <a:sym typeface="Arial"/>
            </a:endParaRPr>
          </a:p>
          <a:p>
            <a:pPr indent="-228600" lvl="0" marL="457200" rtl="0" algn="l">
              <a:lnSpc>
                <a:spcPct val="100000"/>
              </a:lnSpc>
              <a:spcBef>
                <a:spcPts val="0"/>
              </a:spcBef>
              <a:spcAft>
                <a:spcPts val="0"/>
              </a:spcAft>
              <a:buClr>
                <a:schemeClr val="dk1"/>
              </a:buClr>
              <a:buSzPts val="1400"/>
              <a:buNone/>
            </a:pPr>
            <a:r>
              <a:rPr b="1" lang="en-AU" sz="1200"/>
              <a:t>Cross-Attention:</a:t>
            </a:r>
            <a:r>
              <a:rPr lang="en-AU" sz="1200"/>
              <a:t> </a:t>
            </a:r>
            <a:endParaRPr/>
          </a:p>
          <a:p>
            <a:pPr indent="-228600" lvl="0" marL="457200" rtl="0" algn="l">
              <a:lnSpc>
                <a:spcPct val="100000"/>
              </a:lnSpc>
              <a:spcBef>
                <a:spcPts val="0"/>
              </a:spcBef>
              <a:spcAft>
                <a:spcPts val="0"/>
              </a:spcAft>
              <a:buClr>
                <a:schemeClr val="dk1"/>
              </a:buClr>
              <a:buSzPts val="1400"/>
              <a:buNone/>
            </a:pPr>
            <a:r>
              <a:rPr lang="en-AU" sz="1200"/>
              <a:t>        Enables Holistic Scene Understanding and global relationship modeling.</a:t>
            </a:r>
            <a:endParaRPr/>
          </a:p>
          <a:p>
            <a:pPr indent="-228600" lvl="0" marL="457200" rtl="0" algn="l">
              <a:lnSpc>
                <a:spcPct val="100000"/>
              </a:lnSpc>
              <a:spcBef>
                <a:spcPts val="0"/>
              </a:spcBef>
              <a:spcAft>
                <a:spcPts val="0"/>
              </a:spcAft>
              <a:buClr>
                <a:schemeClr val="dk1"/>
              </a:buClr>
              <a:buSzPts val="1400"/>
              <a:buNone/>
            </a:pPr>
            <a:r>
              <a:t/>
            </a:r>
            <a:endParaRPr sz="1200"/>
          </a:p>
          <a:p>
            <a:pPr indent="-228600" lvl="0" marL="457200" rtl="0" algn="l">
              <a:lnSpc>
                <a:spcPct val="100000"/>
              </a:lnSpc>
              <a:spcBef>
                <a:spcPts val="0"/>
              </a:spcBef>
              <a:spcAft>
                <a:spcPts val="0"/>
              </a:spcAft>
              <a:buClr>
                <a:schemeClr val="dk1"/>
              </a:buClr>
              <a:buSzPts val="1400"/>
              <a:buNone/>
            </a:pPr>
            <a:r>
              <a:rPr b="1" lang="en-AU" sz="1200">
                <a:solidFill>
                  <a:schemeClr val="dk1"/>
                </a:solidFill>
                <a:latin typeface="Arial"/>
                <a:ea typeface="Arial"/>
                <a:cs typeface="Arial"/>
                <a:sym typeface="Arial"/>
              </a:rPr>
              <a:t>Dot-Product Similarity:</a:t>
            </a:r>
            <a:r>
              <a:rPr lang="en-AU" sz="1200">
                <a:solidFill>
                  <a:schemeClr val="dk1"/>
                </a:solidFill>
                <a:latin typeface="Arial"/>
                <a:ea typeface="Arial"/>
                <a:cs typeface="Arial"/>
                <a:sym typeface="Arial"/>
              </a:rPr>
              <a:t> </a:t>
            </a:r>
            <a:endParaRPr/>
          </a:p>
          <a:p>
            <a:pPr indent="-228600" lvl="0" marL="457200" rtl="0" algn="l">
              <a:lnSpc>
                <a:spcPct val="100000"/>
              </a:lnSpc>
              <a:spcBef>
                <a:spcPts val="0"/>
              </a:spcBef>
              <a:spcAft>
                <a:spcPts val="0"/>
              </a:spcAft>
              <a:buClr>
                <a:schemeClr val="dk1"/>
              </a:buClr>
              <a:buSzPts val="1400"/>
              <a:buNone/>
            </a:pPr>
            <a:r>
              <a:rPr lang="en-AU" sz="1200">
                <a:solidFill>
                  <a:schemeClr val="dk1"/>
                </a:solidFill>
                <a:latin typeface="Arial"/>
                <a:ea typeface="Arial"/>
                <a:cs typeface="Arial"/>
                <a:sym typeface="Arial"/>
              </a:rPr>
              <a:t>       Measures the geometric proximity between Query and Key in high-dimensional space.</a:t>
            </a:r>
            <a:endParaRPr/>
          </a:p>
          <a:p>
            <a:pPr indent="-228600" lvl="0" marL="457200" rtl="0" algn="l">
              <a:lnSpc>
                <a:spcPct val="100000"/>
              </a:lnSpc>
              <a:spcBef>
                <a:spcPts val="0"/>
              </a:spcBef>
              <a:spcAft>
                <a:spcPts val="0"/>
              </a:spcAft>
              <a:buClr>
                <a:schemeClr val="dk1"/>
              </a:buClr>
              <a:buSzPts val="1400"/>
              <a:buNone/>
            </a:pPr>
            <a:r>
              <a:t/>
            </a:r>
            <a:endParaRPr sz="1200">
              <a:solidFill>
                <a:schemeClr val="dk1"/>
              </a:solidFill>
              <a:latin typeface="Arial"/>
              <a:ea typeface="Arial"/>
              <a:cs typeface="Arial"/>
              <a:sym typeface="Arial"/>
            </a:endParaRPr>
          </a:p>
          <a:p>
            <a:pPr indent="-228600" lvl="0" marL="457200" rtl="0" algn="l">
              <a:lnSpc>
                <a:spcPct val="100000"/>
              </a:lnSpc>
              <a:spcBef>
                <a:spcPts val="0"/>
              </a:spcBef>
              <a:spcAft>
                <a:spcPts val="0"/>
              </a:spcAft>
              <a:buClr>
                <a:schemeClr val="dk1"/>
              </a:buClr>
              <a:buSzPts val="1400"/>
              <a:buNone/>
            </a:pPr>
            <a:r>
              <a:rPr b="1" lang="en-AU" sz="1200">
                <a:solidFill>
                  <a:schemeClr val="dk1"/>
                </a:solidFill>
                <a:latin typeface="Arial"/>
                <a:ea typeface="Arial"/>
                <a:cs typeface="Arial"/>
                <a:sym typeface="Arial"/>
              </a:rPr>
              <a:t>Spatial-Semantic Alignment:</a:t>
            </a:r>
            <a:r>
              <a:rPr lang="en-AU" sz="1200">
                <a:solidFill>
                  <a:schemeClr val="dk1"/>
                </a:solidFill>
                <a:latin typeface="Arial"/>
                <a:ea typeface="Arial"/>
                <a:cs typeface="Arial"/>
                <a:sym typeface="Arial"/>
              </a:rPr>
              <a:t> </a:t>
            </a:r>
            <a:endParaRPr/>
          </a:p>
          <a:p>
            <a:pPr indent="-228600" lvl="0" marL="457200" rtl="0" algn="l">
              <a:lnSpc>
                <a:spcPct val="100000"/>
              </a:lnSpc>
              <a:spcBef>
                <a:spcPts val="0"/>
              </a:spcBef>
              <a:spcAft>
                <a:spcPts val="0"/>
              </a:spcAft>
              <a:buClr>
                <a:schemeClr val="dk1"/>
              </a:buClr>
              <a:buSzPts val="1400"/>
              <a:buNone/>
            </a:pPr>
            <a:r>
              <a:rPr lang="en-AU" sz="1200">
                <a:solidFill>
                  <a:schemeClr val="dk1"/>
                </a:solidFill>
                <a:latin typeface="Arial"/>
                <a:ea typeface="Arial"/>
                <a:cs typeface="Arial"/>
                <a:sym typeface="Arial"/>
              </a:rPr>
              <a:t>        </a:t>
            </a:r>
            <a:r>
              <a:rPr lang="en-AU" sz="1200"/>
              <a:t>Elevated attention weights signify a convergence between spatial priors (expectations) and visual evidence (features), directing the model to concentrate on task-relevant regions.</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464" name="Google Shape;464;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AU"/>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1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“now I want to present some qualitative evidence. This slide visualizes the </a:t>
            </a:r>
            <a:r>
              <a:rPr b="1" i="0" lang="en-AU" sz="1200" u="none" cap="none" strike="noStrike">
                <a:solidFill>
                  <a:schemeClr val="dk1"/>
                </a:solidFill>
                <a:latin typeface="Calibri"/>
                <a:ea typeface="Calibri"/>
                <a:cs typeface="Calibri"/>
                <a:sym typeface="Calibri"/>
              </a:rPr>
              <a:t>Attention Weights</a:t>
            </a:r>
            <a:r>
              <a:rPr b="0" i="0" lang="en-AU" sz="1200" u="none" cap="none" strike="noStrike">
                <a:solidFill>
                  <a:schemeClr val="dk1"/>
                </a:solidFill>
                <a:latin typeface="Calibri"/>
                <a:ea typeface="Calibri"/>
                <a:cs typeface="Calibri"/>
                <a:sym typeface="Calibri"/>
              </a:rPr>
              <a:t> generated by our framework, specifically showing how the mathematical decomposition we discussed earlier translates into actual scene understanding .</a:t>
            </a:r>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Looking at </a:t>
            </a:r>
            <a:r>
              <a:rPr b="1" i="0" lang="en-AU" sz="1200" u="none" cap="none" strike="noStrike">
                <a:solidFill>
                  <a:schemeClr val="dk1"/>
                </a:solidFill>
                <a:latin typeface="Calibri"/>
                <a:ea typeface="Calibri"/>
                <a:cs typeface="Calibri"/>
                <a:sym typeface="Calibri"/>
              </a:rPr>
              <a:t>Figure 5</a:t>
            </a:r>
            <a:r>
              <a:rPr b="0" i="0" lang="en-AU" sz="1200" u="none" cap="none" strike="noStrike">
                <a:solidFill>
                  <a:schemeClr val="dk1"/>
                </a:solidFill>
                <a:latin typeface="Calibri"/>
                <a:ea typeface="Calibri"/>
                <a:cs typeface="Calibri"/>
                <a:sym typeface="Calibri"/>
              </a:rPr>
              <a:t>, we have broken down the attention mechanism into its individual components based on our expanded equation:</a:t>
            </a:r>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Image 1 ($ho\_q \cdot mem^T$):</a:t>
            </a:r>
            <a:r>
              <a:rPr b="0" i="0" lang="en-AU" sz="1200" u="none" cap="none" strike="noStrike">
                <a:solidFill>
                  <a:schemeClr val="dk1"/>
                </a:solidFill>
                <a:latin typeface="Calibri"/>
                <a:ea typeface="Calibri"/>
                <a:cs typeface="Calibri"/>
                <a:sym typeface="Calibri"/>
              </a:rPr>
              <a:t> This represents the attention derived purely from </a:t>
            </a:r>
            <a:r>
              <a:rPr b="1" i="0" lang="en-AU" sz="1200" u="none" cap="none" strike="noStrike">
                <a:solidFill>
                  <a:schemeClr val="dk1"/>
                </a:solidFill>
                <a:latin typeface="Calibri"/>
                <a:ea typeface="Calibri"/>
                <a:cs typeface="Calibri"/>
                <a:sym typeface="Calibri"/>
              </a:rPr>
              <a:t>content features</a:t>
            </a:r>
            <a:r>
              <a:rPr b="0" i="0" lang="en-AU" sz="1200" u="none" cap="none" strike="noStrike">
                <a:solidFill>
                  <a:schemeClr val="dk1"/>
                </a:solidFill>
                <a:latin typeface="Calibri"/>
                <a:ea typeface="Calibri"/>
                <a:cs typeface="Calibri"/>
                <a:sym typeface="Calibri"/>
              </a:rPr>
              <a:t>. While the model recognizes the child and the bicycle, the attention is somewhat broad and can be distracted by other semantic features in the background .</a:t>
            </a:r>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Image 2 ($q\_pos \cdot k\_pos^T$):</a:t>
            </a:r>
            <a:r>
              <a:rPr b="0" i="0" lang="en-AU" sz="1200" u="none" cap="none" strike="noStrike">
                <a:solidFill>
                  <a:schemeClr val="dk1"/>
                </a:solidFill>
                <a:latin typeface="Calibri"/>
                <a:ea typeface="Calibri"/>
                <a:cs typeface="Calibri"/>
                <a:sym typeface="Calibri"/>
              </a:rPr>
              <a:t> This shows the influence of </a:t>
            </a:r>
            <a:r>
              <a:rPr b="1" i="0" lang="en-AU" sz="1200" u="none" cap="none" strike="noStrike">
                <a:solidFill>
                  <a:schemeClr val="dk1"/>
                </a:solidFill>
                <a:latin typeface="Calibri"/>
                <a:ea typeface="Calibri"/>
                <a:cs typeface="Calibri"/>
                <a:sym typeface="Calibri"/>
              </a:rPr>
              <a:t>positional embeddings</a:t>
            </a:r>
            <a:r>
              <a:rPr b="0" i="0" lang="en-AU" sz="1200" u="none" cap="none" strike="noStrike">
                <a:solidFill>
                  <a:schemeClr val="dk1"/>
                </a:solidFill>
                <a:latin typeface="Calibri"/>
                <a:ea typeface="Calibri"/>
                <a:cs typeface="Calibri"/>
                <a:sym typeface="Calibri"/>
              </a:rPr>
              <a:t>. Here, the model uses our enhanced keypoint priors to establish a geometric zone of interest.</a:t>
            </a:r>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Images 3 &amp; 4:</a:t>
            </a:r>
            <a:r>
              <a:rPr b="0" i="0" lang="en-AU" sz="1200" u="none" cap="none" strike="noStrike">
                <a:solidFill>
                  <a:schemeClr val="dk1"/>
                </a:solidFill>
                <a:latin typeface="Calibri"/>
                <a:ea typeface="Calibri"/>
                <a:cs typeface="Calibri"/>
                <a:sym typeface="Calibri"/>
              </a:rPr>
              <a:t> These represent the </a:t>
            </a:r>
            <a:r>
              <a:rPr b="1" i="0" lang="en-AU" sz="1200" u="none" cap="none" strike="noStrike">
                <a:solidFill>
                  <a:schemeClr val="dk1"/>
                </a:solidFill>
                <a:latin typeface="Calibri"/>
                <a:ea typeface="Calibri"/>
                <a:cs typeface="Calibri"/>
                <a:sym typeface="Calibri"/>
              </a:rPr>
              <a:t>cross-terms</a:t>
            </a:r>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Image 5:</a:t>
            </a:r>
            <a:r>
              <a:rPr b="0" i="0" lang="en-AU" sz="1200" u="none" cap="none" strike="noStrike">
                <a:solidFill>
                  <a:schemeClr val="dk1"/>
                </a:solidFill>
                <a:latin typeface="Calibri"/>
                <a:ea typeface="Calibri"/>
                <a:cs typeface="Calibri"/>
                <a:sym typeface="Calibri"/>
              </a:rPr>
              <a:t> This is the </a:t>
            </a:r>
            <a:r>
              <a:rPr b="1" i="0" lang="en-AU" sz="1200" u="none" cap="none" strike="noStrike">
                <a:solidFill>
                  <a:schemeClr val="dk1"/>
                </a:solidFill>
                <a:latin typeface="Calibri"/>
                <a:ea typeface="Calibri"/>
                <a:cs typeface="Calibri"/>
                <a:sym typeface="Calibri"/>
              </a:rPr>
              <a:t>final concatenated formulation</a:t>
            </a:r>
            <a:r>
              <a:rPr b="0" i="0" lang="en-AU" sz="1200" u="none" cap="none" strike="noStrike">
                <a:solidFill>
                  <a:schemeClr val="dk1"/>
                </a:solidFill>
                <a:latin typeface="Calibri"/>
                <a:ea typeface="Calibri"/>
                <a:cs typeface="Calibri"/>
                <a:sym typeface="Calibri"/>
              </a:rPr>
              <a:t>. You can clearly see that when all components are combined, the attention becomes significantly more </a:t>
            </a:r>
            <a:r>
              <a:rPr b="1" i="0" lang="en-AU" sz="1200" u="none" cap="none" strike="noStrike">
                <a:solidFill>
                  <a:schemeClr val="dk1"/>
                </a:solidFill>
                <a:latin typeface="Calibri"/>
                <a:ea typeface="Calibri"/>
                <a:cs typeface="Calibri"/>
                <a:sym typeface="Calibri"/>
              </a:rPr>
              <a:t>focused and precise</a:t>
            </a:r>
            <a:r>
              <a:rPr b="0" i="0" lang="en-AU" sz="1200" u="none" cap="none" strike="noStrike">
                <a:solidFill>
                  <a:schemeClr val="dk1"/>
                </a:solidFill>
                <a:latin typeface="Calibri"/>
                <a:ea typeface="Calibri"/>
                <a:cs typeface="Calibri"/>
                <a:sym typeface="Calibri"/>
              </a:rPr>
              <a:t>.</a:t>
            </a:r>
            <a:endParaRPr/>
          </a:p>
          <a:p>
            <a:pPr indent="0" lvl="0" marL="0" marR="0" rtl="0" algn="l">
              <a:lnSpc>
                <a:spcPct val="100000"/>
              </a:lnSpc>
              <a:spcBef>
                <a:spcPts val="0"/>
              </a:spcBef>
              <a:spcAft>
                <a:spcPts val="0"/>
              </a:spcAft>
              <a:buClr>
                <a:srgbClr val="000000"/>
              </a:buClr>
              <a:buSzPts val="1400"/>
              <a:buFont typeface="Arial"/>
              <a:buNone/>
            </a:pPr>
            <a:r>
              <a:rPr i="1" lang="en-AU"/>
              <a:t>This means our model can focus right on the interaction position, help model to understand</a:t>
            </a:r>
            <a:endParaRPr i="1"/>
          </a:p>
        </p:txBody>
      </p:sp>
      <p:sp>
        <p:nvSpPr>
          <p:cNvPr id="476" name="Google Shape;476;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AU"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p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400"/>
              <a:buFont typeface="Arial"/>
              <a:buNone/>
            </a:pPr>
            <a:r>
              <a:rPr lang="en-AU"/>
              <a:t>Moving on to the quantitative analysis, I conducted a systematic ablation study to evaluate the performance of our proposed enhancements. Here, the </a:t>
            </a:r>
            <a:r>
              <a:rPr b="1" lang="en-AU"/>
              <a:t>PVIC</a:t>
            </a:r>
            <a:r>
              <a:rPr lang="en-AU"/>
              <a:t> model serves as our competitive baseline, providing a benchmark. We have 5 model out performance than pvic and the largest increase 0.4 percent</a:t>
            </a:r>
            <a:endParaRPr/>
          </a:p>
          <a:p>
            <a:pPr indent="-228600" lvl="0" marL="457200" marR="0" rtl="0" algn="l">
              <a:lnSpc>
                <a:spcPct val="100000"/>
              </a:lnSpc>
              <a:spcBef>
                <a:spcPts val="0"/>
              </a:spcBef>
              <a:spcAft>
                <a:spcPts val="0"/>
              </a:spcAft>
              <a:buClr>
                <a:srgbClr val="000000"/>
              </a:buClr>
              <a:buSzPts val="1400"/>
              <a:buFont typeface="Arial"/>
              <a:buNone/>
            </a:pPr>
            <a:r>
              <a:t/>
            </a:r>
            <a:endParaRPr b="1"/>
          </a:p>
          <a:p>
            <a:pPr indent="-228600" lvl="0" marL="457200" marR="0" rtl="0" algn="l">
              <a:lnSpc>
                <a:spcPct val="100000"/>
              </a:lnSpc>
              <a:spcBef>
                <a:spcPts val="0"/>
              </a:spcBef>
              <a:spcAft>
                <a:spcPts val="0"/>
              </a:spcAft>
              <a:buClr>
                <a:srgbClr val="000000"/>
              </a:buClr>
              <a:buSzPts val="1400"/>
              <a:buFont typeface="Arial"/>
              <a:buNone/>
            </a:pPr>
            <a:r>
              <a:rPr lang="en-AU"/>
              <a:t>As we examine the X-axis, a clear trend emerges regarding keypoint density. Performance improves steadily as we move from 6 to </a:t>
            </a:r>
            <a:r>
              <a:rPr b="1" lang="en-AU"/>
              <a:t>17 keypoints</a:t>
            </a:r>
            <a:r>
              <a:rPr lang="en-AU"/>
              <a:t>, where the model reaches its peak performance—nearly hitting the </a:t>
            </a:r>
            <a:r>
              <a:rPr b="1" lang="en-AU"/>
              <a:t>64 mAP</a:t>
            </a:r>
            <a:r>
              <a:rPr lang="en-AU"/>
              <a:t> mark. However, as we further increase the density to 23 and 31 keypoints, we observe a notable </a:t>
            </a:r>
            <a:r>
              <a:rPr b="1" lang="en-AU"/>
              <a:t>deterioration effect</a:t>
            </a:r>
            <a:r>
              <a:rPr lang="en-AU"/>
              <a:t>. This suggests that 17 points provide the optimal balance of structural information. Beyond this threshold, higher densities appear to introduce redundant features or localization noise that interferes with the Transformer’s attention mechanism, rather than providing additional discriminative power</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We also investigated the impact of our dimension allocation strategies. Interestingly, for the sparse </a:t>
            </a:r>
            <a:r>
              <a:rPr b="1" i="0" lang="en-AU" sz="1200" u="none" cap="none" strike="noStrike">
                <a:solidFill>
                  <a:schemeClr val="dk1"/>
                </a:solidFill>
                <a:latin typeface="Calibri"/>
                <a:ea typeface="Calibri"/>
                <a:cs typeface="Calibri"/>
                <a:sym typeface="Calibri"/>
              </a:rPr>
              <a:t>6-keypoint</a:t>
            </a:r>
            <a:r>
              <a:rPr b="0" i="0" lang="en-AU" sz="1200" u="none" cap="none" strike="noStrike">
                <a:solidFill>
                  <a:schemeClr val="dk1"/>
                </a:solidFill>
                <a:latin typeface="Calibri"/>
                <a:ea typeface="Calibri"/>
                <a:cs typeface="Calibri"/>
                <a:sym typeface="Calibri"/>
              </a:rPr>
              <a:t> configuration, </a:t>
            </a:r>
            <a:r>
              <a:rPr b="1" i="0" lang="en-AU" sz="1200" u="none" cap="none" strike="noStrike">
                <a:solidFill>
                  <a:schemeClr val="dk1"/>
                </a:solidFill>
                <a:latin typeface="Calibri"/>
                <a:ea typeface="Calibri"/>
                <a:cs typeface="Calibri"/>
                <a:sym typeface="Calibri"/>
              </a:rPr>
              <a:t>Ratio 3</a:t>
            </a:r>
            <a:r>
              <a:rPr b="0" i="0" lang="en-AU" sz="1200" u="none" cap="none" strike="noStrike">
                <a:solidFill>
                  <a:schemeClr val="dk1"/>
                </a:solidFill>
                <a:latin typeface="Calibri"/>
                <a:ea typeface="Calibri"/>
                <a:cs typeface="Calibri"/>
                <a:sym typeface="Calibri"/>
              </a:rPr>
              <a:t>—which allocates more dimensions to the skeleton—performed slightly better than Ratio 1.However, as the number of keypoints increased, we observed a general decrease in performance as the ratio rose. This leads us to a key hypothesis regarding </a:t>
            </a:r>
            <a:r>
              <a:rPr b="1" i="0" lang="en-AU" sz="1200" u="none" cap="none" strike="noStrike">
                <a:solidFill>
                  <a:schemeClr val="dk1"/>
                </a:solidFill>
                <a:latin typeface="Calibri"/>
                <a:ea typeface="Calibri"/>
                <a:cs typeface="Calibri"/>
                <a:sym typeface="Calibri"/>
              </a:rPr>
              <a:t>embedding capacity</a:t>
            </a:r>
            <a:r>
              <a:rPr b="0" i="0" lang="en-AU" sz="1200" u="none" cap="none" strike="noStrike">
                <a:solidFill>
                  <a:schemeClr val="dk1"/>
                </a:solidFill>
                <a:latin typeface="Calibri"/>
                <a:ea typeface="Calibri"/>
                <a:cs typeface="Calibri"/>
                <a:sym typeface="Calibri"/>
              </a:rPr>
              <a:t>: given that the total dimension of $q_{pos}$ is fixed at 512, a higher ratio for a large number of points means each individual point receives fewer dimensions. Consequently, the MLP projection may lack the necessary 'bandwidth' to sufficiently cover and encode fine-grained positional details into the high-dimensional vector.</a:t>
            </a:r>
            <a:endParaRPr/>
          </a:p>
        </p:txBody>
      </p:sp>
      <p:sp>
        <p:nvSpPr>
          <p:cNvPr id="494" name="Google Shape;494;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AU"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1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"Moving to the quantitative evaluation of our framework, I would like to present the benchmarking results as summarized in this table. We have compared our proposed method against a wide range of established HOI detection frameworks—from early models like </a:t>
            </a:r>
            <a:r>
              <a:rPr b="1" i="0" lang="en-AU" sz="1200" u="none" cap="none" strike="noStrike">
                <a:solidFill>
                  <a:schemeClr val="dk1"/>
                </a:solidFill>
                <a:latin typeface="Calibri"/>
                <a:ea typeface="Calibri"/>
                <a:cs typeface="Calibri"/>
                <a:sym typeface="Calibri"/>
              </a:rPr>
              <a:t>InteractNet</a:t>
            </a:r>
            <a:r>
              <a:rPr b="0" i="0" lang="en-AU" sz="1200" u="none" cap="none" strike="noStrike">
                <a:solidFill>
                  <a:schemeClr val="dk1"/>
                </a:solidFill>
                <a:latin typeface="Calibri"/>
                <a:ea typeface="Calibri"/>
                <a:cs typeface="Calibri"/>
                <a:sym typeface="Calibri"/>
              </a:rPr>
              <a:t> to the current state-of-the-art </a:t>
            </a:r>
            <a:r>
              <a:rPr b="1" i="0" lang="en-AU" sz="1200" u="none" cap="none" strike="noStrike">
                <a:solidFill>
                  <a:schemeClr val="dk1"/>
                </a:solidFill>
                <a:latin typeface="Calibri"/>
                <a:ea typeface="Calibri"/>
                <a:cs typeface="Calibri"/>
                <a:sym typeface="Calibri"/>
              </a:rPr>
              <a:t>PVIC</a:t>
            </a:r>
            <a:r>
              <a:rPr b="0" i="0" lang="en-AU" sz="1200" u="none" cap="none" strike="noStrike">
                <a:solidFill>
                  <a:schemeClr val="dk1"/>
                </a:solidFill>
                <a:latin typeface="Calibri"/>
                <a:ea typeface="Calibri"/>
                <a:cs typeface="Calibri"/>
                <a:sym typeface="Calibri"/>
              </a:rPr>
              <a:t>.</a:t>
            </a:r>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1. Performance on HICO-DET:</a:t>
            </a:r>
            <a:r>
              <a:rPr b="0" i="0" lang="en-AU" sz="1200" u="none" cap="none" strike="noStrike">
                <a:solidFill>
                  <a:schemeClr val="dk1"/>
                </a:solidFill>
                <a:latin typeface="Calibri"/>
                <a:ea typeface="Calibri"/>
                <a:cs typeface="Calibri"/>
                <a:sym typeface="Calibri"/>
              </a:rPr>
              <a:t> On the </a:t>
            </a:r>
            <a:r>
              <a:rPr b="1" i="0" lang="en-AU" sz="1200" u="none" cap="none" strike="noStrike">
                <a:solidFill>
                  <a:schemeClr val="dk1"/>
                </a:solidFill>
                <a:latin typeface="Calibri"/>
                <a:ea typeface="Calibri"/>
                <a:cs typeface="Calibri"/>
                <a:sym typeface="Calibri"/>
              </a:rPr>
              <a:t>HICO-DET</a:t>
            </a:r>
            <a:r>
              <a:rPr b="0" i="0" lang="en-AU" sz="1200" u="none" cap="none" strike="noStrike">
                <a:solidFill>
                  <a:schemeClr val="dk1"/>
                </a:solidFill>
                <a:latin typeface="Calibri"/>
                <a:ea typeface="Calibri"/>
                <a:cs typeface="Calibri"/>
                <a:sym typeface="Calibri"/>
              </a:rPr>
              <a:t> dataset, using a standard </a:t>
            </a:r>
            <a:r>
              <a:rPr b="1" i="0" lang="en-AU" sz="1200" u="none" cap="none" strike="noStrike">
                <a:solidFill>
                  <a:schemeClr val="dk1"/>
                </a:solidFill>
                <a:latin typeface="Calibri"/>
                <a:ea typeface="Calibri"/>
                <a:cs typeface="Calibri"/>
                <a:sym typeface="Calibri"/>
              </a:rPr>
              <a:t>ResNet-50</a:t>
            </a:r>
            <a:r>
              <a:rPr b="0" i="0" lang="en-AU" sz="1200" u="none" cap="none" strike="noStrike">
                <a:solidFill>
                  <a:schemeClr val="dk1"/>
                </a:solidFill>
                <a:latin typeface="Calibri"/>
                <a:ea typeface="Calibri"/>
                <a:cs typeface="Calibri"/>
                <a:sym typeface="Calibri"/>
              </a:rPr>
              <a:t> backbone, our method achieves a competitive </a:t>
            </a:r>
            <a:r>
              <a:rPr b="1" i="0" lang="en-AU" sz="1200" u="none" cap="none" strike="noStrike">
                <a:solidFill>
                  <a:schemeClr val="dk1"/>
                </a:solidFill>
                <a:latin typeface="Calibri"/>
                <a:ea typeface="Calibri"/>
                <a:cs typeface="Calibri"/>
                <a:sym typeface="Calibri"/>
              </a:rPr>
              <a:t>34.86 mAP</a:t>
            </a:r>
            <a:r>
              <a:rPr b="0" i="0" lang="en-AU" sz="1200" u="none" cap="none" strike="noStrike">
                <a:solidFill>
                  <a:schemeClr val="dk1"/>
                </a:solidFill>
                <a:latin typeface="Calibri"/>
                <a:ea typeface="Calibri"/>
                <a:cs typeface="Calibri"/>
                <a:sym typeface="Calibri"/>
              </a:rPr>
              <a:t> on the 'Full' category . This represents an improvement over the </a:t>
            </a:r>
            <a:r>
              <a:rPr b="1" i="0" lang="en-AU" sz="1200" u="none" cap="none" strike="noStrike">
                <a:solidFill>
                  <a:schemeClr val="dk1"/>
                </a:solidFill>
                <a:latin typeface="Calibri"/>
                <a:ea typeface="Calibri"/>
                <a:cs typeface="Calibri"/>
                <a:sym typeface="Calibri"/>
              </a:rPr>
              <a:t>34.69 mAP</a:t>
            </a:r>
            <a:r>
              <a:rPr b="0" i="0" lang="en-AU" sz="1200" u="none" cap="none" strike="noStrike">
                <a:solidFill>
                  <a:schemeClr val="dk1"/>
                </a:solidFill>
                <a:latin typeface="Calibri"/>
                <a:ea typeface="Calibri"/>
                <a:cs typeface="Calibri"/>
                <a:sym typeface="Calibri"/>
              </a:rPr>
              <a:t> achieved by the PVIC baseline .</a:t>
            </a:r>
            <a:endParaRPr/>
          </a:p>
          <a:p>
            <a:pPr indent="-228600" lvl="0" marL="457200" marR="0" rtl="0" algn="l">
              <a:lnSpc>
                <a:spcPct val="100000"/>
              </a:lnSpc>
              <a:spcBef>
                <a:spcPts val="0"/>
              </a:spcBef>
              <a:spcAft>
                <a:spcPts val="0"/>
              </a:spcAft>
              <a:buClr>
                <a:srgbClr val="000000"/>
              </a:buClr>
              <a:buSzPts val="1400"/>
              <a:buFont typeface="Arial"/>
              <a:buNone/>
            </a:pPr>
            <a:r>
              <a:rPr b="0" i="0" lang="en-AU" sz="1200" u="none" cap="none" strike="noStrike">
                <a:solidFill>
                  <a:schemeClr val="dk1"/>
                </a:solidFill>
                <a:latin typeface="Calibri"/>
                <a:ea typeface="Calibri"/>
                <a:cs typeface="Calibri"/>
                <a:sym typeface="Calibri"/>
              </a:rPr>
              <a:t>If we look at the specific sub-categories, our framework shows its strongest performance in the </a:t>
            </a:r>
            <a:r>
              <a:rPr b="1" i="0" lang="en-AU" sz="1200" u="none" cap="none" strike="noStrike">
                <a:solidFill>
                  <a:schemeClr val="dk1"/>
                </a:solidFill>
                <a:latin typeface="Calibri"/>
                <a:ea typeface="Calibri"/>
                <a:cs typeface="Calibri"/>
                <a:sym typeface="Calibri"/>
              </a:rPr>
              <a:t>'Non-rare'</a:t>
            </a:r>
            <a:r>
              <a:rPr b="0" i="0" lang="en-AU" sz="1200" u="none" cap="none" strike="noStrike">
                <a:solidFill>
                  <a:schemeClr val="dk1"/>
                </a:solidFill>
                <a:latin typeface="Calibri"/>
                <a:ea typeface="Calibri"/>
                <a:cs typeface="Calibri"/>
                <a:sym typeface="Calibri"/>
              </a:rPr>
              <a:t> interaction set, reaching </a:t>
            </a:r>
            <a:r>
              <a:rPr b="1" i="0" lang="en-AU" sz="1200" u="none" cap="none" strike="noStrike">
                <a:solidFill>
                  <a:schemeClr val="dk1"/>
                </a:solidFill>
                <a:latin typeface="Calibri"/>
                <a:ea typeface="Calibri"/>
                <a:cs typeface="Calibri"/>
                <a:sym typeface="Calibri"/>
              </a:rPr>
              <a:t>36.15 mAP</a:t>
            </a:r>
            <a:r>
              <a:rPr b="0" i="0" lang="en-AU" sz="1200" u="none" cap="none" strike="noStrike">
                <a:solidFill>
                  <a:schemeClr val="dk1"/>
                </a:solidFill>
                <a:latin typeface="Calibri"/>
                <a:ea typeface="Calibri"/>
                <a:cs typeface="Calibri"/>
                <a:sym typeface="Calibri"/>
              </a:rPr>
              <a:t>. This is a notable increase from PVIC’s </a:t>
            </a:r>
            <a:r>
              <a:rPr b="1" i="0" lang="en-AU" sz="1200" u="none" cap="none" strike="noStrike">
                <a:solidFill>
                  <a:schemeClr val="dk1"/>
                </a:solidFill>
                <a:latin typeface="Calibri"/>
                <a:ea typeface="Calibri"/>
                <a:cs typeface="Calibri"/>
                <a:sym typeface="Calibri"/>
              </a:rPr>
              <a:t>35.45 mAP</a:t>
            </a:r>
            <a:r>
              <a:rPr b="0" i="0" lang="en-AU" sz="1200" u="none" cap="none" strike="noStrike">
                <a:solidFill>
                  <a:schemeClr val="dk1"/>
                </a:solidFill>
                <a:latin typeface="Calibri"/>
                <a:ea typeface="Calibri"/>
                <a:cs typeface="Calibri"/>
                <a:sym typeface="Calibri"/>
              </a:rPr>
              <a:t> and suggests that our position-aware priors are particularly effective at resolving common, yet complex, human-object relationships. </a:t>
            </a:r>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2. Performance on V-COCO:</a:t>
            </a:r>
            <a:r>
              <a:rPr b="0" i="0" lang="en-AU" sz="1200" u="none" cap="none" strike="noStrike">
                <a:solidFill>
                  <a:schemeClr val="dk1"/>
                </a:solidFill>
                <a:latin typeface="Calibri"/>
                <a:ea typeface="Calibri"/>
                <a:cs typeface="Calibri"/>
                <a:sym typeface="Calibri"/>
              </a:rPr>
              <a:t> Furthermore, on the </a:t>
            </a:r>
            <a:r>
              <a:rPr b="1" i="0" lang="en-AU" sz="1200" u="none" cap="none" strike="noStrike">
                <a:solidFill>
                  <a:schemeClr val="dk1"/>
                </a:solidFill>
                <a:latin typeface="Calibri"/>
                <a:ea typeface="Calibri"/>
                <a:cs typeface="Calibri"/>
                <a:sym typeface="Calibri"/>
              </a:rPr>
              <a:t>V-COCO</a:t>
            </a:r>
            <a:r>
              <a:rPr b="0" i="0" lang="en-AU" sz="1200" u="none" cap="none" strike="noStrike">
                <a:solidFill>
                  <a:schemeClr val="dk1"/>
                </a:solidFill>
                <a:latin typeface="Calibri"/>
                <a:ea typeface="Calibri"/>
                <a:cs typeface="Calibri"/>
                <a:sym typeface="Calibri"/>
              </a:rPr>
              <a:t> benchmark, our model reached a mAP of </a:t>
            </a:r>
            <a:r>
              <a:rPr b="1" i="0" lang="en-AU" sz="1200" u="none" cap="none" strike="noStrike">
                <a:solidFill>
                  <a:schemeClr val="dk1"/>
                </a:solidFill>
                <a:latin typeface="Calibri"/>
                <a:ea typeface="Calibri"/>
                <a:cs typeface="Calibri"/>
                <a:sym typeface="Calibri"/>
              </a:rPr>
              <a:t>62.95</a:t>
            </a:r>
            <a:r>
              <a:rPr b="0" i="0" lang="en-AU" sz="1200" u="none" cap="none" strike="noStrike">
                <a:solidFill>
                  <a:schemeClr val="dk1"/>
                </a:solidFill>
                <a:latin typeface="Calibri"/>
                <a:ea typeface="Calibri"/>
                <a:cs typeface="Calibri"/>
                <a:sym typeface="Calibri"/>
              </a:rPr>
              <a:t>. This continues the trend of outperforming the PVIC baseline</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1" i="0" lang="en-AU" sz="1200" u="none" cap="none" strike="noStrike">
                <a:solidFill>
                  <a:schemeClr val="dk1"/>
                </a:solidFill>
                <a:latin typeface="Calibri"/>
                <a:ea typeface="Calibri"/>
                <a:cs typeface="Calibri"/>
                <a:sym typeface="Calibri"/>
              </a:rPr>
              <a:t>Conclusion of Results:</a:t>
            </a:r>
            <a:r>
              <a:rPr b="0" i="0" lang="en-AU" sz="1200" u="none" cap="none" strike="noStrike">
                <a:solidFill>
                  <a:schemeClr val="dk1"/>
                </a:solidFill>
                <a:latin typeface="Calibri"/>
                <a:ea typeface="Calibri"/>
                <a:cs typeface="Calibri"/>
                <a:sym typeface="Calibri"/>
              </a:rPr>
              <a:t> These numbers demonstrate that by replacing random query initialization with fine-grained human-centric priors—specifically 17 skeleton keypoints and face direction—we can consistently improve detection accuracy across different benchmarks . </a:t>
            </a:r>
            <a:endParaRPr i="1"/>
          </a:p>
        </p:txBody>
      </p:sp>
      <p:sp>
        <p:nvSpPr>
          <p:cNvPr id="504" name="Google Shape;504;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AU"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p1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i="1" lang="en-AU"/>
              <a:t>The structure</a:t>
            </a:r>
            <a:endParaRPr i="1"/>
          </a:p>
        </p:txBody>
      </p:sp>
      <p:sp>
        <p:nvSpPr>
          <p:cNvPr id="514" name="Google Shape;514;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AU"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4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23" name="Google Shape;523;p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AU"/>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9.jp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9.jp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9.jpg"/><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3.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9.jp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image option 2">
  <p:cSld name="Title slide_image option 2">
    <p:spTree>
      <p:nvGrpSpPr>
        <p:cNvPr id="10" name="Shape 10"/>
        <p:cNvGrpSpPr/>
        <p:nvPr/>
      </p:nvGrpSpPr>
      <p:grpSpPr>
        <a:xfrm>
          <a:off x="0" y="0"/>
          <a:ext cx="0" cy="0"/>
          <a:chOff x="0" y="0"/>
          <a:chExt cx="0" cy="0"/>
        </a:xfrm>
      </p:grpSpPr>
      <p:sp>
        <p:nvSpPr>
          <p:cNvPr id="11" name="Google Shape;11;p48"/>
          <p:cNvSpPr txBox="1"/>
          <p:nvPr>
            <p:ph idx="1" type="body"/>
          </p:nvPr>
        </p:nvSpPr>
        <p:spPr>
          <a:xfrm>
            <a:off x="379112" y="2765699"/>
            <a:ext cx="6012163" cy="67812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8"/>
          <p:cNvSpPr txBox="1"/>
          <p:nvPr>
            <p:ph idx="2" type="body"/>
          </p:nvPr>
        </p:nvSpPr>
        <p:spPr>
          <a:xfrm>
            <a:off x="370485" y="4463086"/>
            <a:ext cx="5649316" cy="40972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 name="Google Shape;13;p48"/>
          <p:cNvSpPr txBox="1"/>
          <p:nvPr>
            <p:ph idx="3" type="body"/>
          </p:nvPr>
        </p:nvSpPr>
        <p:spPr>
          <a:xfrm>
            <a:off x="378808" y="1959605"/>
            <a:ext cx="6012467" cy="1180231"/>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rgbClr val="006CAB"/>
              </a:buClr>
              <a:buSzPts val="4500"/>
              <a:buFont typeface="Arial"/>
              <a:buNone/>
              <a:defRPr b="1" i="0" sz="4500" u="none" cap="none" strike="noStrike">
                <a:solidFill>
                  <a:srgbClr val="006CAB"/>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 name="Google Shape;14;p48"/>
          <p:cNvSpPr txBox="1"/>
          <p:nvPr>
            <p:ph idx="4" type="body"/>
          </p:nvPr>
        </p:nvSpPr>
        <p:spPr>
          <a:xfrm>
            <a:off x="370183" y="4872811"/>
            <a:ext cx="5649617" cy="40972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5" name="Google Shape;15;p48"/>
          <p:cNvPicPr preferRelativeResize="0"/>
          <p:nvPr/>
        </p:nvPicPr>
        <p:blipFill rotWithShape="1">
          <a:blip r:embed="rId2">
            <a:alphaModFix/>
          </a:blip>
          <a:srcRect b="0" l="0" r="0" t="0"/>
          <a:stretch/>
        </p:blipFill>
        <p:spPr>
          <a:xfrm>
            <a:off x="501668" y="440724"/>
            <a:ext cx="2270107" cy="660521"/>
          </a:xfrm>
          <a:prstGeom prst="rect">
            <a:avLst/>
          </a:prstGeom>
          <a:noFill/>
          <a:ln>
            <a:noFill/>
          </a:ln>
        </p:spPr>
      </p:pic>
      <p:pic>
        <p:nvPicPr>
          <p:cNvPr id="16" name="Google Shape;16;p48"/>
          <p:cNvPicPr preferRelativeResize="0"/>
          <p:nvPr/>
        </p:nvPicPr>
        <p:blipFill rotWithShape="1">
          <a:blip r:embed="rId3">
            <a:alphaModFix/>
          </a:blip>
          <a:srcRect b="6369" l="0" r="64120" t="0"/>
          <a:stretch/>
        </p:blipFill>
        <p:spPr>
          <a:xfrm>
            <a:off x="8610064" y="0"/>
            <a:ext cx="3014138" cy="686646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slide copy_texture">
  <p:cSld name="Full slide copy_texture">
    <p:spTree>
      <p:nvGrpSpPr>
        <p:cNvPr id="17" name="Shape 17"/>
        <p:cNvGrpSpPr/>
        <p:nvPr/>
      </p:nvGrpSpPr>
      <p:grpSpPr>
        <a:xfrm>
          <a:off x="0" y="0"/>
          <a:ext cx="0" cy="0"/>
          <a:chOff x="0" y="0"/>
          <a:chExt cx="0" cy="0"/>
        </a:xfrm>
      </p:grpSpPr>
      <p:pic>
        <p:nvPicPr>
          <p:cNvPr id="18" name="Google Shape;18;p51"/>
          <p:cNvPicPr preferRelativeResize="0"/>
          <p:nvPr/>
        </p:nvPicPr>
        <p:blipFill rotWithShape="1">
          <a:blip r:embed="rId2">
            <a:alphaModFix/>
          </a:blip>
          <a:srcRect b="0" l="0" r="0" t="0"/>
          <a:stretch/>
        </p:blipFill>
        <p:spPr>
          <a:xfrm>
            <a:off x="10552867" y="6397304"/>
            <a:ext cx="1267288" cy="368735"/>
          </a:xfrm>
          <a:prstGeom prst="rect">
            <a:avLst/>
          </a:prstGeom>
          <a:noFill/>
          <a:ln>
            <a:noFill/>
          </a:ln>
        </p:spPr>
      </p:pic>
      <p:sp>
        <p:nvSpPr>
          <p:cNvPr id="19" name="Google Shape;19;p51"/>
          <p:cNvSpPr/>
          <p:nvPr/>
        </p:nvSpPr>
        <p:spPr>
          <a:xfrm>
            <a:off x="219075" y="85725"/>
            <a:ext cx="2771775" cy="11620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 name="Google Shape;20;p51"/>
          <p:cNvSpPr txBox="1"/>
          <p:nvPr>
            <p:ph idx="1" type="body"/>
          </p:nvPr>
        </p:nvSpPr>
        <p:spPr>
          <a:xfrm>
            <a:off x="306060" y="978761"/>
            <a:ext cx="7451725" cy="46646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 name="Google Shape;21;p51"/>
          <p:cNvSpPr txBox="1"/>
          <p:nvPr>
            <p:ph idx="2" type="body"/>
          </p:nvPr>
        </p:nvSpPr>
        <p:spPr>
          <a:xfrm>
            <a:off x="306060" y="326309"/>
            <a:ext cx="7452026" cy="73695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4200"/>
              <a:buFont typeface="Arial"/>
              <a:buNone/>
              <a:defRPr b="1" i="0" sz="42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 name="Google Shape;22;p51"/>
          <p:cNvSpPr txBox="1"/>
          <p:nvPr>
            <p:ph idx="3" type="body"/>
          </p:nvPr>
        </p:nvSpPr>
        <p:spPr>
          <a:xfrm>
            <a:off x="306060" y="1729723"/>
            <a:ext cx="1080961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 name="Google Shape;23;p51"/>
          <p:cNvSpPr txBox="1"/>
          <p:nvPr>
            <p:ph idx="4" type="body"/>
          </p:nvPr>
        </p:nvSpPr>
        <p:spPr>
          <a:xfrm>
            <a:off x="300211" y="2097681"/>
            <a:ext cx="10815464" cy="329916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4" name="Google Shape;24;p51"/>
          <p:cNvPicPr preferRelativeResize="0"/>
          <p:nvPr/>
        </p:nvPicPr>
        <p:blipFill rotWithShape="1">
          <a:blip r:embed="rId2">
            <a:alphaModFix/>
          </a:blip>
          <a:srcRect b="0" l="0" r="0" t="0"/>
          <a:stretch/>
        </p:blipFill>
        <p:spPr>
          <a:xfrm>
            <a:off x="10705267" y="6373900"/>
            <a:ext cx="1267288" cy="368735"/>
          </a:xfrm>
          <a:prstGeom prst="rect">
            <a:avLst/>
          </a:prstGeom>
          <a:noFill/>
          <a:ln>
            <a:noFill/>
          </a:ln>
        </p:spPr>
      </p:pic>
      <p:sp>
        <p:nvSpPr>
          <p:cNvPr id="25" name="Google Shape;25;p51"/>
          <p:cNvSpPr/>
          <p:nvPr/>
        </p:nvSpPr>
        <p:spPr>
          <a:xfrm>
            <a:off x="0" y="6006108"/>
            <a:ext cx="12192000" cy="870942"/>
          </a:xfrm>
          <a:prstGeom prst="rect">
            <a:avLst/>
          </a:prstGeom>
          <a:blipFill rotWithShape="1">
            <a:blip r:embed="rId3">
              <a:alphaModFix/>
            </a:blip>
            <a:tile algn="ctr" flip="none" tx="0" sx="100000" ty="0" sy="100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6" name="Google Shape;26;p51"/>
          <p:cNvPicPr preferRelativeResize="0"/>
          <p:nvPr/>
        </p:nvPicPr>
        <p:blipFill rotWithShape="1">
          <a:blip r:embed="rId2">
            <a:alphaModFix/>
          </a:blip>
          <a:srcRect b="0" l="0" r="0" t="0"/>
          <a:stretch/>
        </p:blipFill>
        <p:spPr>
          <a:xfrm>
            <a:off x="10590967" y="6298367"/>
            <a:ext cx="1267288" cy="36873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image option 3">
  <p:cSld name="Title slide_image option 3">
    <p:spTree>
      <p:nvGrpSpPr>
        <p:cNvPr id="27" name="Shape 27"/>
        <p:cNvGrpSpPr/>
        <p:nvPr/>
      </p:nvGrpSpPr>
      <p:grpSpPr>
        <a:xfrm>
          <a:off x="0" y="0"/>
          <a:ext cx="0" cy="0"/>
          <a:chOff x="0" y="0"/>
          <a:chExt cx="0" cy="0"/>
        </a:xfrm>
      </p:grpSpPr>
      <p:sp>
        <p:nvSpPr>
          <p:cNvPr id="28" name="Google Shape;28;p52"/>
          <p:cNvSpPr txBox="1"/>
          <p:nvPr>
            <p:ph idx="1" type="body"/>
          </p:nvPr>
        </p:nvSpPr>
        <p:spPr>
          <a:xfrm>
            <a:off x="379112" y="2765699"/>
            <a:ext cx="6012163" cy="67812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 name="Google Shape;29;p52"/>
          <p:cNvSpPr txBox="1"/>
          <p:nvPr>
            <p:ph idx="2" type="body"/>
          </p:nvPr>
        </p:nvSpPr>
        <p:spPr>
          <a:xfrm>
            <a:off x="370485" y="4463086"/>
            <a:ext cx="5649316" cy="40972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52"/>
          <p:cNvSpPr txBox="1"/>
          <p:nvPr>
            <p:ph idx="3" type="body"/>
          </p:nvPr>
        </p:nvSpPr>
        <p:spPr>
          <a:xfrm>
            <a:off x="378808" y="1959605"/>
            <a:ext cx="6012467" cy="1180231"/>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rgbClr val="006CAB"/>
              </a:buClr>
              <a:buSzPts val="4500"/>
              <a:buFont typeface="Arial"/>
              <a:buNone/>
              <a:defRPr b="1" i="0" sz="4500" u="none" cap="none" strike="noStrike">
                <a:solidFill>
                  <a:srgbClr val="006CAB"/>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1" name="Google Shape;31;p52"/>
          <p:cNvSpPr txBox="1"/>
          <p:nvPr>
            <p:ph idx="4" type="body"/>
          </p:nvPr>
        </p:nvSpPr>
        <p:spPr>
          <a:xfrm>
            <a:off x="370183" y="4872811"/>
            <a:ext cx="5649617" cy="40972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32" name="Google Shape;32;p52"/>
          <p:cNvPicPr preferRelativeResize="0"/>
          <p:nvPr/>
        </p:nvPicPr>
        <p:blipFill rotWithShape="1">
          <a:blip r:embed="rId2">
            <a:alphaModFix/>
          </a:blip>
          <a:srcRect b="0" l="0" r="0" t="0"/>
          <a:stretch/>
        </p:blipFill>
        <p:spPr>
          <a:xfrm>
            <a:off x="501668" y="440724"/>
            <a:ext cx="2270107" cy="660521"/>
          </a:xfrm>
          <a:prstGeom prst="rect">
            <a:avLst/>
          </a:prstGeom>
          <a:noFill/>
          <a:ln>
            <a:noFill/>
          </a:ln>
        </p:spPr>
      </p:pic>
      <p:pic>
        <p:nvPicPr>
          <p:cNvPr id="33" name="Google Shape;33;p52"/>
          <p:cNvPicPr preferRelativeResize="0"/>
          <p:nvPr/>
        </p:nvPicPr>
        <p:blipFill rotWithShape="1">
          <a:blip r:embed="rId3">
            <a:alphaModFix/>
          </a:blip>
          <a:srcRect b="6466" l="0" r="64112" t="0"/>
          <a:stretch/>
        </p:blipFill>
        <p:spPr>
          <a:xfrm>
            <a:off x="8618530" y="0"/>
            <a:ext cx="3014139" cy="6858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image option 1">
  <p:cSld name="Title slide_image option 1">
    <p:spTree>
      <p:nvGrpSpPr>
        <p:cNvPr id="34" name="Shape 34"/>
        <p:cNvGrpSpPr/>
        <p:nvPr/>
      </p:nvGrpSpPr>
      <p:grpSpPr>
        <a:xfrm>
          <a:off x="0" y="0"/>
          <a:ext cx="0" cy="0"/>
          <a:chOff x="0" y="0"/>
          <a:chExt cx="0" cy="0"/>
        </a:xfrm>
      </p:grpSpPr>
      <p:sp>
        <p:nvSpPr>
          <p:cNvPr id="35" name="Google Shape;35;p53"/>
          <p:cNvSpPr txBox="1"/>
          <p:nvPr>
            <p:ph idx="1" type="body"/>
          </p:nvPr>
        </p:nvSpPr>
        <p:spPr>
          <a:xfrm>
            <a:off x="379112" y="2765699"/>
            <a:ext cx="6012163" cy="67812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6" name="Google Shape;36;p53"/>
          <p:cNvSpPr txBox="1"/>
          <p:nvPr>
            <p:ph idx="2" type="body"/>
          </p:nvPr>
        </p:nvSpPr>
        <p:spPr>
          <a:xfrm>
            <a:off x="370485" y="4463086"/>
            <a:ext cx="5649316" cy="40972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 name="Google Shape;37;p53"/>
          <p:cNvSpPr txBox="1"/>
          <p:nvPr>
            <p:ph idx="3" type="body"/>
          </p:nvPr>
        </p:nvSpPr>
        <p:spPr>
          <a:xfrm>
            <a:off x="378808" y="1959605"/>
            <a:ext cx="6012467" cy="1180231"/>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rgbClr val="006CAB"/>
              </a:buClr>
              <a:buSzPts val="4500"/>
              <a:buFont typeface="Arial"/>
              <a:buNone/>
              <a:defRPr b="1" i="0" sz="4500" u="none" cap="none" strike="noStrike">
                <a:solidFill>
                  <a:srgbClr val="006CAB"/>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8" name="Google Shape;38;p53"/>
          <p:cNvSpPr txBox="1"/>
          <p:nvPr>
            <p:ph idx="4" type="body"/>
          </p:nvPr>
        </p:nvSpPr>
        <p:spPr>
          <a:xfrm>
            <a:off x="370183" y="4872811"/>
            <a:ext cx="5649617" cy="40972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39" name="Google Shape;39;p53"/>
          <p:cNvPicPr preferRelativeResize="0"/>
          <p:nvPr/>
        </p:nvPicPr>
        <p:blipFill rotWithShape="1">
          <a:blip r:embed="rId2">
            <a:alphaModFix/>
          </a:blip>
          <a:srcRect b="0" l="0" r="0" t="0"/>
          <a:stretch/>
        </p:blipFill>
        <p:spPr>
          <a:xfrm>
            <a:off x="501668" y="440724"/>
            <a:ext cx="2270107" cy="660521"/>
          </a:xfrm>
          <a:prstGeom prst="rect">
            <a:avLst/>
          </a:prstGeom>
          <a:noFill/>
          <a:ln>
            <a:noFill/>
          </a:ln>
        </p:spPr>
      </p:pic>
      <p:pic>
        <p:nvPicPr>
          <p:cNvPr descr="PPT templates-1-standard-FINAL.jpg" id="40" name="Google Shape;40;p53"/>
          <p:cNvPicPr preferRelativeResize="0"/>
          <p:nvPr/>
        </p:nvPicPr>
        <p:blipFill rotWithShape="1">
          <a:blip r:embed="rId3">
            <a:alphaModFix/>
          </a:blip>
          <a:srcRect b="0" l="63055" r="3241" t="0"/>
          <a:stretch/>
        </p:blipFill>
        <p:spPr>
          <a:xfrm>
            <a:off x="8542871" y="0"/>
            <a:ext cx="3081867" cy="68580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image option 4">
  <p:cSld name="Title slide_image option 4">
    <p:spTree>
      <p:nvGrpSpPr>
        <p:cNvPr id="41" name="Shape 41"/>
        <p:cNvGrpSpPr/>
        <p:nvPr/>
      </p:nvGrpSpPr>
      <p:grpSpPr>
        <a:xfrm>
          <a:off x="0" y="0"/>
          <a:ext cx="0" cy="0"/>
          <a:chOff x="0" y="0"/>
          <a:chExt cx="0" cy="0"/>
        </a:xfrm>
      </p:grpSpPr>
      <p:sp>
        <p:nvSpPr>
          <p:cNvPr id="42" name="Google Shape;42;p54"/>
          <p:cNvSpPr txBox="1"/>
          <p:nvPr>
            <p:ph idx="1" type="body"/>
          </p:nvPr>
        </p:nvSpPr>
        <p:spPr>
          <a:xfrm>
            <a:off x="379112" y="2765699"/>
            <a:ext cx="6012163" cy="67812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54"/>
          <p:cNvSpPr txBox="1"/>
          <p:nvPr>
            <p:ph idx="2" type="body"/>
          </p:nvPr>
        </p:nvSpPr>
        <p:spPr>
          <a:xfrm>
            <a:off x="370485" y="4463086"/>
            <a:ext cx="5649316" cy="40972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54"/>
          <p:cNvSpPr txBox="1"/>
          <p:nvPr>
            <p:ph idx="3" type="body"/>
          </p:nvPr>
        </p:nvSpPr>
        <p:spPr>
          <a:xfrm>
            <a:off x="378808" y="1959605"/>
            <a:ext cx="6012467" cy="1180231"/>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rgbClr val="006CAB"/>
              </a:buClr>
              <a:buSzPts val="4500"/>
              <a:buFont typeface="Arial"/>
              <a:buNone/>
              <a:defRPr b="1" i="0" sz="4500" u="none" cap="none" strike="noStrike">
                <a:solidFill>
                  <a:srgbClr val="006CAB"/>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5" name="Google Shape;45;p54"/>
          <p:cNvSpPr txBox="1"/>
          <p:nvPr>
            <p:ph idx="4" type="body"/>
          </p:nvPr>
        </p:nvSpPr>
        <p:spPr>
          <a:xfrm>
            <a:off x="370183" y="4872811"/>
            <a:ext cx="5649617" cy="40972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46" name="Google Shape;46;p54"/>
          <p:cNvPicPr preferRelativeResize="0"/>
          <p:nvPr/>
        </p:nvPicPr>
        <p:blipFill rotWithShape="1">
          <a:blip r:embed="rId2">
            <a:alphaModFix/>
          </a:blip>
          <a:srcRect b="0" l="0" r="0" t="0"/>
          <a:stretch/>
        </p:blipFill>
        <p:spPr>
          <a:xfrm>
            <a:off x="501668" y="440724"/>
            <a:ext cx="2270107" cy="660521"/>
          </a:xfrm>
          <a:prstGeom prst="rect">
            <a:avLst/>
          </a:prstGeom>
          <a:noFill/>
          <a:ln>
            <a:noFill/>
          </a:ln>
        </p:spPr>
      </p:pic>
      <p:sp>
        <p:nvSpPr>
          <p:cNvPr id="47" name="Google Shape;47;p54"/>
          <p:cNvSpPr/>
          <p:nvPr/>
        </p:nvSpPr>
        <p:spPr>
          <a:xfrm>
            <a:off x="8652398" y="2502"/>
            <a:ext cx="2926807" cy="6882646"/>
          </a:xfrm>
          <a:custGeom>
            <a:rect b="b" l="l" r="r" t="t"/>
            <a:pathLst>
              <a:path extrusionOk="0" h="7007189" w="2979769">
                <a:moveTo>
                  <a:pt x="7969" y="6531"/>
                </a:moveTo>
                <a:cubicBezTo>
                  <a:pt x="10513" y="2334264"/>
                  <a:pt x="-2206" y="4669628"/>
                  <a:pt x="338" y="6997361"/>
                </a:cubicBezTo>
                <a:lnTo>
                  <a:pt x="804803" y="7004990"/>
                </a:lnTo>
                <a:lnTo>
                  <a:pt x="804803" y="3997234"/>
                </a:lnTo>
                <a:lnTo>
                  <a:pt x="1074790" y="6999558"/>
                </a:lnTo>
                <a:lnTo>
                  <a:pt x="1947803" y="7007189"/>
                </a:lnTo>
                <a:lnTo>
                  <a:pt x="2176403" y="4023360"/>
                </a:lnTo>
                <a:cubicBezTo>
                  <a:pt x="2178866" y="5016122"/>
                  <a:pt x="2181330" y="6008884"/>
                  <a:pt x="2183793" y="7001646"/>
                </a:cubicBezTo>
                <a:lnTo>
                  <a:pt x="2969759" y="6999737"/>
                </a:lnTo>
                <a:cubicBezTo>
                  <a:pt x="2973096" y="4674122"/>
                  <a:pt x="2976432" y="2325615"/>
                  <a:pt x="2979769" y="0"/>
                </a:cubicBezTo>
                <a:lnTo>
                  <a:pt x="1699609" y="0"/>
                </a:lnTo>
                <a:lnTo>
                  <a:pt x="1497135" y="2331720"/>
                </a:lnTo>
                <a:lnTo>
                  <a:pt x="1301192" y="6531"/>
                </a:lnTo>
                <a:lnTo>
                  <a:pt x="7969" y="6531"/>
                </a:lnTo>
                <a:close/>
              </a:path>
            </a:pathLst>
          </a:custGeom>
          <a:blipFill rotWithShape="1">
            <a:blip r:embed="rId3">
              <a:alphaModFix/>
            </a:blip>
            <a:stretch>
              <a:fillRect b="-556" l="-2458" r="-31876" t="177"/>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py with subheadings_grey">
  <p:cSld name="Copy with subheadings_grey">
    <p:spTree>
      <p:nvGrpSpPr>
        <p:cNvPr id="48" name="Shape 48"/>
        <p:cNvGrpSpPr/>
        <p:nvPr/>
      </p:nvGrpSpPr>
      <p:grpSpPr>
        <a:xfrm>
          <a:off x="0" y="0"/>
          <a:ext cx="0" cy="0"/>
          <a:chOff x="0" y="0"/>
          <a:chExt cx="0" cy="0"/>
        </a:xfrm>
      </p:grpSpPr>
      <p:sp>
        <p:nvSpPr>
          <p:cNvPr id="49" name="Google Shape;49;p55"/>
          <p:cNvSpPr/>
          <p:nvPr/>
        </p:nvSpPr>
        <p:spPr>
          <a:xfrm>
            <a:off x="9253537" y="0"/>
            <a:ext cx="2947172" cy="6853646"/>
          </a:xfrm>
          <a:custGeom>
            <a:rect b="b" l="l" r="r" t="t"/>
            <a:pathLst>
              <a:path extrusionOk="0" h="6853646" w="3772445">
                <a:moveTo>
                  <a:pt x="0" y="0"/>
                </a:moveTo>
                <a:lnTo>
                  <a:pt x="19050" y="69669"/>
                </a:lnTo>
                <a:lnTo>
                  <a:pt x="1482090" y="6853646"/>
                </a:lnTo>
                <a:lnTo>
                  <a:pt x="3763736" y="6844937"/>
                </a:lnTo>
                <a:lnTo>
                  <a:pt x="3772445" y="0"/>
                </a:lnTo>
                <a:lnTo>
                  <a:pt x="0" y="0"/>
                </a:lnTo>
                <a:close/>
              </a:path>
            </a:pathLst>
          </a:custGeom>
          <a:solidFill>
            <a:srgbClr val="D2D2D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 name="Google Shape;50;p55"/>
          <p:cNvSpPr txBox="1"/>
          <p:nvPr>
            <p:ph idx="1" type="body"/>
          </p:nvPr>
        </p:nvSpPr>
        <p:spPr>
          <a:xfrm>
            <a:off x="306060" y="978761"/>
            <a:ext cx="7451725" cy="46646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1" name="Google Shape;51;p55"/>
          <p:cNvSpPr txBox="1"/>
          <p:nvPr>
            <p:ph idx="2" type="body"/>
          </p:nvPr>
        </p:nvSpPr>
        <p:spPr>
          <a:xfrm>
            <a:off x="306060" y="326309"/>
            <a:ext cx="7452026" cy="73695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4200"/>
              <a:buFont typeface="Arial"/>
              <a:buNone/>
              <a:defRPr b="1" i="0" sz="42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55"/>
          <p:cNvSpPr txBox="1"/>
          <p:nvPr>
            <p:ph idx="3" type="body"/>
          </p:nvPr>
        </p:nvSpPr>
        <p:spPr>
          <a:xfrm>
            <a:off x="306060" y="1729723"/>
            <a:ext cx="745172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3" name="Google Shape;53;p55"/>
          <p:cNvSpPr txBox="1"/>
          <p:nvPr>
            <p:ph idx="4" type="body"/>
          </p:nvPr>
        </p:nvSpPr>
        <p:spPr>
          <a:xfrm>
            <a:off x="300211" y="2097682"/>
            <a:ext cx="7451725" cy="172943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55"/>
          <p:cNvSpPr txBox="1"/>
          <p:nvPr>
            <p:ph idx="5" type="body"/>
          </p:nvPr>
        </p:nvSpPr>
        <p:spPr>
          <a:xfrm>
            <a:off x="300211" y="4111606"/>
            <a:ext cx="745172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5" name="Google Shape;55;p55"/>
          <p:cNvSpPr txBox="1"/>
          <p:nvPr>
            <p:ph idx="6" type="body"/>
          </p:nvPr>
        </p:nvSpPr>
        <p:spPr>
          <a:xfrm>
            <a:off x="294362" y="4513254"/>
            <a:ext cx="7451725" cy="172943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56" name="Google Shape;56;p55"/>
          <p:cNvPicPr preferRelativeResize="0"/>
          <p:nvPr/>
        </p:nvPicPr>
        <p:blipFill rotWithShape="1">
          <a:blip r:embed="rId2">
            <a:alphaModFix/>
          </a:blip>
          <a:srcRect b="0" l="0" r="0" t="0"/>
          <a:stretch/>
        </p:blipFill>
        <p:spPr>
          <a:xfrm>
            <a:off x="10596246" y="6319350"/>
            <a:ext cx="1262009" cy="3672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py with subheadings_blue">
  <p:cSld name="Copy with subheadings_blue">
    <p:spTree>
      <p:nvGrpSpPr>
        <p:cNvPr id="57" name="Shape 57"/>
        <p:cNvGrpSpPr/>
        <p:nvPr/>
      </p:nvGrpSpPr>
      <p:grpSpPr>
        <a:xfrm>
          <a:off x="0" y="0"/>
          <a:ext cx="0" cy="0"/>
          <a:chOff x="0" y="0"/>
          <a:chExt cx="0" cy="0"/>
        </a:xfrm>
      </p:grpSpPr>
      <p:sp>
        <p:nvSpPr>
          <p:cNvPr id="58" name="Google Shape;58;p56"/>
          <p:cNvSpPr/>
          <p:nvPr/>
        </p:nvSpPr>
        <p:spPr>
          <a:xfrm>
            <a:off x="9253537" y="0"/>
            <a:ext cx="2947172" cy="6853646"/>
          </a:xfrm>
          <a:custGeom>
            <a:rect b="b" l="l" r="r" t="t"/>
            <a:pathLst>
              <a:path extrusionOk="0" h="6853646" w="3772445">
                <a:moveTo>
                  <a:pt x="0" y="0"/>
                </a:moveTo>
                <a:lnTo>
                  <a:pt x="19050" y="69669"/>
                </a:lnTo>
                <a:lnTo>
                  <a:pt x="1482090" y="6853646"/>
                </a:lnTo>
                <a:lnTo>
                  <a:pt x="3763736" y="6844937"/>
                </a:lnTo>
                <a:lnTo>
                  <a:pt x="3772445" y="0"/>
                </a:lnTo>
                <a:lnTo>
                  <a:pt x="0" y="0"/>
                </a:lnTo>
                <a:close/>
              </a:path>
            </a:pathLst>
          </a:custGeom>
          <a:solidFill>
            <a:srgbClr val="006D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 name="Google Shape;59;p56"/>
          <p:cNvSpPr txBox="1"/>
          <p:nvPr>
            <p:ph idx="1" type="body"/>
          </p:nvPr>
        </p:nvSpPr>
        <p:spPr>
          <a:xfrm>
            <a:off x="306060" y="978761"/>
            <a:ext cx="7451725" cy="46646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0" name="Google Shape;60;p56"/>
          <p:cNvSpPr txBox="1"/>
          <p:nvPr>
            <p:ph idx="2" type="body"/>
          </p:nvPr>
        </p:nvSpPr>
        <p:spPr>
          <a:xfrm>
            <a:off x="306060" y="326309"/>
            <a:ext cx="7452026" cy="73695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4200"/>
              <a:buFont typeface="Arial"/>
              <a:buNone/>
              <a:defRPr b="1" i="0" sz="42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1" name="Google Shape;61;p56"/>
          <p:cNvSpPr txBox="1"/>
          <p:nvPr>
            <p:ph idx="3" type="body"/>
          </p:nvPr>
        </p:nvSpPr>
        <p:spPr>
          <a:xfrm>
            <a:off x="306060" y="1729723"/>
            <a:ext cx="745172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2" name="Google Shape;62;p56"/>
          <p:cNvSpPr txBox="1"/>
          <p:nvPr>
            <p:ph idx="4" type="body"/>
          </p:nvPr>
        </p:nvSpPr>
        <p:spPr>
          <a:xfrm>
            <a:off x="300211" y="2097682"/>
            <a:ext cx="7451725" cy="172943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3" name="Google Shape;63;p56"/>
          <p:cNvSpPr txBox="1"/>
          <p:nvPr>
            <p:ph idx="5" type="body"/>
          </p:nvPr>
        </p:nvSpPr>
        <p:spPr>
          <a:xfrm>
            <a:off x="300211" y="4111606"/>
            <a:ext cx="745172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4" name="Google Shape;64;p56"/>
          <p:cNvSpPr txBox="1"/>
          <p:nvPr>
            <p:ph idx="6" type="body"/>
          </p:nvPr>
        </p:nvSpPr>
        <p:spPr>
          <a:xfrm>
            <a:off x="294362" y="4513254"/>
            <a:ext cx="7451725" cy="172943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65" name="Google Shape;65;p56"/>
          <p:cNvPicPr preferRelativeResize="0"/>
          <p:nvPr/>
        </p:nvPicPr>
        <p:blipFill rotWithShape="1">
          <a:blip r:embed="rId2">
            <a:alphaModFix/>
          </a:blip>
          <a:srcRect b="0" l="0" r="0" t="0"/>
          <a:stretch/>
        </p:blipFill>
        <p:spPr>
          <a:xfrm>
            <a:off x="10590967" y="6298367"/>
            <a:ext cx="1267288" cy="36873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py with two images">
  <p:cSld name="Copy with two images">
    <p:spTree>
      <p:nvGrpSpPr>
        <p:cNvPr id="66" name="Shape 66"/>
        <p:cNvGrpSpPr/>
        <p:nvPr/>
      </p:nvGrpSpPr>
      <p:grpSpPr>
        <a:xfrm>
          <a:off x="0" y="0"/>
          <a:ext cx="0" cy="0"/>
          <a:chOff x="0" y="0"/>
          <a:chExt cx="0" cy="0"/>
        </a:xfrm>
      </p:grpSpPr>
      <p:pic>
        <p:nvPicPr>
          <p:cNvPr id="67" name="Google Shape;67;p57"/>
          <p:cNvPicPr preferRelativeResize="0"/>
          <p:nvPr/>
        </p:nvPicPr>
        <p:blipFill rotWithShape="1">
          <a:blip r:embed="rId2">
            <a:alphaModFix/>
          </a:blip>
          <a:srcRect b="0" l="0" r="0" t="0"/>
          <a:stretch/>
        </p:blipFill>
        <p:spPr>
          <a:xfrm>
            <a:off x="10552867" y="6397304"/>
            <a:ext cx="1267288" cy="368735"/>
          </a:xfrm>
          <a:prstGeom prst="rect">
            <a:avLst/>
          </a:prstGeom>
          <a:noFill/>
          <a:ln>
            <a:noFill/>
          </a:ln>
        </p:spPr>
      </p:pic>
      <p:sp>
        <p:nvSpPr>
          <p:cNvPr id="68" name="Google Shape;68;p57"/>
          <p:cNvSpPr txBox="1"/>
          <p:nvPr>
            <p:ph idx="1" type="body"/>
          </p:nvPr>
        </p:nvSpPr>
        <p:spPr>
          <a:xfrm>
            <a:off x="306060" y="1046138"/>
            <a:ext cx="7451725" cy="46646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9" name="Google Shape;69;p57"/>
          <p:cNvSpPr txBox="1"/>
          <p:nvPr>
            <p:ph idx="2" type="body"/>
          </p:nvPr>
        </p:nvSpPr>
        <p:spPr>
          <a:xfrm>
            <a:off x="306060" y="359998"/>
            <a:ext cx="7452026" cy="73695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4200"/>
              <a:buFont typeface="Arial"/>
              <a:buNone/>
              <a:defRPr b="1" i="0" sz="42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0" name="Google Shape;70;p57"/>
          <p:cNvSpPr txBox="1"/>
          <p:nvPr>
            <p:ph idx="3" type="body"/>
          </p:nvPr>
        </p:nvSpPr>
        <p:spPr>
          <a:xfrm>
            <a:off x="306060" y="1763411"/>
            <a:ext cx="745172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1" name="Google Shape;71;p57"/>
          <p:cNvSpPr txBox="1"/>
          <p:nvPr>
            <p:ph idx="4" type="body"/>
          </p:nvPr>
        </p:nvSpPr>
        <p:spPr>
          <a:xfrm>
            <a:off x="300212" y="2131371"/>
            <a:ext cx="4352700" cy="3976132"/>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72" name="Google Shape;72;p57"/>
          <p:cNvPicPr preferRelativeResize="0"/>
          <p:nvPr/>
        </p:nvPicPr>
        <p:blipFill rotWithShape="1">
          <a:blip r:embed="rId3">
            <a:alphaModFix/>
          </a:blip>
          <a:srcRect b="0" l="0" r="0" t="0"/>
          <a:stretch/>
        </p:blipFill>
        <p:spPr>
          <a:xfrm>
            <a:off x="10342459" y="6329169"/>
            <a:ext cx="1262009" cy="367200"/>
          </a:xfrm>
          <a:prstGeom prst="rect">
            <a:avLst/>
          </a:prstGeom>
          <a:noFill/>
          <a:ln>
            <a:noFill/>
          </a:ln>
        </p:spPr>
      </p:pic>
      <p:sp>
        <p:nvSpPr>
          <p:cNvPr id="73" name="Google Shape;73;p57"/>
          <p:cNvSpPr/>
          <p:nvPr>
            <p:ph idx="5" type="pic"/>
          </p:nvPr>
        </p:nvSpPr>
        <p:spPr>
          <a:xfrm>
            <a:off x="7380288" y="2520000"/>
            <a:ext cx="4027879" cy="2267900"/>
          </a:xfrm>
          <a:prstGeom prst="rect">
            <a:avLst/>
          </a:prstGeom>
          <a:noFill/>
          <a:ln>
            <a:noFill/>
          </a:ln>
        </p:spPr>
      </p:sp>
      <p:sp>
        <p:nvSpPr>
          <p:cNvPr id="74" name="Google Shape;74;p57"/>
          <p:cNvSpPr/>
          <p:nvPr>
            <p:ph idx="6" type="pic"/>
          </p:nvPr>
        </p:nvSpPr>
        <p:spPr>
          <a:xfrm>
            <a:off x="4960507" y="2519363"/>
            <a:ext cx="2281237" cy="2268537"/>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slide image with caption">
  <p:cSld name="Full slide image with caption">
    <p:spTree>
      <p:nvGrpSpPr>
        <p:cNvPr id="75" name="Shape 75"/>
        <p:cNvGrpSpPr/>
        <p:nvPr/>
      </p:nvGrpSpPr>
      <p:grpSpPr>
        <a:xfrm>
          <a:off x="0" y="0"/>
          <a:ext cx="0" cy="0"/>
          <a:chOff x="0" y="0"/>
          <a:chExt cx="0" cy="0"/>
        </a:xfrm>
      </p:grpSpPr>
      <p:sp>
        <p:nvSpPr>
          <p:cNvPr id="76" name="Google Shape;76;p58"/>
          <p:cNvSpPr/>
          <p:nvPr>
            <p:ph idx="2" type="pic"/>
          </p:nvPr>
        </p:nvSpPr>
        <p:spPr>
          <a:xfrm>
            <a:off x="0" y="-8466"/>
            <a:ext cx="10371666" cy="6866466"/>
          </a:xfrm>
          <a:prstGeom prst="rect">
            <a:avLst/>
          </a:prstGeom>
          <a:noFill/>
          <a:ln>
            <a:noFill/>
          </a:ln>
        </p:spPr>
      </p:sp>
      <p:pic>
        <p:nvPicPr>
          <p:cNvPr id="77" name="Google Shape;77;p58"/>
          <p:cNvPicPr preferRelativeResize="0"/>
          <p:nvPr/>
        </p:nvPicPr>
        <p:blipFill rotWithShape="1">
          <a:blip r:embed="rId2">
            <a:alphaModFix/>
          </a:blip>
          <a:srcRect b="0" l="0" r="0" t="0"/>
          <a:stretch/>
        </p:blipFill>
        <p:spPr>
          <a:xfrm>
            <a:off x="10552867" y="6397304"/>
            <a:ext cx="1267288" cy="368735"/>
          </a:xfrm>
          <a:prstGeom prst="rect">
            <a:avLst/>
          </a:prstGeom>
          <a:noFill/>
          <a:ln>
            <a:noFill/>
          </a:ln>
        </p:spPr>
      </p:pic>
      <p:sp>
        <p:nvSpPr>
          <p:cNvPr id="78" name="Google Shape;78;p58"/>
          <p:cNvSpPr txBox="1"/>
          <p:nvPr>
            <p:ph idx="1" type="body"/>
          </p:nvPr>
        </p:nvSpPr>
        <p:spPr>
          <a:xfrm>
            <a:off x="9689170" y="332573"/>
            <a:ext cx="2309631" cy="130284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79" name="Google Shape;79;p58"/>
          <p:cNvPicPr preferRelativeResize="0"/>
          <p:nvPr/>
        </p:nvPicPr>
        <p:blipFill rotWithShape="1">
          <a:blip r:embed="rId3">
            <a:alphaModFix/>
          </a:blip>
          <a:srcRect b="0" l="0" r="0" t="0"/>
          <a:stretch/>
        </p:blipFill>
        <p:spPr>
          <a:xfrm>
            <a:off x="10630328" y="6329169"/>
            <a:ext cx="1262009" cy="3672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slide copy_grey">
  <p:cSld name="Full slide copy_grey">
    <p:spTree>
      <p:nvGrpSpPr>
        <p:cNvPr id="80" name="Shape 80"/>
        <p:cNvGrpSpPr/>
        <p:nvPr/>
      </p:nvGrpSpPr>
      <p:grpSpPr>
        <a:xfrm>
          <a:off x="0" y="0"/>
          <a:ext cx="0" cy="0"/>
          <a:chOff x="0" y="0"/>
          <a:chExt cx="0" cy="0"/>
        </a:xfrm>
      </p:grpSpPr>
      <p:pic>
        <p:nvPicPr>
          <p:cNvPr id="81" name="Google Shape;81;p59"/>
          <p:cNvPicPr preferRelativeResize="0"/>
          <p:nvPr/>
        </p:nvPicPr>
        <p:blipFill rotWithShape="1">
          <a:blip r:embed="rId2">
            <a:alphaModFix/>
          </a:blip>
          <a:srcRect b="0" l="0" r="0" t="0"/>
          <a:stretch/>
        </p:blipFill>
        <p:spPr>
          <a:xfrm>
            <a:off x="10552867" y="6397304"/>
            <a:ext cx="1267288" cy="368735"/>
          </a:xfrm>
          <a:prstGeom prst="rect">
            <a:avLst/>
          </a:prstGeom>
          <a:noFill/>
          <a:ln>
            <a:noFill/>
          </a:ln>
        </p:spPr>
      </p:pic>
      <p:sp>
        <p:nvSpPr>
          <p:cNvPr id="82" name="Google Shape;82;p59"/>
          <p:cNvSpPr/>
          <p:nvPr/>
        </p:nvSpPr>
        <p:spPr>
          <a:xfrm>
            <a:off x="219075" y="85725"/>
            <a:ext cx="2771775" cy="11620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 name="Google Shape;83;p59"/>
          <p:cNvSpPr txBox="1"/>
          <p:nvPr>
            <p:ph idx="1" type="body"/>
          </p:nvPr>
        </p:nvSpPr>
        <p:spPr>
          <a:xfrm>
            <a:off x="306060" y="978761"/>
            <a:ext cx="7451725" cy="46646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4" name="Google Shape;84;p59"/>
          <p:cNvSpPr txBox="1"/>
          <p:nvPr>
            <p:ph idx="2" type="body"/>
          </p:nvPr>
        </p:nvSpPr>
        <p:spPr>
          <a:xfrm>
            <a:off x="306060" y="326309"/>
            <a:ext cx="7452026" cy="73695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4200"/>
              <a:buFont typeface="Arial"/>
              <a:buNone/>
              <a:defRPr b="1" i="0" sz="42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5" name="Google Shape;85;p59"/>
          <p:cNvSpPr txBox="1"/>
          <p:nvPr>
            <p:ph idx="3" type="body"/>
          </p:nvPr>
        </p:nvSpPr>
        <p:spPr>
          <a:xfrm>
            <a:off x="306060" y="1729723"/>
            <a:ext cx="1080961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6" name="Google Shape;86;p59"/>
          <p:cNvSpPr txBox="1"/>
          <p:nvPr>
            <p:ph idx="4" type="body"/>
          </p:nvPr>
        </p:nvSpPr>
        <p:spPr>
          <a:xfrm>
            <a:off x="300211" y="2097681"/>
            <a:ext cx="10815464" cy="329916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87" name="Google Shape;87;p59"/>
          <p:cNvPicPr preferRelativeResize="0"/>
          <p:nvPr/>
        </p:nvPicPr>
        <p:blipFill rotWithShape="1">
          <a:blip r:embed="rId2">
            <a:alphaModFix/>
          </a:blip>
          <a:srcRect b="0" l="0" r="0" t="0"/>
          <a:stretch/>
        </p:blipFill>
        <p:spPr>
          <a:xfrm>
            <a:off x="10705267" y="6373900"/>
            <a:ext cx="1267288" cy="368735"/>
          </a:xfrm>
          <a:prstGeom prst="rect">
            <a:avLst/>
          </a:prstGeom>
          <a:noFill/>
          <a:ln>
            <a:noFill/>
          </a:ln>
        </p:spPr>
      </p:pic>
      <p:sp>
        <p:nvSpPr>
          <p:cNvPr id="88" name="Google Shape;88;p59"/>
          <p:cNvSpPr/>
          <p:nvPr/>
        </p:nvSpPr>
        <p:spPr>
          <a:xfrm>
            <a:off x="0" y="6006108"/>
            <a:ext cx="12192000" cy="870942"/>
          </a:xfrm>
          <a:prstGeom prst="rect">
            <a:avLst/>
          </a:prstGeom>
          <a:solidFill>
            <a:srgbClr val="D2D2D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9" name="Google Shape;89;p59"/>
          <p:cNvPicPr preferRelativeResize="0"/>
          <p:nvPr/>
        </p:nvPicPr>
        <p:blipFill rotWithShape="1">
          <a:blip r:embed="rId3">
            <a:alphaModFix/>
          </a:blip>
          <a:srcRect b="0" l="0" r="0" t="0"/>
          <a:stretch/>
        </p:blipFill>
        <p:spPr>
          <a:xfrm>
            <a:off x="10342459" y="6329169"/>
            <a:ext cx="1262009" cy="3672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slide copy_texture option 2">
  <p:cSld name="Full slide copy_texture option 2">
    <p:spTree>
      <p:nvGrpSpPr>
        <p:cNvPr id="90" name="Shape 90"/>
        <p:cNvGrpSpPr/>
        <p:nvPr/>
      </p:nvGrpSpPr>
      <p:grpSpPr>
        <a:xfrm>
          <a:off x="0" y="0"/>
          <a:ext cx="0" cy="0"/>
          <a:chOff x="0" y="0"/>
          <a:chExt cx="0" cy="0"/>
        </a:xfrm>
      </p:grpSpPr>
      <p:pic>
        <p:nvPicPr>
          <p:cNvPr id="91" name="Google Shape;91;p60"/>
          <p:cNvPicPr preferRelativeResize="0"/>
          <p:nvPr/>
        </p:nvPicPr>
        <p:blipFill rotWithShape="1">
          <a:blip r:embed="rId2">
            <a:alphaModFix/>
          </a:blip>
          <a:srcRect b="0" l="0" r="0" t="0"/>
          <a:stretch/>
        </p:blipFill>
        <p:spPr>
          <a:xfrm>
            <a:off x="10552867" y="6397304"/>
            <a:ext cx="1267288" cy="368735"/>
          </a:xfrm>
          <a:prstGeom prst="rect">
            <a:avLst/>
          </a:prstGeom>
          <a:noFill/>
          <a:ln>
            <a:noFill/>
          </a:ln>
        </p:spPr>
      </p:pic>
      <p:sp>
        <p:nvSpPr>
          <p:cNvPr id="92" name="Google Shape;92;p60"/>
          <p:cNvSpPr/>
          <p:nvPr/>
        </p:nvSpPr>
        <p:spPr>
          <a:xfrm>
            <a:off x="219075" y="85725"/>
            <a:ext cx="2771775" cy="11620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 name="Google Shape;93;p60"/>
          <p:cNvSpPr txBox="1"/>
          <p:nvPr>
            <p:ph idx="1" type="body"/>
          </p:nvPr>
        </p:nvSpPr>
        <p:spPr>
          <a:xfrm>
            <a:off x="306060" y="978761"/>
            <a:ext cx="7451725" cy="46646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4" name="Google Shape;94;p60"/>
          <p:cNvSpPr txBox="1"/>
          <p:nvPr>
            <p:ph idx="2" type="body"/>
          </p:nvPr>
        </p:nvSpPr>
        <p:spPr>
          <a:xfrm>
            <a:off x="306060" y="326309"/>
            <a:ext cx="7452026" cy="73695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4200"/>
              <a:buFont typeface="Arial"/>
              <a:buNone/>
              <a:defRPr b="1" i="0" sz="42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5" name="Google Shape;95;p60"/>
          <p:cNvSpPr txBox="1"/>
          <p:nvPr>
            <p:ph idx="3" type="body"/>
          </p:nvPr>
        </p:nvSpPr>
        <p:spPr>
          <a:xfrm>
            <a:off x="306060" y="1729723"/>
            <a:ext cx="1080961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6" name="Google Shape;96;p60"/>
          <p:cNvSpPr txBox="1"/>
          <p:nvPr>
            <p:ph idx="4" type="body"/>
          </p:nvPr>
        </p:nvSpPr>
        <p:spPr>
          <a:xfrm>
            <a:off x="300211" y="2097681"/>
            <a:ext cx="10815464" cy="385358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7" name="Google Shape;97;p60"/>
          <p:cNvSpPr/>
          <p:nvPr/>
        </p:nvSpPr>
        <p:spPr>
          <a:xfrm>
            <a:off x="9993085" y="-19049"/>
            <a:ext cx="123825" cy="119094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98" name="Google Shape;98;p60"/>
          <p:cNvPicPr preferRelativeResize="0"/>
          <p:nvPr/>
        </p:nvPicPr>
        <p:blipFill rotWithShape="1">
          <a:blip r:embed="rId2">
            <a:alphaModFix/>
          </a:blip>
          <a:srcRect b="0" l="0" r="0" t="0"/>
          <a:stretch/>
        </p:blipFill>
        <p:spPr>
          <a:xfrm>
            <a:off x="10705267" y="6373900"/>
            <a:ext cx="1267288" cy="368735"/>
          </a:xfrm>
          <a:prstGeom prst="rect">
            <a:avLst/>
          </a:prstGeom>
          <a:noFill/>
          <a:ln>
            <a:noFill/>
          </a:ln>
        </p:spPr>
      </p:pic>
      <p:pic>
        <p:nvPicPr>
          <p:cNvPr id="99" name="Google Shape;99;p60"/>
          <p:cNvPicPr preferRelativeResize="0"/>
          <p:nvPr/>
        </p:nvPicPr>
        <p:blipFill rotWithShape="1">
          <a:blip r:embed="rId2">
            <a:alphaModFix/>
          </a:blip>
          <a:srcRect b="0" l="0" r="0" t="0"/>
          <a:stretch/>
        </p:blipFill>
        <p:spPr>
          <a:xfrm>
            <a:off x="10260914" y="6404379"/>
            <a:ext cx="1267288" cy="368735"/>
          </a:xfrm>
          <a:prstGeom prst="rect">
            <a:avLst/>
          </a:prstGeom>
          <a:noFill/>
          <a:ln>
            <a:noFill/>
          </a:ln>
        </p:spPr>
      </p:pic>
      <p:sp>
        <p:nvSpPr>
          <p:cNvPr id="100" name="Google Shape;100;p60"/>
          <p:cNvSpPr/>
          <p:nvPr/>
        </p:nvSpPr>
        <p:spPr>
          <a:xfrm flipH="1" rot="-5400000">
            <a:off x="8957587" y="-680357"/>
            <a:ext cx="2562223" cy="3884848"/>
          </a:xfrm>
          <a:prstGeom prst="triangle">
            <a:avLst>
              <a:gd fmla="val 0" name="adj"/>
            </a:avLst>
          </a:prstGeom>
          <a:blipFill rotWithShape="0">
            <a:blip r:embed="rId3">
              <a:alphaModFix/>
            </a:blip>
            <a:tile algn="ctr" flip="none" tx="762000" sx="100000" ty="0" sy="100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01" name="Google Shape;101;p60"/>
          <p:cNvPicPr preferRelativeResize="0"/>
          <p:nvPr/>
        </p:nvPicPr>
        <p:blipFill rotWithShape="1">
          <a:blip r:embed="rId4">
            <a:alphaModFix/>
          </a:blip>
          <a:srcRect b="0" l="0" r="0" t="0"/>
          <a:stretch/>
        </p:blipFill>
        <p:spPr>
          <a:xfrm>
            <a:off x="10342459" y="6329169"/>
            <a:ext cx="1262009" cy="3672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slide copy_texture option 3">
  <p:cSld name="Full slide copy_texture option 3">
    <p:spTree>
      <p:nvGrpSpPr>
        <p:cNvPr id="102" name="Shape 102"/>
        <p:cNvGrpSpPr/>
        <p:nvPr/>
      </p:nvGrpSpPr>
      <p:grpSpPr>
        <a:xfrm>
          <a:off x="0" y="0"/>
          <a:ext cx="0" cy="0"/>
          <a:chOff x="0" y="0"/>
          <a:chExt cx="0" cy="0"/>
        </a:xfrm>
      </p:grpSpPr>
      <p:pic>
        <p:nvPicPr>
          <p:cNvPr id="103" name="Google Shape;103;p61"/>
          <p:cNvPicPr preferRelativeResize="0"/>
          <p:nvPr/>
        </p:nvPicPr>
        <p:blipFill rotWithShape="1">
          <a:blip r:embed="rId2">
            <a:alphaModFix/>
          </a:blip>
          <a:srcRect b="0" l="0" r="0" t="0"/>
          <a:stretch/>
        </p:blipFill>
        <p:spPr>
          <a:xfrm>
            <a:off x="10552867" y="6397304"/>
            <a:ext cx="1267288" cy="368735"/>
          </a:xfrm>
          <a:prstGeom prst="rect">
            <a:avLst/>
          </a:prstGeom>
          <a:noFill/>
          <a:ln>
            <a:noFill/>
          </a:ln>
        </p:spPr>
      </p:pic>
      <p:sp>
        <p:nvSpPr>
          <p:cNvPr id="104" name="Google Shape;104;p61"/>
          <p:cNvSpPr/>
          <p:nvPr/>
        </p:nvSpPr>
        <p:spPr>
          <a:xfrm>
            <a:off x="219075" y="85725"/>
            <a:ext cx="2771775" cy="11620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 name="Google Shape;105;p61"/>
          <p:cNvSpPr txBox="1"/>
          <p:nvPr>
            <p:ph idx="1" type="body"/>
          </p:nvPr>
        </p:nvSpPr>
        <p:spPr>
          <a:xfrm>
            <a:off x="306060" y="978761"/>
            <a:ext cx="7451725" cy="46646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6" name="Google Shape;106;p61"/>
          <p:cNvSpPr txBox="1"/>
          <p:nvPr>
            <p:ph idx="2" type="body"/>
          </p:nvPr>
        </p:nvSpPr>
        <p:spPr>
          <a:xfrm>
            <a:off x="306060" y="326309"/>
            <a:ext cx="7452026" cy="73695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4200"/>
              <a:buFont typeface="Arial"/>
              <a:buNone/>
              <a:defRPr b="1" i="0" sz="42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7" name="Google Shape;107;p61"/>
          <p:cNvSpPr txBox="1"/>
          <p:nvPr>
            <p:ph idx="3" type="body"/>
          </p:nvPr>
        </p:nvSpPr>
        <p:spPr>
          <a:xfrm>
            <a:off x="306060" y="1729723"/>
            <a:ext cx="1080961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8" name="Google Shape;108;p61"/>
          <p:cNvSpPr txBox="1"/>
          <p:nvPr>
            <p:ph idx="4" type="body"/>
          </p:nvPr>
        </p:nvSpPr>
        <p:spPr>
          <a:xfrm>
            <a:off x="300211" y="2097681"/>
            <a:ext cx="10815464" cy="385358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09" name="Google Shape;109;p61"/>
          <p:cNvPicPr preferRelativeResize="0"/>
          <p:nvPr/>
        </p:nvPicPr>
        <p:blipFill rotWithShape="1">
          <a:blip r:embed="rId2">
            <a:alphaModFix/>
          </a:blip>
          <a:srcRect b="0" l="0" r="0" t="0"/>
          <a:stretch/>
        </p:blipFill>
        <p:spPr>
          <a:xfrm>
            <a:off x="10705267" y="6373900"/>
            <a:ext cx="1267288" cy="368735"/>
          </a:xfrm>
          <a:prstGeom prst="rect">
            <a:avLst/>
          </a:prstGeom>
          <a:noFill/>
          <a:ln>
            <a:noFill/>
          </a:ln>
        </p:spPr>
      </p:pic>
      <p:pic>
        <p:nvPicPr>
          <p:cNvPr id="110" name="Google Shape;110;p61"/>
          <p:cNvPicPr preferRelativeResize="0"/>
          <p:nvPr/>
        </p:nvPicPr>
        <p:blipFill rotWithShape="1">
          <a:blip r:embed="rId2">
            <a:alphaModFix/>
          </a:blip>
          <a:srcRect b="0" l="0" r="0" t="0"/>
          <a:stretch/>
        </p:blipFill>
        <p:spPr>
          <a:xfrm>
            <a:off x="10260914" y="6404379"/>
            <a:ext cx="1267288" cy="368735"/>
          </a:xfrm>
          <a:prstGeom prst="rect">
            <a:avLst/>
          </a:prstGeom>
          <a:noFill/>
          <a:ln>
            <a:noFill/>
          </a:ln>
        </p:spPr>
      </p:pic>
      <p:sp>
        <p:nvSpPr>
          <p:cNvPr id="111" name="Google Shape;111;p61"/>
          <p:cNvSpPr/>
          <p:nvPr/>
        </p:nvSpPr>
        <p:spPr>
          <a:xfrm flipH="1" rot="5400000">
            <a:off x="558815" y="4317983"/>
            <a:ext cx="2000250" cy="3117884"/>
          </a:xfrm>
          <a:prstGeom prst="triangle">
            <a:avLst>
              <a:gd fmla="val 0" name="adj"/>
            </a:avLst>
          </a:prstGeom>
          <a:blipFill rotWithShape="0">
            <a:blip r:embed="rId3">
              <a:alphaModFix/>
            </a:blip>
            <a:tile algn="r" flip="none" tx="762008" sx="50000" ty="0" sy="50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2" name="Google Shape;112;p61"/>
          <p:cNvSpPr/>
          <p:nvPr/>
        </p:nvSpPr>
        <p:spPr>
          <a:xfrm flipH="1">
            <a:off x="-1" y="4876800"/>
            <a:ext cx="1176335" cy="1962472"/>
          </a:xfrm>
          <a:custGeom>
            <a:rect b="b" l="l" r="r" t="t"/>
            <a:pathLst>
              <a:path extrusionOk="0" h="9592694" w="1711036">
                <a:moveTo>
                  <a:pt x="0" y="3742485"/>
                </a:moveTo>
                <a:lnTo>
                  <a:pt x="1691986" y="0"/>
                </a:lnTo>
                <a:lnTo>
                  <a:pt x="1711036" y="9509516"/>
                </a:lnTo>
                <a:lnTo>
                  <a:pt x="1701511" y="9592694"/>
                </a:lnTo>
                <a:lnTo>
                  <a:pt x="0" y="3742485"/>
                </a:lnTo>
                <a:close/>
              </a:path>
            </a:pathLst>
          </a:custGeom>
          <a:solidFill>
            <a:srgbClr val="006CAB">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13" name="Google Shape;113;p61"/>
          <p:cNvPicPr preferRelativeResize="0"/>
          <p:nvPr/>
        </p:nvPicPr>
        <p:blipFill rotWithShape="1">
          <a:blip r:embed="rId4">
            <a:alphaModFix/>
          </a:blip>
          <a:srcRect b="0" l="0" r="0" t="0"/>
          <a:stretch/>
        </p:blipFill>
        <p:spPr>
          <a:xfrm>
            <a:off x="10342459" y="6329169"/>
            <a:ext cx="1262009" cy="3672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slide copy_texture option 2">
  <p:cSld name="Full slide copy_texture option 2">
    <p:spTree>
      <p:nvGrpSpPr>
        <p:cNvPr id="116" name="Shape 116"/>
        <p:cNvGrpSpPr/>
        <p:nvPr/>
      </p:nvGrpSpPr>
      <p:grpSpPr>
        <a:xfrm>
          <a:off x="0" y="0"/>
          <a:ext cx="0" cy="0"/>
          <a:chOff x="0" y="0"/>
          <a:chExt cx="0" cy="0"/>
        </a:xfrm>
      </p:grpSpPr>
      <p:pic>
        <p:nvPicPr>
          <p:cNvPr id="117" name="Google Shape;117;p50"/>
          <p:cNvPicPr preferRelativeResize="0"/>
          <p:nvPr/>
        </p:nvPicPr>
        <p:blipFill rotWithShape="1">
          <a:blip r:embed="rId2">
            <a:alphaModFix/>
          </a:blip>
          <a:srcRect b="0" l="0" r="0" t="0"/>
          <a:stretch/>
        </p:blipFill>
        <p:spPr>
          <a:xfrm>
            <a:off x="10552867" y="6397304"/>
            <a:ext cx="1267288" cy="368735"/>
          </a:xfrm>
          <a:prstGeom prst="rect">
            <a:avLst/>
          </a:prstGeom>
          <a:noFill/>
          <a:ln>
            <a:noFill/>
          </a:ln>
        </p:spPr>
      </p:pic>
      <p:sp>
        <p:nvSpPr>
          <p:cNvPr id="118" name="Google Shape;118;p50"/>
          <p:cNvSpPr/>
          <p:nvPr/>
        </p:nvSpPr>
        <p:spPr>
          <a:xfrm>
            <a:off x="219075" y="85725"/>
            <a:ext cx="2771775" cy="11620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 name="Google Shape;119;p50"/>
          <p:cNvSpPr txBox="1"/>
          <p:nvPr>
            <p:ph idx="1" type="body"/>
          </p:nvPr>
        </p:nvSpPr>
        <p:spPr>
          <a:xfrm>
            <a:off x="306060" y="978761"/>
            <a:ext cx="7451725" cy="46646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0" name="Google Shape;120;p50"/>
          <p:cNvSpPr txBox="1"/>
          <p:nvPr>
            <p:ph idx="2" type="body"/>
          </p:nvPr>
        </p:nvSpPr>
        <p:spPr>
          <a:xfrm>
            <a:off x="306060" y="326309"/>
            <a:ext cx="7452026" cy="73695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4200"/>
              <a:buFont typeface="Arial"/>
              <a:buNone/>
              <a:defRPr b="1" i="0" sz="42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1" name="Google Shape;121;p50"/>
          <p:cNvSpPr txBox="1"/>
          <p:nvPr>
            <p:ph idx="3" type="body"/>
          </p:nvPr>
        </p:nvSpPr>
        <p:spPr>
          <a:xfrm>
            <a:off x="306060" y="1729723"/>
            <a:ext cx="1080961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2" name="Google Shape;122;p50"/>
          <p:cNvSpPr txBox="1"/>
          <p:nvPr>
            <p:ph idx="4" type="body"/>
          </p:nvPr>
        </p:nvSpPr>
        <p:spPr>
          <a:xfrm>
            <a:off x="300211" y="2097681"/>
            <a:ext cx="10815464" cy="385358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3" name="Google Shape;123;p50"/>
          <p:cNvSpPr/>
          <p:nvPr/>
        </p:nvSpPr>
        <p:spPr>
          <a:xfrm>
            <a:off x="9993085" y="-19049"/>
            <a:ext cx="123825" cy="119094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24" name="Google Shape;124;p50"/>
          <p:cNvPicPr preferRelativeResize="0"/>
          <p:nvPr/>
        </p:nvPicPr>
        <p:blipFill rotWithShape="1">
          <a:blip r:embed="rId2">
            <a:alphaModFix/>
          </a:blip>
          <a:srcRect b="0" l="0" r="0" t="0"/>
          <a:stretch/>
        </p:blipFill>
        <p:spPr>
          <a:xfrm>
            <a:off x="10705267" y="6373900"/>
            <a:ext cx="1267288" cy="368735"/>
          </a:xfrm>
          <a:prstGeom prst="rect">
            <a:avLst/>
          </a:prstGeom>
          <a:noFill/>
          <a:ln>
            <a:noFill/>
          </a:ln>
        </p:spPr>
      </p:pic>
      <p:pic>
        <p:nvPicPr>
          <p:cNvPr id="125" name="Google Shape;125;p50"/>
          <p:cNvPicPr preferRelativeResize="0"/>
          <p:nvPr/>
        </p:nvPicPr>
        <p:blipFill rotWithShape="1">
          <a:blip r:embed="rId2">
            <a:alphaModFix/>
          </a:blip>
          <a:srcRect b="0" l="0" r="0" t="0"/>
          <a:stretch/>
        </p:blipFill>
        <p:spPr>
          <a:xfrm>
            <a:off x="10260914" y="6404379"/>
            <a:ext cx="1267288" cy="368735"/>
          </a:xfrm>
          <a:prstGeom prst="rect">
            <a:avLst/>
          </a:prstGeom>
          <a:noFill/>
          <a:ln>
            <a:noFill/>
          </a:ln>
        </p:spPr>
      </p:pic>
      <p:sp>
        <p:nvSpPr>
          <p:cNvPr id="126" name="Google Shape;126;p50"/>
          <p:cNvSpPr/>
          <p:nvPr/>
        </p:nvSpPr>
        <p:spPr>
          <a:xfrm flipH="1" rot="-5400000">
            <a:off x="8957587" y="-680357"/>
            <a:ext cx="2562223" cy="3884848"/>
          </a:xfrm>
          <a:prstGeom prst="triangle">
            <a:avLst>
              <a:gd fmla="val 0" name="adj"/>
            </a:avLst>
          </a:prstGeom>
          <a:blipFill rotWithShape="0">
            <a:blip r:embed="rId3">
              <a:alphaModFix/>
            </a:blip>
            <a:tile algn="ctr" flip="none" tx="762000" sx="100000" ty="0" sy="100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27" name="Google Shape;127;p50"/>
          <p:cNvPicPr preferRelativeResize="0"/>
          <p:nvPr/>
        </p:nvPicPr>
        <p:blipFill rotWithShape="1">
          <a:blip r:embed="rId4">
            <a:alphaModFix/>
          </a:blip>
          <a:srcRect b="0" l="0" r="0" t="0"/>
          <a:stretch/>
        </p:blipFill>
        <p:spPr>
          <a:xfrm>
            <a:off x="10342459" y="6329169"/>
            <a:ext cx="1262009" cy="3672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p:cSld name="Section divider">
    <p:spTree>
      <p:nvGrpSpPr>
        <p:cNvPr id="128" name="Shape 128"/>
        <p:cNvGrpSpPr/>
        <p:nvPr/>
      </p:nvGrpSpPr>
      <p:grpSpPr>
        <a:xfrm>
          <a:off x="0" y="0"/>
          <a:ext cx="0" cy="0"/>
          <a:chOff x="0" y="0"/>
          <a:chExt cx="0" cy="0"/>
        </a:xfrm>
      </p:grpSpPr>
      <p:sp>
        <p:nvSpPr>
          <p:cNvPr id="129" name="Google Shape;129;p62"/>
          <p:cNvSpPr/>
          <p:nvPr/>
        </p:nvSpPr>
        <p:spPr>
          <a:xfrm>
            <a:off x="-19050" y="-9525"/>
            <a:ext cx="9420225" cy="6867525"/>
          </a:xfrm>
          <a:custGeom>
            <a:rect b="b" l="l" r="r" t="t"/>
            <a:pathLst>
              <a:path extrusionOk="0" h="6896100" w="8905875">
                <a:moveTo>
                  <a:pt x="9525" y="0"/>
                </a:moveTo>
                <a:lnTo>
                  <a:pt x="4724400" y="0"/>
                </a:lnTo>
                <a:lnTo>
                  <a:pt x="8905875" y="6896100"/>
                </a:lnTo>
                <a:lnTo>
                  <a:pt x="0" y="6896100"/>
                </a:lnTo>
                <a:lnTo>
                  <a:pt x="9525" y="0"/>
                </a:lnTo>
                <a:close/>
              </a:path>
            </a:pathLst>
          </a:custGeom>
          <a:solidFill>
            <a:srgbClr val="006DAE"/>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30" name="Google Shape;130;p62"/>
          <p:cNvPicPr preferRelativeResize="0"/>
          <p:nvPr/>
        </p:nvPicPr>
        <p:blipFill rotWithShape="1">
          <a:blip r:embed="rId2">
            <a:alphaModFix/>
          </a:blip>
          <a:srcRect b="0" l="0" r="0" t="0"/>
          <a:stretch/>
        </p:blipFill>
        <p:spPr>
          <a:xfrm>
            <a:off x="10552867" y="6397304"/>
            <a:ext cx="1267288" cy="368735"/>
          </a:xfrm>
          <a:prstGeom prst="rect">
            <a:avLst/>
          </a:prstGeom>
          <a:noFill/>
          <a:ln>
            <a:noFill/>
          </a:ln>
        </p:spPr>
      </p:pic>
      <p:sp>
        <p:nvSpPr>
          <p:cNvPr id="131" name="Google Shape;131;p62"/>
          <p:cNvSpPr txBox="1"/>
          <p:nvPr>
            <p:ph idx="1" type="body"/>
          </p:nvPr>
        </p:nvSpPr>
        <p:spPr>
          <a:xfrm>
            <a:off x="138368" y="1741593"/>
            <a:ext cx="5757606" cy="3435594"/>
          </a:xfrm>
          <a:prstGeom prst="rect">
            <a:avLst/>
          </a:prstGeom>
          <a:noFill/>
          <a:ln>
            <a:noFill/>
          </a:ln>
        </p:spPr>
        <p:txBody>
          <a:bodyPr anchorCtr="0" anchor="t" bIns="91425" lIns="91425" spcFirstLastPara="1" rIns="91425" wrap="square" tIns="91425">
            <a:noAutofit/>
          </a:bodyPr>
          <a:lstStyle>
            <a:lvl1pPr indent="-228600" lvl="0" marL="457200" marR="0" rtl="0" algn="r">
              <a:lnSpc>
                <a:spcPct val="90000"/>
              </a:lnSpc>
              <a:spcBef>
                <a:spcPts val="1000"/>
              </a:spcBef>
              <a:spcAft>
                <a:spcPts val="0"/>
              </a:spcAft>
              <a:buClr>
                <a:schemeClr val="lt1"/>
              </a:buClr>
              <a:buSzPts val="4400"/>
              <a:buFont typeface="Arial"/>
              <a:buNone/>
              <a:defRPr b="1" i="0" sz="4400" u="none" cap="none" strike="noStrike">
                <a:solidFill>
                  <a:schemeClr val="lt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32" name="Google Shape;132;p62"/>
          <p:cNvPicPr preferRelativeResize="0"/>
          <p:nvPr/>
        </p:nvPicPr>
        <p:blipFill rotWithShape="1">
          <a:blip r:embed="rId2">
            <a:alphaModFix/>
          </a:blip>
          <a:srcRect b="0" l="0" r="0" t="0"/>
          <a:stretch/>
        </p:blipFill>
        <p:spPr>
          <a:xfrm>
            <a:off x="10705267" y="6373900"/>
            <a:ext cx="1267288" cy="368735"/>
          </a:xfrm>
          <a:prstGeom prst="rect">
            <a:avLst/>
          </a:prstGeom>
          <a:noFill/>
          <a:ln>
            <a:noFill/>
          </a:ln>
        </p:spPr>
      </p:pic>
      <p:pic>
        <p:nvPicPr>
          <p:cNvPr id="133" name="Google Shape;133;p62"/>
          <p:cNvPicPr preferRelativeResize="0"/>
          <p:nvPr/>
        </p:nvPicPr>
        <p:blipFill rotWithShape="1">
          <a:blip r:embed="rId3">
            <a:alphaModFix/>
          </a:blip>
          <a:srcRect b="0" l="0" r="0" t="0"/>
          <a:stretch/>
        </p:blipFill>
        <p:spPr>
          <a:xfrm>
            <a:off x="10662921" y="6319350"/>
            <a:ext cx="1262009" cy="367200"/>
          </a:xfrm>
          <a:prstGeom prst="rect">
            <a:avLst/>
          </a:prstGeom>
          <a:noFill/>
          <a:ln>
            <a:noFill/>
          </a:ln>
        </p:spPr>
      </p:pic>
      <p:sp>
        <p:nvSpPr>
          <p:cNvPr id="134" name="Google Shape;134;p62"/>
          <p:cNvSpPr/>
          <p:nvPr>
            <p:ph idx="2" type="pic"/>
          </p:nvPr>
        </p:nvSpPr>
        <p:spPr>
          <a:xfrm>
            <a:off x="6091492" y="1733018"/>
            <a:ext cx="5438775" cy="343535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image option 3">
  <p:cSld name="Title slide_image option 3">
    <p:spTree>
      <p:nvGrpSpPr>
        <p:cNvPr id="135" name="Shape 135"/>
        <p:cNvGrpSpPr/>
        <p:nvPr/>
      </p:nvGrpSpPr>
      <p:grpSpPr>
        <a:xfrm>
          <a:off x="0" y="0"/>
          <a:ext cx="0" cy="0"/>
          <a:chOff x="0" y="0"/>
          <a:chExt cx="0" cy="0"/>
        </a:xfrm>
      </p:grpSpPr>
      <p:sp>
        <p:nvSpPr>
          <p:cNvPr id="136" name="Google Shape;136;p63"/>
          <p:cNvSpPr txBox="1"/>
          <p:nvPr>
            <p:ph idx="1" type="body"/>
          </p:nvPr>
        </p:nvSpPr>
        <p:spPr>
          <a:xfrm>
            <a:off x="379112" y="2765699"/>
            <a:ext cx="6012163" cy="67812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7" name="Google Shape;137;p63"/>
          <p:cNvSpPr txBox="1"/>
          <p:nvPr>
            <p:ph idx="2" type="body"/>
          </p:nvPr>
        </p:nvSpPr>
        <p:spPr>
          <a:xfrm>
            <a:off x="370485" y="4463086"/>
            <a:ext cx="5649316" cy="40972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8" name="Google Shape;138;p63"/>
          <p:cNvSpPr txBox="1"/>
          <p:nvPr>
            <p:ph idx="3" type="body"/>
          </p:nvPr>
        </p:nvSpPr>
        <p:spPr>
          <a:xfrm>
            <a:off x="378808" y="1959605"/>
            <a:ext cx="6012467" cy="1180231"/>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rgbClr val="006CAB"/>
              </a:buClr>
              <a:buSzPts val="4500"/>
              <a:buFont typeface="Arial"/>
              <a:buNone/>
              <a:defRPr b="1" i="0" sz="4500" u="none" cap="none" strike="noStrike">
                <a:solidFill>
                  <a:srgbClr val="006CAB"/>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9" name="Google Shape;139;p63"/>
          <p:cNvSpPr txBox="1"/>
          <p:nvPr>
            <p:ph idx="4" type="body"/>
          </p:nvPr>
        </p:nvSpPr>
        <p:spPr>
          <a:xfrm>
            <a:off x="370183" y="4872811"/>
            <a:ext cx="5649617" cy="40972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40" name="Google Shape;140;p63"/>
          <p:cNvPicPr preferRelativeResize="0"/>
          <p:nvPr/>
        </p:nvPicPr>
        <p:blipFill rotWithShape="1">
          <a:blip r:embed="rId2">
            <a:alphaModFix/>
          </a:blip>
          <a:srcRect b="0" l="0" r="0" t="0"/>
          <a:stretch/>
        </p:blipFill>
        <p:spPr>
          <a:xfrm>
            <a:off x="501668" y="440724"/>
            <a:ext cx="2270107" cy="660521"/>
          </a:xfrm>
          <a:prstGeom prst="rect">
            <a:avLst/>
          </a:prstGeom>
          <a:noFill/>
          <a:ln>
            <a:noFill/>
          </a:ln>
        </p:spPr>
      </p:pic>
      <p:pic>
        <p:nvPicPr>
          <p:cNvPr id="141" name="Google Shape;141;p63"/>
          <p:cNvPicPr preferRelativeResize="0"/>
          <p:nvPr/>
        </p:nvPicPr>
        <p:blipFill rotWithShape="1">
          <a:blip r:embed="rId3">
            <a:alphaModFix/>
          </a:blip>
          <a:srcRect b="6466" l="0" r="64112" t="0"/>
          <a:stretch/>
        </p:blipFill>
        <p:spPr>
          <a:xfrm>
            <a:off x="8618530" y="0"/>
            <a:ext cx="3014139" cy="68580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image option 1">
  <p:cSld name="Title slide_image option 1">
    <p:spTree>
      <p:nvGrpSpPr>
        <p:cNvPr id="142" name="Shape 142"/>
        <p:cNvGrpSpPr/>
        <p:nvPr/>
      </p:nvGrpSpPr>
      <p:grpSpPr>
        <a:xfrm>
          <a:off x="0" y="0"/>
          <a:ext cx="0" cy="0"/>
          <a:chOff x="0" y="0"/>
          <a:chExt cx="0" cy="0"/>
        </a:xfrm>
      </p:grpSpPr>
      <p:sp>
        <p:nvSpPr>
          <p:cNvPr id="143" name="Google Shape;143;p64"/>
          <p:cNvSpPr txBox="1"/>
          <p:nvPr>
            <p:ph idx="1" type="body"/>
          </p:nvPr>
        </p:nvSpPr>
        <p:spPr>
          <a:xfrm>
            <a:off x="379112" y="2765699"/>
            <a:ext cx="6012163" cy="67812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4" name="Google Shape;144;p64"/>
          <p:cNvSpPr txBox="1"/>
          <p:nvPr>
            <p:ph idx="2" type="body"/>
          </p:nvPr>
        </p:nvSpPr>
        <p:spPr>
          <a:xfrm>
            <a:off x="370485" y="4463086"/>
            <a:ext cx="5649316" cy="40972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5" name="Google Shape;145;p64"/>
          <p:cNvSpPr txBox="1"/>
          <p:nvPr>
            <p:ph idx="3" type="body"/>
          </p:nvPr>
        </p:nvSpPr>
        <p:spPr>
          <a:xfrm>
            <a:off x="378808" y="1959605"/>
            <a:ext cx="6012467" cy="1180231"/>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rgbClr val="006CAB"/>
              </a:buClr>
              <a:buSzPts val="4500"/>
              <a:buFont typeface="Arial"/>
              <a:buNone/>
              <a:defRPr b="1" i="0" sz="4500" u="none" cap="none" strike="noStrike">
                <a:solidFill>
                  <a:srgbClr val="006CAB"/>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6" name="Google Shape;146;p64"/>
          <p:cNvSpPr txBox="1"/>
          <p:nvPr>
            <p:ph idx="4" type="body"/>
          </p:nvPr>
        </p:nvSpPr>
        <p:spPr>
          <a:xfrm>
            <a:off x="370183" y="4872811"/>
            <a:ext cx="5649617" cy="40972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47" name="Google Shape;147;p64"/>
          <p:cNvPicPr preferRelativeResize="0"/>
          <p:nvPr/>
        </p:nvPicPr>
        <p:blipFill rotWithShape="1">
          <a:blip r:embed="rId2">
            <a:alphaModFix/>
          </a:blip>
          <a:srcRect b="0" l="0" r="0" t="0"/>
          <a:stretch/>
        </p:blipFill>
        <p:spPr>
          <a:xfrm>
            <a:off x="501668" y="440724"/>
            <a:ext cx="2270107" cy="660521"/>
          </a:xfrm>
          <a:prstGeom prst="rect">
            <a:avLst/>
          </a:prstGeom>
          <a:noFill/>
          <a:ln>
            <a:noFill/>
          </a:ln>
        </p:spPr>
      </p:pic>
      <p:pic>
        <p:nvPicPr>
          <p:cNvPr descr="PPT templates-1-standard-FINAL.jpg" id="148" name="Google Shape;148;p64"/>
          <p:cNvPicPr preferRelativeResize="0"/>
          <p:nvPr/>
        </p:nvPicPr>
        <p:blipFill rotWithShape="1">
          <a:blip r:embed="rId3">
            <a:alphaModFix/>
          </a:blip>
          <a:srcRect b="0" l="63055" r="3241" t="0"/>
          <a:stretch/>
        </p:blipFill>
        <p:spPr>
          <a:xfrm>
            <a:off x="8542871" y="0"/>
            <a:ext cx="3081867" cy="68580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image option 4">
  <p:cSld name="Title slide_image option 4">
    <p:spTree>
      <p:nvGrpSpPr>
        <p:cNvPr id="149" name="Shape 149"/>
        <p:cNvGrpSpPr/>
        <p:nvPr/>
      </p:nvGrpSpPr>
      <p:grpSpPr>
        <a:xfrm>
          <a:off x="0" y="0"/>
          <a:ext cx="0" cy="0"/>
          <a:chOff x="0" y="0"/>
          <a:chExt cx="0" cy="0"/>
        </a:xfrm>
      </p:grpSpPr>
      <p:sp>
        <p:nvSpPr>
          <p:cNvPr id="150" name="Google Shape;150;p65"/>
          <p:cNvSpPr txBox="1"/>
          <p:nvPr>
            <p:ph idx="1" type="body"/>
          </p:nvPr>
        </p:nvSpPr>
        <p:spPr>
          <a:xfrm>
            <a:off x="379112" y="2765699"/>
            <a:ext cx="6012163" cy="67812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65"/>
          <p:cNvSpPr txBox="1"/>
          <p:nvPr>
            <p:ph idx="2" type="body"/>
          </p:nvPr>
        </p:nvSpPr>
        <p:spPr>
          <a:xfrm>
            <a:off x="370485" y="4463086"/>
            <a:ext cx="5649316" cy="40972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2" name="Google Shape;152;p65"/>
          <p:cNvSpPr txBox="1"/>
          <p:nvPr>
            <p:ph idx="3" type="body"/>
          </p:nvPr>
        </p:nvSpPr>
        <p:spPr>
          <a:xfrm>
            <a:off x="378808" y="1959605"/>
            <a:ext cx="6012467" cy="1180231"/>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rgbClr val="006CAB"/>
              </a:buClr>
              <a:buSzPts val="4500"/>
              <a:buFont typeface="Arial"/>
              <a:buNone/>
              <a:defRPr b="1" i="0" sz="4500" u="none" cap="none" strike="noStrike">
                <a:solidFill>
                  <a:srgbClr val="006CAB"/>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3" name="Google Shape;153;p65"/>
          <p:cNvSpPr txBox="1"/>
          <p:nvPr>
            <p:ph idx="4" type="body"/>
          </p:nvPr>
        </p:nvSpPr>
        <p:spPr>
          <a:xfrm>
            <a:off x="370183" y="4872811"/>
            <a:ext cx="5649617" cy="40972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54" name="Google Shape;154;p65"/>
          <p:cNvPicPr preferRelativeResize="0"/>
          <p:nvPr/>
        </p:nvPicPr>
        <p:blipFill rotWithShape="1">
          <a:blip r:embed="rId2">
            <a:alphaModFix/>
          </a:blip>
          <a:srcRect b="0" l="0" r="0" t="0"/>
          <a:stretch/>
        </p:blipFill>
        <p:spPr>
          <a:xfrm>
            <a:off x="501668" y="440724"/>
            <a:ext cx="2270107" cy="660521"/>
          </a:xfrm>
          <a:prstGeom prst="rect">
            <a:avLst/>
          </a:prstGeom>
          <a:noFill/>
          <a:ln>
            <a:noFill/>
          </a:ln>
        </p:spPr>
      </p:pic>
      <p:sp>
        <p:nvSpPr>
          <p:cNvPr id="155" name="Google Shape;155;p65"/>
          <p:cNvSpPr/>
          <p:nvPr/>
        </p:nvSpPr>
        <p:spPr>
          <a:xfrm>
            <a:off x="8652398" y="2502"/>
            <a:ext cx="2926807" cy="6882646"/>
          </a:xfrm>
          <a:custGeom>
            <a:rect b="b" l="l" r="r" t="t"/>
            <a:pathLst>
              <a:path extrusionOk="0" h="7007189" w="2979769">
                <a:moveTo>
                  <a:pt x="7969" y="6531"/>
                </a:moveTo>
                <a:cubicBezTo>
                  <a:pt x="10513" y="2334264"/>
                  <a:pt x="-2206" y="4669628"/>
                  <a:pt x="338" y="6997361"/>
                </a:cubicBezTo>
                <a:lnTo>
                  <a:pt x="804803" y="7004990"/>
                </a:lnTo>
                <a:lnTo>
                  <a:pt x="804803" y="3997234"/>
                </a:lnTo>
                <a:lnTo>
                  <a:pt x="1074790" y="6999558"/>
                </a:lnTo>
                <a:lnTo>
                  <a:pt x="1947803" y="7007189"/>
                </a:lnTo>
                <a:lnTo>
                  <a:pt x="2176403" y="4023360"/>
                </a:lnTo>
                <a:cubicBezTo>
                  <a:pt x="2178866" y="5016122"/>
                  <a:pt x="2181330" y="6008884"/>
                  <a:pt x="2183793" y="7001646"/>
                </a:cubicBezTo>
                <a:lnTo>
                  <a:pt x="2969759" y="6999737"/>
                </a:lnTo>
                <a:cubicBezTo>
                  <a:pt x="2973096" y="4674122"/>
                  <a:pt x="2976432" y="2325615"/>
                  <a:pt x="2979769" y="0"/>
                </a:cubicBezTo>
                <a:lnTo>
                  <a:pt x="1699609" y="0"/>
                </a:lnTo>
                <a:lnTo>
                  <a:pt x="1497135" y="2331720"/>
                </a:lnTo>
                <a:lnTo>
                  <a:pt x="1301192" y="6531"/>
                </a:lnTo>
                <a:lnTo>
                  <a:pt x="7969" y="6531"/>
                </a:lnTo>
                <a:close/>
              </a:path>
            </a:pathLst>
          </a:custGeom>
          <a:blipFill rotWithShape="1">
            <a:blip r:embed="rId3">
              <a:alphaModFix/>
            </a:blip>
            <a:stretch>
              <a:fillRect b="-555" l="-2458" r="-31874" t="176"/>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py with subheadings_grey">
  <p:cSld name="Copy with subheadings_grey">
    <p:spTree>
      <p:nvGrpSpPr>
        <p:cNvPr id="156" name="Shape 156"/>
        <p:cNvGrpSpPr/>
        <p:nvPr/>
      </p:nvGrpSpPr>
      <p:grpSpPr>
        <a:xfrm>
          <a:off x="0" y="0"/>
          <a:ext cx="0" cy="0"/>
          <a:chOff x="0" y="0"/>
          <a:chExt cx="0" cy="0"/>
        </a:xfrm>
      </p:grpSpPr>
      <p:sp>
        <p:nvSpPr>
          <p:cNvPr id="157" name="Google Shape;157;p66"/>
          <p:cNvSpPr/>
          <p:nvPr/>
        </p:nvSpPr>
        <p:spPr>
          <a:xfrm>
            <a:off x="9253537" y="0"/>
            <a:ext cx="2947172" cy="6853646"/>
          </a:xfrm>
          <a:custGeom>
            <a:rect b="b" l="l" r="r" t="t"/>
            <a:pathLst>
              <a:path extrusionOk="0" h="6853646" w="3772445">
                <a:moveTo>
                  <a:pt x="0" y="0"/>
                </a:moveTo>
                <a:lnTo>
                  <a:pt x="19050" y="69669"/>
                </a:lnTo>
                <a:lnTo>
                  <a:pt x="1482090" y="6853646"/>
                </a:lnTo>
                <a:lnTo>
                  <a:pt x="3763736" y="6844937"/>
                </a:lnTo>
                <a:lnTo>
                  <a:pt x="3772445" y="0"/>
                </a:lnTo>
                <a:lnTo>
                  <a:pt x="0" y="0"/>
                </a:lnTo>
                <a:close/>
              </a:path>
            </a:pathLst>
          </a:custGeom>
          <a:solidFill>
            <a:srgbClr val="D2D2D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8" name="Google Shape;158;p66"/>
          <p:cNvSpPr txBox="1"/>
          <p:nvPr>
            <p:ph idx="1" type="body"/>
          </p:nvPr>
        </p:nvSpPr>
        <p:spPr>
          <a:xfrm>
            <a:off x="306060" y="978761"/>
            <a:ext cx="7451725" cy="46646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9" name="Google Shape;159;p66"/>
          <p:cNvSpPr txBox="1"/>
          <p:nvPr>
            <p:ph idx="2" type="body"/>
          </p:nvPr>
        </p:nvSpPr>
        <p:spPr>
          <a:xfrm>
            <a:off x="306060" y="326309"/>
            <a:ext cx="7452026" cy="73695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4200"/>
              <a:buFont typeface="Arial"/>
              <a:buNone/>
              <a:defRPr b="1" i="0" sz="42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0" name="Google Shape;160;p66"/>
          <p:cNvSpPr txBox="1"/>
          <p:nvPr>
            <p:ph idx="3" type="body"/>
          </p:nvPr>
        </p:nvSpPr>
        <p:spPr>
          <a:xfrm>
            <a:off x="306060" y="1729723"/>
            <a:ext cx="745172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1" name="Google Shape;161;p66"/>
          <p:cNvSpPr txBox="1"/>
          <p:nvPr>
            <p:ph idx="4" type="body"/>
          </p:nvPr>
        </p:nvSpPr>
        <p:spPr>
          <a:xfrm>
            <a:off x="300211" y="2097682"/>
            <a:ext cx="7451725" cy="172943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2" name="Google Shape;162;p66"/>
          <p:cNvSpPr txBox="1"/>
          <p:nvPr>
            <p:ph idx="5" type="body"/>
          </p:nvPr>
        </p:nvSpPr>
        <p:spPr>
          <a:xfrm>
            <a:off x="300211" y="4111606"/>
            <a:ext cx="745172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3" name="Google Shape;163;p66"/>
          <p:cNvSpPr txBox="1"/>
          <p:nvPr>
            <p:ph idx="6" type="body"/>
          </p:nvPr>
        </p:nvSpPr>
        <p:spPr>
          <a:xfrm>
            <a:off x="294362" y="4513254"/>
            <a:ext cx="7451725" cy="172943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64" name="Google Shape;164;p66"/>
          <p:cNvPicPr preferRelativeResize="0"/>
          <p:nvPr/>
        </p:nvPicPr>
        <p:blipFill rotWithShape="1">
          <a:blip r:embed="rId2">
            <a:alphaModFix/>
          </a:blip>
          <a:srcRect b="0" l="0" r="0" t="0"/>
          <a:stretch/>
        </p:blipFill>
        <p:spPr>
          <a:xfrm>
            <a:off x="10596246" y="6319350"/>
            <a:ext cx="1262009" cy="3672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py with subheadings_blue">
  <p:cSld name="Copy with subheadings_blue">
    <p:spTree>
      <p:nvGrpSpPr>
        <p:cNvPr id="165" name="Shape 165"/>
        <p:cNvGrpSpPr/>
        <p:nvPr/>
      </p:nvGrpSpPr>
      <p:grpSpPr>
        <a:xfrm>
          <a:off x="0" y="0"/>
          <a:ext cx="0" cy="0"/>
          <a:chOff x="0" y="0"/>
          <a:chExt cx="0" cy="0"/>
        </a:xfrm>
      </p:grpSpPr>
      <p:sp>
        <p:nvSpPr>
          <p:cNvPr id="166" name="Google Shape;166;p67"/>
          <p:cNvSpPr/>
          <p:nvPr/>
        </p:nvSpPr>
        <p:spPr>
          <a:xfrm>
            <a:off x="9253537" y="0"/>
            <a:ext cx="2947172" cy="6853646"/>
          </a:xfrm>
          <a:custGeom>
            <a:rect b="b" l="l" r="r" t="t"/>
            <a:pathLst>
              <a:path extrusionOk="0" h="6853646" w="3772445">
                <a:moveTo>
                  <a:pt x="0" y="0"/>
                </a:moveTo>
                <a:lnTo>
                  <a:pt x="19050" y="69669"/>
                </a:lnTo>
                <a:lnTo>
                  <a:pt x="1482090" y="6853646"/>
                </a:lnTo>
                <a:lnTo>
                  <a:pt x="3763736" y="6844937"/>
                </a:lnTo>
                <a:lnTo>
                  <a:pt x="3772445" y="0"/>
                </a:lnTo>
                <a:lnTo>
                  <a:pt x="0" y="0"/>
                </a:lnTo>
                <a:close/>
              </a:path>
            </a:pathLst>
          </a:custGeom>
          <a:solidFill>
            <a:srgbClr val="006DA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7" name="Google Shape;167;p67"/>
          <p:cNvSpPr txBox="1"/>
          <p:nvPr>
            <p:ph idx="1" type="body"/>
          </p:nvPr>
        </p:nvSpPr>
        <p:spPr>
          <a:xfrm>
            <a:off x="306060" y="978761"/>
            <a:ext cx="7451725" cy="46646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8" name="Google Shape;168;p67"/>
          <p:cNvSpPr txBox="1"/>
          <p:nvPr>
            <p:ph idx="2" type="body"/>
          </p:nvPr>
        </p:nvSpPr>
        <p:spPr>
          <a:xfrm>
            <a:off x="306060" y="326309"/>
            <a:ext cx="7452026" cy="73695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4200"/>
              <a:buFont typeface="Arial"/>
              <a:buNone/>
              <a:defRPr b="1" i="0" sz="42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67"/>
          <p:cNvSpPr txBox="1"/>
          <p:nvPr>
            <p:ph idx="3" type="body"/>
          </p:nvPr>
        </p:nvSpPr>
        <p:spPr>
          <a:xfrm>
            <a:off x="306060" y="1729723"/>
            <a:ext cx="745172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0" name="Google Shape;170;p67"/>
          <p:cNvSpPr txBox="1"/>
          <p:nvPr>
            <p:ph idx="4" type="body"/>
          </p:nvPr>
        </p:nvSpPr>
        <p:spPr>
          <a:xfrm>
            <a:off x="300211" y="2097682"/>
            <a:ext cx="7451725" cy="172943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1" name="Google Shape;171;p67"/>
          <p:cNvSpPr txBox="1"/>
          <p:nvPr>
            <p:ph idx="5" type="body"/>
          </p:nvPr>
        </p:nvSpPr>
        <p:spPr>
          <a:xfrm>
            <a:off x="300211" y="4111606"/>
            <a:ext cx="745172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2" name="Google Shape;172;p67"/>
          <p:cNvSpPr txBox="1"/>
          <p:nvPr>
            <p:ph idx="6" type="body"/>
          </p:nvPr>
        </p:nvSpPr>
        <p:spPr>
          <a:xfrm>
            <a:off x="294362" y="4513254"/>
            <a:ext cx="7451725" cy="172943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73" name="Google Shape;173;p67"/>
          <p:cNvPicPr preferRelativeResize="0"/>
          <p:nvPr/>
        </p:nvPicPr>
        <p:blipFill rotWithShape="1">
          <a:blip r:embed="rId2">
            <a:alphaModFix/>
          </a:blip>
          <a:srcRect b="0" l="0" r="0" t="0"/>
          <a:stretch/>
        </p:blipFill>
        <p:spPr>
          <a:xfrm>
            <a:off x="10590967" y="6298367"/>
            <a:ext cx="1267288" cy="3687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py with two images">
  <p:cSld name="Copy with two images">
    <p:spTree>
      <p:nvGrpSpPr>
        <p:cNvPr id="174" name="Shape 174"/>
        <p:cNvGrpSpPr/>
        <p:nvPr/>
      </p:nvGrpSpPr>
      <p:grpSpPr>
        <a:xfrm>
          <a:off x="0" y="0"/>
          <a:ext cx="0" cy="0"/>
          <a:chOff x="0" y="0"/>
          <a:chExt cx="0" cy="0"/>
        </a:xfrm>
      </p:grpSpPr>
      <p:pic>
        <p:nvPicPr>
          <p:cNvPr id="175" name="Google Shape;175;p68"/>
          <p:cNvPicPr preferRelativeResize="0"/>
          <p:nvPr/>
        </p:nvPicPr>
        <p:blipFill rotWithShape="1">
          <a:blip r:embed="rId2">
            <a:alphaModFix/>
          </a:blip>
          <a:srcRect b="0" l="0" r="0" t="0"/>
          <a:stretch/>
        </p:blipFill>
        <p:spPr>
          <a:xfrm>
            <a:off x="10552867" y="6397304"/>
            <a:ext cx="1267288" cy="368735"/>
          </a:xfrm>
          <a:prstGeom prst="rect">
            <a:avLst/>
          </a:prstGeom>
          <a:noFill/>
          <a:ln>
            <a:noFill/>
          </a:ln>
        </p:spPr>
      </p:pic>
      <p:sp>
        <p:nvSpPr>
          <p:cNvPr id="176" name="Google Shape;176;p68"/>
          <p:cNvSpPr txBox="1"/>
          <p:nvPr>
            <p:ph idx="1" type="body"/>
          </p:nvPr>
        </p:nvSpPr>
        <p:spPr>
          <a:xfrm>
            <a:off x="306060" y="1046138"/>
            <a:ext cx="7451725" cy="46646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7" name="Google Shape;177;p68"/>
          <p:cNvSpPr txBox="1"/>
          <p:nvPr>
            <p:ph idx="2" type="body"/>
          </p:nvPr>
        </p:nvSpPr>
        <p:spPr>
          <a:xfrm>
            <a:off x="306060" y="359998"/>
            <a:ext cx="7452026" cy="73695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4200"/>
              <a:buFont typeface="Arial"/>
              <a:buNone/>
              <a:defRPr b="1" i="0" sz="42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8" name="Google Shape;178;p68"/>
          <p:cNvSpPr txBox="1"/>
          <p:nvPr>
            <p:ph idx="3" type="body"/>
          </p:nvPr>
        </p:nvSpPr>
        <p:spPr>
          <a:xfrm>
            <a:off x="306060" y="1763411"/>
            <a:ext cx="745172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9" name="Google Shape;179;p68"/>
          <p:cNvSpPr txBox="1"/>
          <p:nvPr>
            <p:ph idx="4" type="body"/>
          </p:nvPr>
        </p:nvSpPr>
        <p:spPr>
          <a:xfrm>
            <a:off x="300212" y="2131371"/>
            <a:ext cx="4352700" cy="3976132"/>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80" name="Google Shape;180;p68"/>
          <p:cNvPicPr preferRelativeResize="0"/>
          <p:nvPr/>
        </p:nvPicPr>
        <p:blipFill rotWithShape="1">
          <a:blip r:embed="rId3">
            <a:alphaModFix/>
          </a:blip>
          <a:srcRect b="0" l="0" r="0" t="0"/>
          <a:stretch/>
        </p:blipFill>
        <p:spPr>
          <a:xfrm>
            <a:off x="10342459" y="6329169"/>
            <a:ext cx="1262009" cy="367200"/>
          </a:xfrm>
          <a:prstGeom prst="rect">
            <a:avLst/>
          </a:prstGeom>
          <a:noFill/>
          <a:ln>
            <a:noFill/>
          </a:ln>
        </p:spPr>
      </p:pic>
      <p:sp>
        <p:nvSpPr>
          <p:cNvPr id="181" name="Google Shape;181;p68"/>
          <p:cNvSpPr/>
          <p:nvPr>
            <p:ph idx="5" type="pic"/>
          </p:nvPr>
        </p:nvSpPr>
        <p:spPr>
          <a:xfrm>
            <a:off x="7380288" y="2520000"/>
            <a:ext cx="4027879" cy="2267900"/>
          </a:xfrm>
          <a:prstGeom prst="rect">
            <a:avLst/>
          </a:prstGeom>
          <a:noFill/>
          <a:ln>
            <a:noFill/>
          </a:ln>
        </p:spPr>
      </p:sp>
      <p:sp>
        <p:nvSpPr>
          <p:cNvPr id="182" name="Google Shape;182;p68"/>
          <p:cNvSpPr/>
          <p:nvPr>
            <p:ph idx="6" type="pic"/>
          </p:nvPr>
        </p:nvSpPr>
        <p:spPr>
          <a:xfrm>
            <a:off x="4960507" y="2519363"/>
            <a:ext cx="2281237" cy="2268537"/>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slide image with caption">
  <p:cSld name="Full slide image with caption">
    <p:spTree>
      <p:nvGrpSpPr>
        <p:cNvPr id="183" name="Shape 183"/>
        <p:cNvGrpSpPr/>
        <p:nvPr/>
      </p:nvGrpSpPr>
      <p:grpSpPr>
        <a:xfrm>
          <a:off x="0" y="0"/>
          <a:ext cx="0" cy="0"/>
          <a:chOff x="0" y="0"/>
          <a:chExt cx="0" cy="0"/>
        </a:xfrm>
      </p:grpSpPr>
      <p:sp>
        <p:nvSpPr>
          <p:cNvPr id="184" name="Google Shape;184;p69"/>
          <p:cNvSpPr/>
          <p:nvPr>
            <p:ph idx="2" type="pic"/>
          </p:nvPr>
        </p:nvSpPr>
        <p:spPr>
          <a:xfrm>
            <a:off x="0" y="-8466"/>
            <a:ext cx="10371666" cy="6866466"/>
          </a:xfrm>
          <a:prstGeom prst="rect">
            <a:avLst/>
          </a:prstGeom>
          <a:noFill/>
          <a:ln>
            <a:noFill/>
          </a:ln>
        </p:spPr>
      </p:sp>
      <p:pic>
        <p:nvPicPr>
          <p:cNvPr id="185" name="Google Shape;185;p69"/>
          <p:cNvPicPr preferRelativeResize="0"/>
          <p:nvPr/>
        </p:nvPicPr>
        <p:blipFill rotWithShape="1">
          <a:blip r:embed="rId2">
            <a:alphaModFix/>
          </a:blip>
          <a:srcRect b="0" l="0" r="0" t="0"/>
          <a:stretch/>
        </p:blipFill>
        <p:spPr>
          <a:xfrm>
            <a:off x="10552867" y="6397304"/>
            <a:ext cx="1267288" cy="368735"/>
          </a:xfrm>
          <a:prstGeom prst="rect">
            <a:avLst/>
          </a:prstGeom>
          <a:noFill/>
          <a:ln>
            <a:noFill/>
          </a:ln>
        </p:spPr>
      </p:pic>
      <p:sp>
        <p:nvSpPr>
          <p:cNvPr id="186" name="Google Shape;186;p69"/>
          <p:cNvSpPr txBox="1"/>
          <p:nvPr>
            <p:ph idx="1" type="body"/>
          </p:nvPr>
        </p:nvSpPr>
        <p:spPr>
          <a:xfrm>
            <a:off x="9689170" y="332573"/>
            <a:ext cx="2309631" cy="130284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87" name="Google Shape;187;p69"/>
          <p:cNvPicPr preferRelativeResize="0"/>
          <p:nvPr/>
        </p:nvPicPr>
        <p:blipFill rotWithShape="1">
          <a:blip r:embed="rId3">
            <a:alphaModFix/>
          </a:blip>
          <a:srcRect b="0" l="0" r="0" t="0"/>
          <a:stretch/>
        </p:blipFill>
        <p:spPr>
          <a:xfrm>
            <a:off x="10630328" y="6329169"/>
            <a:ext cx="1262009" cy="3672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slide copy_grey">
  <p:cSld name="Full slide copy_grey">
    <p:spTree>
      <p:nvGrpSpPr>
        <p:cNvPr id="188" name="Shape 188"/>
        <p:cNvGrpSpPr/>
        <p:nvPr/>
      </p:nvGrpSpPr>
      <p:grpSpPr>
        <a:xfrm>
          <a:off x="0" y="0"/>
          <a:ext cx="0" cy="0"/>
          <a:chOff x="0" y="0"/>
          <a:chExt cx="0" cy="0"/>
        </a:xfrm>
      </p:grpSpPr>
      <p:pic>
        <p:nvPicPr>
          <p:cNvPr id="189" name="Google Shape;189;p70"/>
          <p:cNvPicPr preferRelativeResize="0"/>
          <p:nvPr/>
        </p:nvPicPr>
        <p:blipFill rotWithShape="1">
          <a:blip r:embed="rId2">
            <a:alphaModFix/>
          </a:blip>
          <a:srcRect b="0" l="0" r="0" t="0"/>
          <a:stretch/>
        </p:blipFill>
        <p:spPr>
          <a:xfrm>
            <a:off x="10552867" y="6397304"/>
            <a:ext cx="1267288" cy="368735"/>
          </a:xfrm>
          <a:prstGeom prst="rect">
            <a:avLst/>
          </a:prstGeom>
          <a:noFill/>
          <a:ln>
            <a:noFill/>
          </a:ln>
        </p:spPr>
      </p:pic>
      <p:sp>
        <p:nvSpPr>
          <p:cNvPr id="190" name="Google Shape;190;p70"/>
          <p:cNvSpPr/>
          <p:nvPr/>
        </p:nvSpPr>
        <p:spPr>
          <a:xfrm>
            <a:off x="219075" y="85725"/>
            <a:ext cx="2771775" cy="11620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1" name="Google Shape;191;p70"/>
          <p:cNvSpPr txBox="1"/>
          <p:nvPr>
            <p:ph idx="1" type="body"/>
          </p:nvPr>
        </p:nvSpPr>
        <p:spPr>
          <a:xfrm>
            <a:off x="306060" y="978761"/>
            <a:ext cx="7451725" cy="46646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2" name="Google Shape;192;p70"/>
          <p:cNvSpPr txBox="1"/>
          <p:nvPr>
            <p:ph idx="2" type="body"/>
          </p:nvPr>
        </p:nvSpPr>
        <p:spPr>
          <a:xfrm>
            <a:off x="306060" y="326309"/>
            <a:ext cx="7452026" cy="73695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4200"/>
              <a:buFont typeface="Arial"/>
              <a:buNone/>
              <a:defRPr b="1" i="0" sz="42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3" name="Google Shape;193;p70"/>
          <p:cNvSpPr txBox="1"/>
          <p:nvPr>
            <p:ph idx="3" type="body"/>
          </p:nvPr>
        </p:nvSpPr>
        <p:spPr>
          <a:xfrm>
            <a:off x="306060" y="1729723"/>
            <a:ext cx="1080961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4" name="Google Shape;194;p70"/>
          <p:cNvSpPr txBox="1"/>
          <p:nvPr>
            <p:ph idx="4" type="body"/>
          </p:nvPr>
        </p:nvSpPr>
        <p:spPr>
          <a:xfrm>
            <a:off x="300211" y="2097681"/>
            <a:ext cx="10815464" cy="329916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95" name="Google Shape;195;p70"/>
          <p:cNvPicPr preferRelativeResize="0"/>
          <p:nvPr/>
        </p:nvPicPr>
        <p:blipFill rotWithShape="1">
          <a:blip r:embed="rId2">
            <a:alphaModFix/>
          </a:blip>
          <a:srcRect b="0" l="0" r="0" t="0"/>
          <a:stretch/>
        </p:blipFill>
        <p:spPr>
          <a:xfrm>
            <a:off x="10705267" y="6373900"/>
            <a:ext cx="1267288" cy="368735"/>
          </a:xfrm>
          <a:prstGeom prst="rect">
            <a:avLst/>
          </a:prstGeom>
          <a:noFill/>
          <a:ln>
            <a:noFill/>
          </a:ln>
        </p:spPr>
      </p:pic>
      <p:sp>
        <p:nvSpPr>
          <p:cNvPr id="196" name="Google Shape;196;p70"/>
          <p:cNvSpPr/>
          <p:nvPr/>
        </p:nvSpPr>
        <p:spPr>
          <a:xfrm>
            <a:off x="0" y="6006108"/>
            <a:ext cx="12192000" cy="870942"/>
          </a:xfrm>
          <a:prstGeom prst="rect">
            <a:avLst/>
          </a:prstGeom>
          <a:solidFill>
            <a:srgbClr val="D2D2D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97" name="Google Shape;197;p70"/>
          <p:cNvPicPr preferRelativeResize="0"/>
          <p:nvPr/>
        </p:nvPicPr>
        <p:blipFill rotWithShape="1">
          <a:blip r:embed="rId3">
            <a:alphaModFix/>
          </a:blip>
          <a:srcRect b="0" l="0" r="0" t="0"/>
          <a:stretch/>
        </p:blipFill>
        <p:spPr>
          <a:xfrm>
            <a:off x="10342459" y="6329169"/>
            <a:ext cx="1262009" cy="3672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slide copy_texture option 3">
  <p:cSld name="Full slide copy_texture option 3">
    <p:spTree>
      <p:nvGrpSpPr>
        <p:cNvPr id="198" name="Shape 198"/>
        <p:cNvGrpSpPr/>
        <p:nvPr/>
      </p:nvGrpSpPr>
      <p:grpSpPr>
        <a:xfrm>
          <a:off x="0" y="0"/>
          <a:ext cx="0" cy="0"/>
          <a:chOff x="0" y="0"/>
          <a:chExt cx="0" cy="0"/>
        </a:xfrm>
      </p:grpSpPr>
      <p:pic>
        <p:nvPicPr>
          <p:cNvPr id="199" name="Google Shape;199;p71"/>
          <p:cNvPicPr preferRelativeResize="0"/>
          <p:nvPr/>
        </p:nvPicPr>
        <p:blipFill rotWithShape="1">
          <a:blip r:embed="rId2">
            <a:alphaModFix/>
          </a:blip>
          <a:srcRect b="0" l="0" r="0" t="0"/>
          <a:stretch/>
        </p:blipFill>
        <p:spPr>
          <a:xfrm>
            <a:off x="10552867" y="6397304"/>
            <a:ext cx="1267288" cy="368735"/>
          </a:xfrm>
          <a:prstGeom prst="rect">
            <a:avLst/>
          </a:prstGeom>
          <a:noFill/>
          <a:ln>
            <a:noFill/>
          </a:ln>
        </p:spPr>
      </p:pic>
      <p:sp>
        <p:nvSpPr>
          <p:cNvPr id="200" name="Google Shape;200;p71"/>
          <p:cNvSpPr/>
          <p:nvPr/>
        </p:nvSpPr>
        <p:spPr>
          <a:xfrm>
            <a:off x="219075" y="85725"/>
            <a:ext cx="2771775" cy="11620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1" name="Google Shape;201;p71"/>
          <p:cNvSpPr txBox="1"/>
          <p:nvPr>
            <p:ph idx="1" type="body"/>
          </p:nvPr>
        </p:nvSpPr>
        <p:spPr>
          <a:xfrm>
            <a:off x="306060" y="978761"/>
            <a:ext cx="7451725" cy="46646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2" name="Google Shape;202;p71"/>
          <p:cNvSpPr txBox="1"/>
          <p:nvPr>
            <p:ph idx="2" type="body"/>
          </p:nvPr>
        </p:nvSpPr>
        <p:spPr>
          <a:xfrm>
            <a:off x="306060" y="326309"/>
            <a:ext cx="7452026" cy="736956"/>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4200"/>
              <a:buFont typeface="Arial"/>
              <a:buNone/>
              <a:defRPr b="1" i="0" sz="42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3" name="Google Shape;203;p71"/>
          <p:cNvSpPr txBox="1"/>
          <p:nvPr>
            <p:ph idx="3" type="body"/>
          </p:nvPr>
        </p:nvSpPr>
        <p:spPr>
          <a:xfrm>
            <a:off x="306060" y="1729723"/>
            <a:ext cx="10809615" cy="401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1" i="0" sz="2000" u="none" cap="none" strike="noStrike">
                <a:solidFill>
                  <a:schemeClr val="dk1"/>
                </a:solidFill>
                <a:latin typeface="Arial Narrow"/>
                <a:ea typeface="Arial Narrow"/>
                <a:cs typeface="Arial Narrow"/>
                <a:sym typeface="Arial Narrow"/>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4" name="Google Shape;204;p71"/>
          <p:cNvSpPr txBox="1"/>
          <p:nvPr>
            <p:ph idx="4" type="body"/>
          </p:nvPr>
        </p:nvSpPr>
        <p:spPr>
          <a:xfrm>
            <a:off x="300211" y="2097681"/>
            <a:ext cx="10815464" cy="385358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205" name="Google Shape;205;p71"/>
          <p:cNvPicPr preferRelativeResize="0"/>
          <p:nvPr/>
        </p:nvPicPr>
        <p:blipFill rotWithShape="1">
          <a:blip r:embed="rId2">
            <a:alphaModFix/>
          </a:blip>
          <a:srcRect b="0" l="0" r="0" t="0"/>
          <a:stretch/>
        </p:blipFill>
        <p:spPr>
          <a:xfrm>
            <a:off x="10705267" y="6373900"/>
            <a:ext cx="1267288" cy="368735"/>
          </a:xfrm>
          <a:prstGeom prst="rect">
            <a:avLst/>
          </a:prstGeom>
          <a:noFill/>
          <a:ln>
            <a:noFill/>
          </a:ln>
        </p:spPr>
      </p:pic>
      <p:pic>
        <p:nvPicPr>
          <p:cNvPr id="206" name="Google Shape;206;p71"/>
          <p:cNvPicPr preferRelativeResize="0"/>
          <p:nvPr/>
        </p:nvPicPr>
        <p:blipFill rotWithShape="1">
          <a:blip r:embed="rId2">
            <a:alphaModFix/>
          </a:blip>
          <a:srcRect b="0" l="0" r="0" t="0"/>
          <a:stretch/>
        </p:blipFill>
        <p:spPr>
          <a:xfrm>
            <a:off x="10260914" y="6404379"/>
            <a:ext cx="1267288" cy="368735"/>
          </a:xfrm>
          <a:prstGeom prst="rect">
            <a:avLst/>
          </a:prstGeom>
          <a:noFill/>
          <a:ln>
            <a:noFill/>
          </a:ln>
        </p:spPr>
      </p:pic>
      <p:sp>
        <p:nvSpPr>
          <p:cNvPr id="207" name="Google Shape;207;p71"/>
          <p:cNvSpPr/>
          <p:nvPr/>
        </p:nvSpPr>
        <p:spPr>
          <a:xfrm flipH="1" rot="5400000">
            <a:off x="558815" y="4317983"/>
            <a:ext cx="2000250" cy="3117884"/>
          </a:xfrm>
          <a:prstGeom prst="triangle">
            <a:avLst>
              <a:gd fmla="val 0" name="adj"/>
            </a:avLst>
          </a:prstGeom>
          <a:blipFill rotWithShape="0">
            <a:blip r:embed="rId3">
              <a:alphaModFix/>
            </a:blip>
            <a:tile algn="r" flip="none" tx="762008" sx="50000" ty="0" sy="50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8" name="Google Shape;208;p71"/>
          <p:cNvSpPr/>
          <p:nvPr/>
        </p:nvSpPr>
        <p:spPr>
          <a:xfrm flipH="1">
            <a:off x="-1" y="4876800"/>
            <a:ext cx="1176335" cy="1962472"/>
          </a:xfrm>
          <a:custGeom>
            <a:rect b="b" l="l" r="r" t="t"/>
            <a:pathLst>
              <a:path extrusionOk="0" h="9592694" w="1711036">
                <a:moveTo>
                  <a:pt x="0" y="3742485"/>
                </a:moveTo>
                <a:lnTo>
                  <a:pt x="1691986" y="0"/>
                </a:lnTo>
                <a:lnTo>
                  <a:pt x="1711036" y="9509516"/>
                </a:lnTo>
                <a:lnTo>
                  <a:pt x="1701511" y="9592694"/>
                </a:lnTo>
                <a:lnTo>
                  <a:pt x="0" y="3742485"/>
                </a:lnTo>
                <a:close/>
              </a:path>
            </a:pathLst>
          </a:custGeom>
          <a:solidFill>
            <a:srgbClr val="006CAB">
              <a:alpha val="4941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09" name="Google Shape;209;p71"/>
          <p:cNvPicPr preferRelativeResize="0"/>
          <p:nvPr/>
        </p:nvPicPr>
        <p:blipFill rotWithShape="1">
          <a:blip r:embed="rId4">
            <a:alphaModFix/>
          </a:blip>
          <a:srcRect b="0" l="0" r="0" t="0"/>
          <a:stretch/>
        </p:blipFill>
        <p:spPr>
          <a:xfrm>
            <a:off x="10342459" y="6329169"/>
            <a:ext cx="1262009" cy="3672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1.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 name="Shape 114"/>
        <p:cNvGrpSpPr/>
        <p:nvPr/>
      </p:nvGrpSpPr>
      <p:grpSpPr>
        <a:xfrm>
          <a:off x="0" y="0"/>
          <a:ext cx="0" cy="0"/>
          <a:chOff x="0" y="0"/>
          <a:chExt cx="0" cy="0"/>
        </a:xfrm>
      </p:grpSpPr>
      <p:sp>
        <p:nvSpPr>
          <p:cNvPr id="115" name="Google Shape;115;p49"/>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24.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25.png"/><Relationship Id="rId12" Type="http://schemas.openxmlformats.org/officeDocument/2006/relationships/image" Target="../media/image29.png"/><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28.png"/><Relationship Id="rId9" Type="http://schemas.openxmlformats.org/officeDocument/2006/relationships/image" Target="../media/image20.png"/><Relationship Id="rId5" Type="http://schemas.openxmlformats.org/officeDocument/2006/relationships/image" Target="../media/image31.png"/><Relationship Id="rId6" Type="http://schemas.openxmlformats.org/officeDocument/2006/relationships/image" Target="../media/image16.png"/><Relationship Id="rId7" Type="http://schemas.openxmlformats.org/officeDocument/2006/relationships/image" Target="../media/image22.png"/><Relationship Id="rId8" Type="http://schemas.openxmlformats.org/officeDocument/2006/relationships/image" Target="../media/image17.png"/></Relationships>
</file>

<file path=ppt/slides/_rels/slide11.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32.png"/><Relationship Id="rId13" Type="http://schemas.openxmlformats.org/officeDocument/2006/relationships/image" Target="../media/image35.png"/><Relationship Id="rId12" Type="http://schemas.openxmlformats.org/officeDocument/2006/relationships/image" Target="../media/image50.png"/><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46.png"/><Relationship Id="rId9" Type="http://schemas.openxmlformats.org/officeDocument/2006/relationships/image" Target="../media/image45.png"/><Relationship Id="rId14" Type="http://schemas.openxmlformats.org/officeDocument/2006/relationships/image" Target="../media/image24.png"/><Relationship Id="rId5" Type="http://schemas.openxmlformats.org/officeDocument/2006/relationships/image" Target="../media/image37.png"/><Relationship Id="rId6" Type="http://schemas.openxmlformats.org/officeDocument/2006/relationships/image" Target="../media/image30.png"/><Relationship Id="rId7" Type="http://schemas.openxmlformats.org/officeDocument/2006/relationships/image" Target="../media/image34.png"/><Relationship Id="rId8"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4.png"/><Relationship Id="rId4" Type="http://schemas.openxmlformats.org/officeDocument/2006/relationships/image" Target="../media/image40.png"/><Relationship Id="rId5" Type="http://schemas.openxmlformats.org/officeDocument/2006/relationships/image" Target="../media/image39.png"/><Relationship Id="rId6" Type="http://schemas.openxmlformats.org/officeDocument/2006/relationships/image" Target="../media/image4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2.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48.png"/><Relationship Id="rId4" Type="http://schemas.openxmlformats.org/officeDocument/2006/relationships/image" Target="../media/image51.png"/><Relationship Id="rId5" Type="http://schemas.openxmlformats.org/officeDocument/2006/relationships/image" Target="../media/image4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4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
          <p:cNvSpPr txBox="1"/>
          <p:nvPr>
            <p:ph idx="1" type="body"/>
          </p:nvPr>
        </p:nvSpPr>
        <p:spPr>
          <a:xfrm>
            <a:off x="654275" y="4463075"/>
            <a:ext cx="6936300" cy="995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Arial"/>
              <a:buNone/>
            </a:pPr>
            <a:r>
              <a:rPr lang="en-AU"/>
              <a:t>Chunyu Jiang</a:t>
            </a:r>
            <a:endParaRPr/>
          </a:p>
          <a:p>
            <a:pPr indent="0" lvl="0" marL="0" rtl="0" algn="l">
              <a:lnSpc>
                <a:spcPct val="90000"/>
              </a:lnSpc>
              <a:spcBef>
                <a:spcPts val="0"/>
              </a:spcBef>
              <a:spcAft>
                <a:spcPts val="0"/>
              </a:spcAft>
              <a:buClr>
                <a:schemeClr val="dk1"/>
              </a:buClr>
              <a:buSzPts val="2800"/>
              <a:buFont typeface="Arial"/>
              <a:buNone/>
            </a:pPr>
            <a:r>
              <a:rPr lang="en-AU"/>
              <a:t>Supervisor: Prof Chao Chen, Prof Michael Wang </a:t>
            </a:r>
            <a:endParaRPr/>
          </a:p>
        </p:txBody>
      </p:sp>
      <p:sp>
        <p:nvSpPr>
          <p:cNvPr id="215" name="Google Shape;215;p1"/>
          <p:cNvSpPr txBox="1"/>
          <p:nvPr>
            <p:ph idx="3" type="body"/>
          </p:nvPr>
        </p:nvSpPr>
        <p:spPr>
          <a:xfrm>
            <a:off x="599249" y="2041400"/>
            <a:ext cx="8168700" cy="1543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AU" sz="3600">
                <a:solidFill>
                  <a:schemeClr val="dk1"/>
                </a:solidFill>
                <a:latin typeface="Arial"/>
                <a:ea typeface="Arial"/>
                <a:cs typeface="Arial"/>
                <a:sym typeface="Arial"/>
              </a:rPr>
              <a:t>Position-Aware Visual Interaction Transformers with Human-Centric Priors</a:t>
            </a:r>
            <a:endParaRPr b="0" sz="3600">
              <a:solidFill>
                <a:schemeClr val="dk1"/>
              </a:solidFill>
              <a:latin typeface="Arial"/>
              <a:ea typeface="Arial"/>
              <a:cs typeface="Arial"/>
              <a:sym typeface="Arial"/>
            </a:endParaRPr>
          </a:p>
          <a:p>
            <a:pPr indent="0" lvl="0" marL="0" marR="0" rtl="0" algn="l">
              <a:lnSpc>
                <a:spcPct val="90000"/>
              </a:lnSpc>
              <a:spcBef>
                <a:spcPts val="300"/>
              </a:spcBef>
              <a:spcAft>
                <a:spcPts val="0"/>
              </a:spcAft>
              <a:buClr>
                <a:srgbClr val="006CAB"/>
              </a:buClr>
              <a:buSzPts val="4500"/>
              <a:buFont typeface="Arial"/>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
          <p:cNvSpPr txBox="1"/>
          <p:nvPr/>
        </p:nvSpPr>
        <p:spPr>
          <a:xfrm>
            <a:off x="2502554" y="1784325"/>
            <a:ext cx="5767200" cy="3262391"/>
          </a:xfrm>
          <a:prstGeom prst="rect">
            <a:avLst/>
          </a:prstGeom>
          <a:noFill/>
          <a:ln>
            <a:noFill/>
          </a:ln>
        </p:spPr>
        <p:txBody>
          <a:bodyPr anchorCtr="0" anchor="t" bIns="45700" lIns="91425" spcFirstLastPara="1" rIns="91425" wrap="square" tIns="45700">
            <a:spAutoFit/>
          </a:bodyPr>
          <a:lstStyle/>
          <a:p>
            <a:pPr indent="-431800" lvl="0" marL="457200" marR="0" rtl="0" algn="l">
              <a:lnSpc>
                <a:spcPct val="100000"/>
              </a:lnSpc>
              <a:spcBef>
                <a:spcPts val="0"/>
              </a:spcBef>
              <a:spcAft>
                <a:spcPts val="0"/>
              </a:spcAft>
              <a:buClr>
                <a:srgbClr val="000000"/>
              </a:buClr>
              <a:buSzPts val="3200"/>
              <a:buFont typeface="Arial"/>
              <a:buAutoNum type="arabicPeriod"/>
            </a:pPr>
            <a:r>
              <a:rPr b="0" i="0" lang="en-AU" sz="3200" u="none" cap="none" strike="noStrike">
                <a:solidFill>
                  <a:srgbClr val="000000"/>
                </a:solidFill>
                <a:latin typeface="Arial"/>
                <a:ea typeface="Arial"/>
                <a:cs typeface="Arial"/>
                <a:sym typeface="Arial"/>
              </a:rPr>
              <a:t>Introduction</a:t>
            </a:r>
            <a:endParaRPr b="0" i="0" sz="3200" u="none" cap="none" strike="noStrike">
              <a:solidFill>
                <a:srgbClr val="000000"/>
              </a:solidFill>
              <a:latin typeface="Arial"/>
              <a:ea typeface="Arial"/>
              <a:cs typeface="Arial"/>
              <a:sym typeface="Arial"/>
            </a:endParaRPr>
          </a:p>
          <a:p>
            <a:pPr indent="-431800" lvl="0" marL="457200" marR="0" rtl="0" algn="l">
              <a:lnSpc>
                <a:spcPct val="100000"/>
              </a:lnSpc>
              <a:spcBef>
                <a:spcPts val="0"/>
              </a:spcBef>
              <a:spcAft>
                <a:spcPts val="0"/>
              </a:spcAft>
              <a:buClr>
                <a:srgbClr val="000000"/>
              </a:buClr>
              <a:buSzPts val="3200"/>
              <a:buFont typeface="Arial"/>
              <a:buAutoNum type="arabicPeriod"/>
            </a:pPr>
            <a:r>
              <a:rPr b="0" i="0" lang="en-AU" sz="3200" u="none" cap="none" strike="noStrike">
                <a:solidFill>
                  <a:srgbClr val="000000"/>
                </a:solidFill>
                <a:latin typeface="Arial"/>
                <a:ea typeface="Arial"/>
                <a:cs typeface="Arial"/>
                <a:sym typeface="Arial"/>
              </a:rPr>
              <a:t>Literature Review</a:t>
            </a:r>
            <a:endParaRPr b="0" i="0" sz="3200" u="none" cap="none" strike="noStrike">
              <a:solidFill>
                <a:srgbClr val="000000"/>
              </a:solidFill>
              <a:latin typeface="Arial"/>
              <a:ea typeface="Arial"/>
              <a:cs typeface="Arial"/>
              <a:sym typeface="Arial"/>
            </a:endParaRPr>
          </a:p>
          <a:p>
            <a:pPr indent="-431800" lvl="0" marL="457200" marR="0" rtl="0" algn="l">
              <a:lnSpc>
                <a:spcPct val="100000"/>
              </a:lnSpc>
              <a:spcBef>
                <a:spcPts val="0"/>
              </a:spcBef>
              <a:spcAft>
                <a:spcPts val="0"/>
              </a:spcAft>
              <a:buClr>
                <a:srgbClr val="000000"/>
              </a:buClr>
              <a:buSzPts val="3200"/>
              <a:buFont typeface="Arial"/>
              <a:buAutoNum type="arabicPeriod"/>
            </a:pPr>
            <a:r>
              <a:rPr b="0" i="0" lang="en-AU" sz="3200" u="none" cap="none" strike="noStrike">
                <a:solidFill>
                  <a:srgbClr val="000000"/>
                </a:solidFill>
                <a:latin typeface="Arial"/>
                <a:ea typeface="Arial"/>
                <a:cs typeface="Arial"/>
                <a:sym typeface="Arial"/>
              </a:rPr>
              <a:t>Research Gap and Aims</a:t>
            </a:r>
            <a:endParaRPr b="0" i="0" sz="3200" u="none" cap="none" strike="noStrike">
              <a:solidFill>
                <a:srgbClr val="000000"/>
              </a:solidFill>
              <a:latin typeface="Arial"/>
              <a:ea typeface="Arial"/>
              <a:cs typeface="Arial"/>
              <a:sym typeface="Arial"/>
            </a:endParaRPr>
          </a:p>
          <a:p>
            <a:pPr indent="-431800" lvl="0" marL="457200" marR="0" rtl="0" algn="l">
              <a:lnSpc>
                <a:spcPct val="100000"/>
              </a:lnSpc>
              <a:spcBef>
                <a:spcPts val="0"/>
              </a:spcBef>
              <a:spcAft>
                <a:spcPts val="0"/>
              </a:spcAft>
              <a:buClr>
                <a:srgbClr val="000000"/>
              </a:buClr>
              <a:buSzPts val="3200"/>
              <a:buFont typeface="Arial"/>
              <a:buAutoNum type="arabicPeriod"/>
            </a:pPr>
            <a:r>
              <a:rPr b="0" i="0" lang="en-AU" sz="3200" u="none" cap="none" strike="noStrike">
                <a:solidFill>
                  <a:srgbClr val="000000"/>
                </a:solidFill>
                <a:latin typeface="Arial"/>
                <a:ea typeface="Arial"/>
                <a:cs typeface="Arial"/>
                <a:sym typeface="Arial"/>
              </a:rPr>
              <a:t>Proposed Research</a:t>
            </a:r>
            <a:endParaRPr/>
          </a:p>
          <a:p>
            <a:pPr indent="-431800" lvl="0" marL="457200" marR="0" rtl="0" algn="l">
              <a:lnSpc>
                <a:spcPct val="100000"/>
              </a:lnSpc>
              <a:spcBef>
                <a:spcPts val="0"/>
              </a:spcBef>
              <a:spcAft>
                <a:spcPts val="0"/>
              </a:spcAft>
              <a:buClr>
                <a:srgbClr val="000000"/>
              </a:buClr>
              <a:buSzPts val="3200"/>
              <a:buFont typeface="Arial"/>
              <a:buAutoNum type="arabicPeriod"/>
            </a:pPr>
            <a:r>
              <a:rPr b="0" i="0" lang="en-AU" sz="3200" u="none" cap="none" strike="noStrike">
                <a:solidFill>
                  <a:srgbClr val="000000"/>
                </a:solidFill>
                <a:latin typeface="Arial"/>
                <a:ea typeface="Arial"/>
                <a:cs typeface="Arial"/>
                <a:sym typeface="Arial"/>
              </a:rPr>
              <a:t>Research Result</a:t>
            </a:r>
            <a:endParaRPr b="0" i="0" sz="3200" u="none" cap="none" strike="noStrike">
              <a:solidFill>
                <a:srgbClr val="000000"/>
              </a:solidFill>
              <a:latin typeface="Arial"/>
              <a:ea typeface="Arial"/>
              <a:cs typeface="Arial"/>
              <a:sym typeface="Arial"/>
            </a:endParaRPr>
          </a:p>
          <a:p>
            <a:pPr indent="-431800" lvl="0" marL="457200" marR="0" rtl="0" algn="l">
              <a:lnSpc>
                <a:spcPct val="100000"/>
              </a:lnSpc>
              <a:spcBef>
                <a:spcPts val="0"/>
              </a:spcBef>
              <a:spcAft>
                <a:spcPts val="0"/>
              </a:spcAft>
              <a:buClr>
                <a:srgbClr val="000000"/>
              </a:buClr>
              <a:buSzPts val="3200"/>
              <a:buFont typeface="Arial"/>
              <a:buAutoNum type="arabicPeriod"/>
            </a:pPr>
            <a:r>
              <a:rPr b="0" i="0" lang="en-AU" sz="3200" u="none" cap="none" strike="noStrike">
                <a:solidFill>
                  <a:srgbClr val="000000"/>
                </a:solidFill>
                <a:latin typeface="Arial"/>
                <a:ea typeface="Arial"/>
                <a:cs typeface="Arial"/>
                <a:sym typeface="Arial"/>
              </a:rPr>
              <a:t>Timeline</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2"/>
          <p:cNvSpPr txBox="1"/>
          <p:nvPr>
            <p:ph idx="2" type="body"/>
          </p:nvPr>
        </p:nvSpPr>
        <p:spPr>
          <a:xfrm>
            <a:off x="306060" y="326309"/>
            <a:ext cx="7452026" cy="736956"/>
          </a:xfrm>
          <a:prstGeom prst="rect">
            <a:avLst/>
          </a:prstGeom>
          <a:noFill/>
          <a:ln>
            <a:noFill/>
          </a:ln>
        </p:spPr>
        <p:txBody>
          <a:bodyPr anchorCtr="0" anchor="t" bIns="91425" lIns="91425" spcFirstLastPara="1" rIns="91425" wrap="square" tIns="91425">
            <a:noAutofit/>
          </a:bodyPr>
          <a:lstStyle/>
          <a:p>
            <a:pPr indent="-228600" lvl="0" marL="457200" marR="0" rtl="0" algn="l">
              <a:lnSpc>
                <a:spcPct val="90000"/>
              </a:lnSpc>
              <a:spcBef>
                <a:spcPts val="1000"/>
              </a:spcBef>
              <a:spcAft>
                <a:spcPts val="0"/>
              </a:spcAft>
              <a:buClr>
                <a:schemeClr val="dk1"/>
              </a:buClr>
              <a:buSzPts val="4200"/>
              <a:buFont typeface="Arial"/>
              <a:buNone/>
            </a:pPr>
            <a:r>
              <a:rPr lang="en-AU"/>
              <a:t>Outline</a:t>
            </a:r>
            <a:endParaRPr/>
          </a:p>
        </p:txBody>
      </p:sp>
      <p:sp>
        <p:nvSpPr>
          <p:cNvPr id="223" name="Google Shape;223;p2"/>
          <p:cNvSpPr txBox="1"/>
          <p:nvPr/>
        </p:nvSpPr>
        <p:spPr>
          <a:xfrm>
            <a:off x="163654" y="6183442"/>
            <a:ext cx="13878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3200" u="none" cap="none" strike="noStrike">
                <a:solidFill>
                  <a:srgbClr val="000000"/>
                </a:solidFill>
                <a:latin typeface="Arial"/>
                <a:ea typeface="Arial"/>
                <a:cs typeface="Arial"/>
                <a:sym typeface="Arial"/>
              </a:rPr>
              <a:t>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dd6425a97b_0_0"/>
          <p:cNvSpPr txBox="1"/>
          <p:nvPr>
            <p:ph idx="1" type="body"/>
          </p:nvPr>
        </p:nvSpPr>
        <p:spPr>
          <a:xfrm>
            <a:off x="306060" y="978761"/>
            <a:ext cx="7451700" cy="466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2400"/>
              <a:buNone/>
            </a:pPr>
            <a:r>
              <a:rPr lang="en-AU"/>
              <a:t>Human Object Interaction (HOI)</a:t>
            </a:r>
            <a:endParaRPr/>
          </a:p>
        </p:txBody>
      </p:sp>
      <p:sp>
        <p:nvSpPr>
          <p:cNvPr id="230" name="Google Shape;230;g3dd6425a97b_0_0"/>
          <p:cNvSpPr txBox="1"/>
          <p:nvPr>
            <p:ph idx="2" type="body"/>
          </p:nvPr>
        </p:nvSpPr>
        <p:spPr>
          <a:xfrm>
            <a:off x="306060" y="326309"/>
            <a:ext cx="7452000" cy="737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4200"/>
              <a:buNone/>
            </a:pPr>
            <a:r>
              <a:rPr lang="en-AU"/>
              <a:t>Introduction</a:t>
            </a:r>
            <a:endParaRPr/>
          </a:p>
        </p:txBody>
      </p:sp>
      <p:sp>
        <p:nvSpPr>
          <p:cNvPr id="231" name="Google Shape;231;g3dd6425a97b_0_0"/>
          <p:cNvSpPr txBox="1"/>
          <p:nvPr>
            <p:ph idx="4" type="body"/>
          </p:nvPr>
        </p:nvSpPr>
        <p:spPr>
          <a:xfrm>
            <a:off x="306050" y="1715975"/>
            <a:ext cx="5165100" cy="3299100"/>
          </a:xfrm>
          <a:prstGeom prst="rect">
            <a:avLst/>
          </a:prstGeom>
          <a:noFill/>
          <a:ln>
            <a:noFill/>
          </a:ln>
        </p:spPr>
        <p:txBody>
          <a:bodyPr anchorCtr="0" anchor="t" bIns="91425" lIns="91425" spcFirstLastPara="1" rIns="91425" wrap="square" tIns="91425">
            <a:noAutofit/>
          </a:bodyPr>
          <a:lstStyle/>
          <a:p>
            <a:pPr indent="-355600" lvl="0" marL="457200" rtl="0" algn="l">
              <a:lnSpc>
                <a:spcPct val="90000"/>
              </a:lnSpc>
              <a:spcBef>
                <a:spcPts val="1000"/>
              </a:spcBef>
              <a:spcAft>
                <a:spcPts val="0"/>
              </a:spcAft>
              <a:buSzPts val="2000"/>
              <a:buChar char="●"/>
            </a:pPr>
            <a:r>
              <a:rPr lang="en-AU"/>
              <a:t>HOI detection is the process of estimating the interaction between a human and object in an image/video.</a:t>
            </a:r>
            <a:endParaRPr/>
          </a:p>
          <a:p>
            <a:pPr indent="0" lvl="0" marL="0" rtl="0" algn="l">
              <a:lnSpc>
                <a:spcPct val="90000"/>
              </a:lnSpc>
              <a:spcBef>
                <a:spcPts val="1000"/>
              </a:spcBef>
              <a:spcAft>
                <a:spcPts val="0"/>
              </a:spcAft>
              <a:buClr>
                <a:schemeClr val="dk1"/>
              </a:buClr>
              <a:buSzPts val="1100"/>
              <a:buFont typeface="Arial"/>
              <a:buNone/>
            </a:pPr>
            <a:r>
              <a:t/>
            </a:r>
            <a:endParaRPr/>
          </a:p>
          <a:p>
            <a:pPr indent="-355600" lvl="0" marL="457200" rtl="0" algn="l">
              <a:lnSpc>
                <a:spcPct val="90000"/>
              </a:lnSpc>
              <a:spcBef>
                <a:spcPts val="1000"/>
              </a:spcBef>
              <a:spcAft>
                <a:spcPts val="0"/>
              </a:spcAft>
              <a:buSzPts val="2000"/>
              <a:buChar char="●"/>
            </a:pPr>
            <a:r>
              <a:rPr lang="en-AU"/>
              <a:t>For HOI, the result is to predicate the triplet &lt;human, action, object&gt;.</a:t>
            </a:r>
            <a:endParaRPr/>
          </a:p>
          <a:p>
            <a:pPr indent="0" lvl="0" marL="0" rtl="0" algn="l">
              <a:lnSpc>
                <a:spcPct val="90000"/>
              </a:lnSpc>
              <a:spcBef>
                <a:spcPts val="1000"/>
              </a:spcBef>
              <a:spcAft>
                <a:spcPts val="0"/>
              </a:spcAft>
              <a:buClr>
                <a:schemeClr val="dk1"/>
              </a:buClr>
              <a:buSzPts val="1100"/>
              <a:buFont typeface="Arial"/>
              <a:buNone/>
            </a:pPr>
            <a:r>
              <a:t/>
            </a:r>
            <a:endParaRPr/>
          </a:p>
          <a:p>
            <a:pPr indent="-355600" lvl="0" marL="457200" rtl="0" algn="l">
              <a:lnSpc>
                <a:spcPct val="90000"/>
              </a:lnSpc>
              <a:spcBef>
                <a:spcPts val="1000"/>
              </a:spcBef>
              <a:spcAft>
                <a:spcPts val="0"/>
              </a:spcAft>
              <a:buSzPts val="2000"/>
              <a:buChar char="●"/>
            </a:pPr>
            <a:r>
              <a:rPr lang="en-AU"/>
              <a:t>HOI is proposed to answer: “What are the people doing with what objects?”</a:t>
            </a:r>
            <a:endParaRPr/>
          </a:p>
        </p:txBody>
      </p:sp>
      <p:pic>
        <p:nvPicPr>
          <p:cNvPr id="232" name="Google Shape;232;g3dd6425a97b_0_0"/>
          <p:cNvPicPr preferRelativeResize="0"/>
          <p:nvPr/>
        </p:nvPicPr>
        <p:blipFill rotWithShape="1">
          <a:blip r:embed="rId3">
            <a:alphaModFix/>
          </a:blip>
          <a:srcRect b="0" l="0" r="0" t="0"/>
          <a:stretch/>
        </p:blipFill>
        <p:spPr>
          <a:xfrm>
            <a:off x="5692755" y="1839874"/>
            <a:ext cx="6095945" cy="2538060"/>
          </a:xfrm>
          <a:prstGeom prst="rect">
            <a:avLst/>
          </a:prstGeom>
          <a:noFill/>
          <a:ln>
            <a:noFill/>
          </a:ln>
        </p:spPr>
      </p:pic>
      <p:sp>
        <p:nvSpPr>
          <p:cNvPr id="233" name="Google Shape;233;g3dd6425a97b_0_0"/>
          <p:cNvSpPr txBox="1"/>
          <p:nvPr/>
        </p:nvSpPr>
        <p:spPr>
          <a:xfrm>
            <a:off x="5692750" y="4538800"/>
            <a:ext cx="60960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AU" sz="1400" u="none" cap="none" strike="noStrike">
                <a:solidFill>
                  <a:srgbClr val="000000"/>
                </a:solidFill>
                <a:latin typeface="Arial"/>
                <a:ea typeface="Arial"/>
                <a:cs typeface="Arial"/>
                <a:sym typeface="Arial"/>
              </a:rPr>
              <a:t>Fig.1: The red box indicates the area of human-object interaction, while the blue and yellow boxes represent the human and the object, respectively. In the HOI result is “human ride elephant”, and in the right box, is “children play seesaw”</a:t>
            </a:r>
            <a:endParaRPr b="0" i="0" sz="1400" u="none" cap="none" strike="noStrike">
              <a:solidFill>
                <a:srgbClr val="000000"/>
              </a:solidFill>
              <a:latin typeface="Arial"/>
              <a:ea typeface="Arial"/>
              <a:cs typeface="Arial"/>
              <a:sym typeface="Arial"/>
            </a:endParaRPr>
          </a:p>
        </p:txBody>
      </p:sp>
      <p:sp>
        <p:nvSpPr>
          <p:cNvPr id="234" name="Google Shape;234;g3dd6425a97b_0_0"/>
          <p:cNvSpPr txBox="1"/>
          <p:nvPr/>
        </p:nvSpPr>
        <p:spPr>
          <a:xfrm>
            <a:off x="163654" y="6168452"/>
            <a:ext cx="13878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3200" u="none" cap="none" strike="noStrike">
                <a:solidFill>
                  <a:srgbClr val="000000"/>
                </a:solidFill>
                <a:latin typeface="Arial"/>
                <a:ea typeface="Arial"/>
                <a:cs typeface="Arial"/>
                <a:sym typeface="Arial"/>
              </a:rPr>
              <a:t>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d49611c445_1_24"/>
          <p:cNvSpPr txBox="1"/>
          <p:nvPr>
            <p:ph idx="1" type="body"/>
          </p:nvPr>
        </p:nvSpPr>
        <p:spPr>
          <a:xfrm>
            <a:off x="306060" y="978761"/>
            <a:ext cx="7451700" cy="466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2400"/>
              <a:buNone/>
            </a:pPr>
            <a:r>
              <a:rPr lang="en-AU"/>
              <a:t>Prior Knowledge</a:t>
            </a:r>
            <a:endParaRPr/>
          </a:p>
        </p:txBody>
      </p:sp>
      <p:sp>
        <p:nvSpPr>
          <p:cNvPr id="241" name="Google Shape;241;g3d49611c445_1_24"/>
          <p:cNvSpPr txBox="1"/>
          <p:nvPr>
            <p:ph idx="2" type="body"/>
          </p:nvPr>
        </p:nvSpPr>
        <p:spPr>
          <a:xfrm>
            <a:off x="306060" y="326309"/>
            <a:ext cx="7452000" cy="737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4200"/>
              <a:buNone/>
            </a:pPr>
            <a:r>
              <a:rPr lang="en-AU"/>
              <a:t>Literature Review</a:t>
            </a:r>
            <a:endParaRPr/>
          </a:p>
        </p:txBody>
      </p:sp>
      <p:sp>
        <p:nvSpPr>
          <p:cNvPr id="242" name="Google Shape;242;g3d49611c445_1_24"/>
          <p:cNvSpPr txBox="1"/>
          <p:nvPr/>
        </p:nvSpPr>
        <p:spPr>
          <a:xfrm>
            <a:off x="5505854" y="2037486"/>
            <a:ext cx="6096000"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AU" sz="1400" u="none" cap="none" strike="noStrike">
                <a:solidFill>
                  <a:srgbClr val="000000"/>
                </a:solidFill>
                <a:latin typeface="Arial"/>
                <a:ea typeface="Arial"/>
                <a:cs typeface="Arial"/>
                <a:sym typeface="Arial"/>
              </a:rPr>
              <a:t>Typical Forms: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1" i="0" lang="en-AU" sz="1400" u="none" cap="none" strike="noStrike">
                <a:solidFill>
                  <a:srgbClr val="000000"/>
                </a:solidFill>
                <a:latin typeface="Arial"/>
                <a:ea typeface="Arial"/>
                <a:cs typeface="Arial"/>
                <a:sym typeface="Arial"/>
              </a:rPr>
              <a:t>Spatial Priors:</a:t>
            </a:r>
            <a:r>
              <a:rPr b="0" i="0" lang="en-AU" sz="1400" u="none" cap="none" strike="noStrike">
                <a:solidFill>
                  <a:srgbClr val="000000"/>
                </a:solidFill>
                <a:latin typeface="Arial"/>
                <a:ea typeface="Arial"/>
                <a:cs typeface="Arial"/>
                <a:sym typeface="Arial"/>
              </a:rPr>
              <a:t> Modeling spatial relationships and relative positioning between objects.</a:t>
            </a:r>
            <a:endParaRPr/>
          </a:p>
          <a:p>
            <a:pPr indent="-285750" lvl="0" marL="285750" marR="0" rtl="0" algn="l">
              <a:lnSpc>
                <a:spcPct val="100000"/>
              </a:lnSpc>
              <a:spcBef>
                <a:spcPts val="0"/>
              </a:spcBef>
              <a:spcAft>
                <a:spcPts val="0"/>
              </a:spcAft>
              <a:buClr>
                <a:srgbClr val="000000"/>
              </a:buClr>
              <a:buSzPts val="1400"/>
              <a:buFont typeface="Arial"/>
              <a:buChar char="•"/>
            </a:pPr>
            <a:r>
              <a:rPr b="1" i="0" lang="en-AU" sz="1400" u="none" cap="none" strike="noStrike">
                <a:solidFill>
                  <a:srgbClr val="000000"/>
                </a:solidFill>
                <a:latin typeface="Arial"/>
                <a:ea typeface="Arial"/>
                <a:cs typeface="Arial"/>
                <a:sym typeface="Arial"/>
              </a:rPr>
              <a:t>Pre-trained Weights:</a:t>
            </a:r>
            <a:r>
              <a:rPr b="0" i="0" lang="en-AU" sz="1400" u="none" cap="none" strike="noStrike">
                <a:solidFill>
                  <a:srgbClr val="000000"/>
                </a:solidFill>
                <a:latin typeface="Arial"/>
                <a:ea typeface="Arial"/>
                <a:cs typeface="Arial"/>
                <a:sym typeface="Arial"/>
              </a:rPr>
              <a:t> Transferring feature extraction capabilities from large-scale datasets (e.g., ImageNet, COCO).</a:t>
            </a:r>
            <a:endParaRPr/>
          </a:p>
        </p:txBody>
      </p:sp>
      <p:sp>
        <p:nvSpPr>
          <p:cNvPr id="243" name="Google Shape;243;g3d49611c445_1_24"/>
          <p:cNvSpPr txBox="1"/>
          <p:nvPr/>
        </p:nvSpPr>
        <p:spPr>
          <a:xfrm>
            <a:off x="311285" y="2037486"/>
            <a:ext cx="5194569"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AU" sz="1400" u="none" cap="none" strike="noStrike">
                <a:solidFill>
                  <a:srgbClr val="000000"/>
                </a:solidFill>
                <a:latin typeface="Arial"/>
                <a:ea typeface="Arial"/>
                <a:cs typeface="Arial"/>
                <a:sym typeface="Arial"/>
              </a:rPr>
              <a:t>Why it matters: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1" i="0" lang="en-AU" sz="1400" u="none" cap="none" strike="noStrike">
                <a:solidFill>
                  <a:srgbClr val="000000"/>
                </a:solidFill>
                <a:latin typeface="Arial"/>
                <a:ea typeface="Arial"/>
                <a:cs typeface="Arial"/>
                <a:sym typeface="Arial"/>
              </a:rPr>
              <a:t>Data Efficiency:</a:t>
            </a:r>
            <a:r>
              <a:rPr b="0" i="0" lang="en-AU" sz="1400" u="none" cap="none" strike="noStrike">
                <a:solidFill>
                  <a:srgbClr val="000000"/>
                </a:solidFill>
                <a:latin typeface="Arial"/>
                <a:ea typeface="Arial"/>
                <a:cs typeface="Arial"/>
                <a:sym typeface="Arial"/>
              </a:rPr>
              <a:t> Compensates for limited samples by leveraging geometric constraints and physical laws.</a:t>
            </a:r>
            <a:endParaRPr/>
          </a:p>
          <a:p>
            <a:pPr indent="-285750" lvl="0" marL="285750" marR="0" rtl="0" algn="l">
              <a:lnSpc>
                <a:spcPct val="100000"/>
              </a:lnSpc>
              <a:spcBef>
                <a:spcPts val="0"/>
              </a:spcBef>
              <a:spcAft>
                <a:spcPts val="0"/>
              </a:spcAft>
              <a:buClr>
                <a:srgbClr val="000000"/>
              </a:buClr>
              <a:buSzPts val="1400"/>
              <a:buFont typeface="Arial"/>
              <a:buChar char="•"/>
            </a:pPr>
            <a:r>
              <a:rPr b="1" i="0" lang="en-AU" sz="1400" u="none" cap="none" strike="noStrike">
                <a:solidFill>
                  <a:srgbClr val="000000"/>
                </a:solidFill>
                <a:latin typeface="Arial"/>
                <a:ea typeface="Arial"/>
                <a:cs typeface="Arial"/>
                <a:sym typeface="Arial"/>
              </a:rPr>
              <a:t>Semantic Anchoring:</a:t>
            </a:r>
            <a:r>
              <a:rPr b="0" i="0" lang="en-AU" sz="1400" u="none" cap="none" strike="noStrike">
                <a:solidFill>
                  <a:srgbClr val="000000"/>
                </a:solidFill>
                <a:latin typeface="Arial"/>
                <a:ea typeface="Arial"/>
                <a:cs typeface="Arial"/>
                <a:sym typeface="Arial"/>
              </a:rPr>
              <a:t> Bridges the gap between the "Unknown" and the "Known," reducing cognitive and computational load.</a:t>
            </a:r>
            <a:endParaRPr/>
          </a:p>
        </p:txBody>
      </p:sp>
      <p:sp>
        <p:nvSpPr>
          <p:cNvPr id="244" name="Google Shape;244;g3d49611c445_1_24"/>
          <p:cNvSpPr txBox="1"/>
          <p:nvPr/>
        </p:nvSpPr>
        <p:spPr>
          <a:xfrm>
            <a:off x="306060" y="3535573"/>
            <a:ext cx="4972817"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AU" sz="1400" u="none" cap="none" strike="noStrike">
                <a:solidFill>
                  <a:srgbClr val="000000"/>
                </a:solidFill>
                <a:latin typeface="Arial"/>
                <a:ea typeface="Arial"/>
                <a:cs typeface="Arial"/>
                <a:sym typeface="Arial"/>
              </a:rPr>
              <a:t>Impact: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1" i="0" lang="en-AU" sz="1400" u="none" cap="none" strike="noStrike">
                <a:solidFill>
                  <a:srgbClr val="000000"/>
                </a:solidFill>
                <a:latin typeface="Arial"/>
                <a:ea typeface="Arial"/>
                <a:cs typeface="Arial"/>
                <a:sym typeface="Arial"/>
              </a:rPr>
              <a:t>Accelerated Convergence:</a:t>
            </a:r>
            <a:r>
              <a:rPr b="0" i="0" lang="en-AU" sz="1400" u="none" cap="none" strike="noStrike">
                <a:solidFill>
                  <a:srgbClr val="000000"/>
                </a:solidFill>
                <a:latin typeface="Arial"/>
                <a:ea typeface="Arial"/>
                <a:cs typeface="Arial"/>
                <a:sym typeface="Arial"/>
              </a:rPr>
              <a:t> Enables faster model training in complex AI tasks.</a:t>
            </a:r>
            <a:endParaRPr/>
          </a:p>
          <a:p>
            <a:pPr indent="-285750" lvl="0" marL="285750" marR="0" rtl="0" algn="l">
              <a:lnSpc>
                <a:spcPct val="100000"/>
              </a:lnSpc>
              <a:spcBef>
                <a:spcPts val="0"/>
              </a:spcBef>
              <a:spcAft>
                <a:spcPts val="0"/>
              </a:spcAft>
              <a:buClr>
                <a:srgbClr val="000000"/>
              </a:buClr>
              <a:buSzPts val="1400"/>
              <a:buFont typeface="Arial"/>
              <a:buChar char="•"/>
            </a:pPr>
            <a:r>
              <a:rPr b="1" i="0" lang="en-AU" sz="1400" u="none" cap="none" strike="noStrike">
                <a:solidFill>
                  <a:srgbClr val="000000"/>
                </a:solidFill>
                <a:latin typeface="Arial"/>
                <a:ea typeface="Arial"/>
                <a:cs typeface="Arial"/>
                <a:sym typeface="Arial"/>
              </a:rPr>
              <a:t>Enhanced Transferability:</a:t>
            </a:r>
            <a:r>
              <a:rPr b="0" i="0" lang="en-AU" sz="1400" u="none" cap="none" strike="noStrike">
                <a:solidFill>
                  <a:srgbClr val="000000"/>
                </a:solidFill>
                <a:latin typeface="Arial"/>
                <a:ea typeface="Arial"/>
                <a:cs typeface="Arial"/>
                <a:sym typeface="Arial"/>
              </a:rPr>
              <a:t> Improves the efficiency and robustness of Transfer Learning.</a:t>
            </a:r>
            <a:endParaRPr/>
          </a:p>
        </p:txBody>
      </p:sp>
      <p:pic>
        <p:nvPicPr>
          <p:cNvPr id="245" name="Google Shape;245;g3d49611c445_1_24"/>
          <p:cNvPicPr preferRelativeResize="0"/>
          <p:nvPr/>
        </p:nvPicPr>
        <p:blipFill rotWithShape="1">
          <a:blip r:embed="rId3">
            <a:alphaModFix/>
          </a:blip>
          <a:srcRect b="0" l="0" r="0" t="0"/>
          <a:stretch/>
        </p:blipFill>
        <p:spPr>
          <a:xfrm>
            <a:off x="6444399" y="3709411"/>
            <a:ext cx="3972479" cy="2448267"/>
          </a:xfrm>
          <a:prstGeom prst="rect">
            <a:avLst/>
          </a:prstGeom>
          <a:noFill/>
          <a:ln>
            <a:noFill/>
          </a:ln>
        </p:spPr>
      </p:pic>
      <p:pic>
        <p:nvPicPr>
          <p:cNvPr id="246" name="Google Shape;246;g3d49611c445_1_24"/>
          <p:cNvPicPr preferRelativeResize="0"/>
          <p:nvPr/>
        </p:nvPicPr>
        <p:blipFill rotWithShape="1">
          <a:blip r:embed="rId4">
            <a:alphaModFix/>
          </a:blip>
          <a:srcRect b="0" l="0" r="0" t="0"/>
          <a:stretch/>
        </p:blipFill>
        <p:spPr>
          <a:xfrm>
            <a:off x="5817140" y="4265465"/>
            <a:ext cx="1184373" cy="1038370"/>
          </a:xfrm>
          <a:prstGeom prst="rect">
            <a:avLst/>
          </a:prstGeom>
          <a:noFill/>
          <a:ln>
            <a:noFill/>
          </a:ln>
        </p:spPr>
      </p:pic>
      <p:pic>
        <p:nvPicPr>
          <p:cNvPr id="247" name="Google Shape;247;g3d49611c445_1_24"/>
          <p:cNvPicPr preferRelativeResize="0"/>
          <p:nvPr/>
        </p:nvPicPr>
        <p:blipFill rotWithShape="1">
          <a:blip r:embed="rId4">
            <a:alphaModFix/>
          </a:blip>
          <a:srcRect b="0" l="0" r="0" t="0"/>
          <a:stretch/>
        </p:blipFill>
        <p:spPr>
          <a:xfrm>
            <a:off x="10225326" y="4257359"/>
            <a:ext cx="1914792" cy="1038370"/>
          </a:xfrm>
          <a:prstGeom prst="rect">
            <a:avLst/>
          </a:prstGeom>
          <a:noFill/>
          <a:ln>
            <a:noFill/>
          </a:ln>
        </p:spPr>
      </p:pic>
      <p:sp>
        <p:nvSpPr>
          <p:cNvPr id="248" name="Google Shape;248;g3d49611c445_1_24"/>
          <p:cNvSpPr txBox="1"/>
          <p:nvPr/>
        </p:nvSpPr>
        <p:spPr>
          <a:xfrm>
            <a:off x="163654" y="6168452"/>
            <a:ext cx="13878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3200" u="none" cap="none" strike="noStrike">
                <a:solidFill>
                  <a:srgbClr val="000000"/>
                </a:solidFill>
                <a:latin typeface="Arial"/>
                <a:ea typeface="Arial"/>
                <a:cs typeface="Arial"/>
                <a:sym typeface="Arial"/>
              </a:rPr>
              <a:t>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d49611c445_1_18"/>
          <p:cNvSpPr txBox="1"/>
          <p:nvPr/>
        </p:nvSpPr>
        <p:spPr>
          <a:xfrm>
            <a:off x="415175" y="1527200"/>
            <a:ext cx="5571300" cy="1966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AU" sz="1500" u="none" cap="none" strike="noStrike">
                <a:solidFill>
                  <a:schemeClr val="dk1"/>
                </a:solidFill>
                <a:latin typeface="Arial"/>
                <a:ea typeface="Arial"/>
                <a:cs typeface="Arial"/>
                <a:sym typeface="Arial"/>
              </a:rPr>
              <a:t>DEtection TRansformer (DETR)[1]</a:t>
            </a:r>
            <a:r>
              <a:rPr b="0" i="0" lang="en-AU" sz="1500" u="none" cap="none" strike="noStrike">
                <a:solidFill>
                  <a:schemeClr val="dk1"/>
                </a:solidFill>
                <a:latin typeface="Arial"/>
                <a:ea typeface="Arial"/>
                <a:cs typeface="Arial"/>
                <a:sym typeface="Arial"/>
              </a:rPr>
              <a:t>, developed by Facebook AI (FAIR), is a pioneering object detection model.</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AU" sz="1500" u="none" cap="none" strike="noStrike">
                <a:solidFill>
                  <a:schemeClr val="dk1"/>
                </a:solidFill>
                <a:latin typeface="Arial"/>
                <a:ea typeface="Arial"/>
                <a:cs typeface="Arial"/>
                <a:sym typeface="Arial"/>
              </a:rPr>
              <a:t>Query</a:t>
            </a:r>
            <a:r>
              <a:rPr b="0" i="0" lang="en-AU" sz="1500" u="none" cap="none" strike="noStrike">
                <a:solidFill>
                  <a:schemeClr val="dk1"/>
                </a:solidFill>
                <a:latin typeface="Arial"/>
                <a:ea typeface="Arial"/>
                <a:cs typeface="Arial"/>
                <a:sym typeface="Arial"/>
              </a:rPr>
              <a:t> functions as a "virtual detective“, they are learnable vectors, initial zero. Interacting with global image features through cross-attention to independently learn through epoch.</a:t>
            </a:r>
            <a:endParaRPr b="0" i="0" sz="15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g3d49611c445_1_18"/>
          <p:cNvSpPr txBox="1"/>
          <p:nvPr/>
        </p:nvSpPr>
        <p:spPr>
          <a:xfrm>
            <a:off x="857568" y="6291489"/>
            <a:ext cx="99042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AU" sz="1000" u="none" cap="none" strike="noStrike">
                <a:solidFill>
                  <a:srgbClr val="222222"/>
                </a:solidFill>
                <a:highlight>
                  <a:srgbClr val="FFFFFF"/>
                </a:highlight>
                <a:latin typeface="Arial"/>
                <a:ea typeface="Arial"/>
                <a:cs typeface="Arial"/>
                <a:sym typeface="Arial"/>
              </a:rPr>
              <a:t>[1] Carion, Nicolas, et al. "End-to-end object detection with transformers." </a:t>
            </a:r>
            <a:r>
              <a:rPr b="0" i="1" lang="en-AU" sz="1000" u="none" cap="none" strike="noStrike">
                <a:solidFill>
                  <a:srgbClr val="222222"/>
                </a:solidFill>
                <a:highlight>
                  <a:srgbClr val="FFFFFF"/>
                </a:highlight>
                <a:latin typeface="Arial"/>
                <a:ea typeface="Arial"/>
                <a:cs typeface="Arial"/>
                <a:sym typeface="Arial"/>
              </a:rPr>
              <a:t>European conference on computer vision</a:t>
            </a:r>
            <a:r>
              <a:rPr b="0" i="0" lang="en-AU" sz="1000" u="none" cap="none" strike="noStrike">
                <a:solidFill>
                  <a:srgbClr val="222222"/>
                </a:solidFill>
                <a:highlight>
                  <a:srgbClr val="FFFFFF"/>
                </a:highlight>
                <a:latin typeface="Arial"/>
                <a:ea typeface="Arial"/>
                <a:cs typeface="Arial"/>
                <a:sym typeface="Arial"/>
              </a:rPr>
              <a:t>. Cham: Springer International Publishing, 2020.</a:t>
            </a:r>
            <a:endParaRPr b="0" i="0" sz="1400" u="none" cap="none" strike="noStrike">
              <a:solidFill>
                <a:srgbClr val="000000"/>
              </a:solidFill>
              <a:latin typeface="Arial"/>
              <a:ea typeface="Arial"/>
              <a:cs typeface="Arial"/>
              <a:sym typeface="Arial"/>
            </a:endParaRPr>
          </a:p>
        </p:txBody>
      </p:sp>
      <p:pic>
        <p:nvPicPr>
          <p:cNvPr id="256" name="Google Shape;256;g3d49611c445_1_18"/>
          <p:cNvPicPr preferRelativeResize="0"/>
          <p:nvPr/>
        </p:nvPicPr>
        <p:blipFill rotWithShape="1">
          <a:blip r:embed="rId3">
            <a:alphaModFix/>
          </a:blip>
          <a:srcRect b="0" l="0" r="0" t="0"/>
          <a:stretch/>
        </p:blipFill>
        <p:spPr>
          <a:xfrm>
            <a:off x="972700" y="3493712"/>
            <a:ext cx="9402598" cy="2460325"/>
          </a:xfrm>
          <a:prstGeom prst="rect">
            <a:avLst/>
          </a:prstGeom>
          <a:noFill/>
          <a:ln>
            <a:noFill/>
          </a:ln>
        </p:spPr>
      </p:pic>
      <p:pic>
        <p:nvPicPr>
          <p:cNvPr id="257" name="Google Shape;257;g3d49611c445_1_18"/>
          <p:cNvPicPr preferRelativeResize="0"/>
          <p:nvPr/>
        </p:nvPicPr>
        <p:blipFill rotWithShape="1">
          <a:blip r:embed="rId4">
            <a:alphaModFix/>
          </a:blip>
          <a:srcRect b="0" l="0" r="0" t="0"/>
          <a:stretch/>
        </p:blipFill>
        <p:spPr>
          <a:xfrm>
            <a:off x="7344008" y="1295225"/>
            <a:ext cx="2813280" cy="652775"/>
          </a:xfrm>
          <a:prstGeom prst="rect">
            <a:avLst/>
          </a:prstGeom>
          <a:noFill/>
          <a:ln>
            <a:noFill/>
          </a:ln>
        </p:spPr>
      </p:pic>
      <p:sp>
        <p:nvSpPr>
          <p:cNvPr id="258" name="Google Shape;258;g3d49611c445_1_18"/>
          <p:cNvSpPr txBox="1"/>
          <p:nvPr/>
        </p:nvSpPr>
        <p:spPr>
          <a:xfrm>
            <a:off x="6205527" y="2164445"/>
            <a:ext cx="5672211" cy="1618105"/>
          </a:xfrm>
          <a:prstGeom prst="rect">
            <a:avLst/>
          </a:prstGeom>
          <a:blipFill rotWithShape="1">
            <a:blip r:embed="rId5">
              <a:alphaModFix/>
            </a:blip>
            <a:stretch>
              <a:fillRect b="0" l="-323"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sp>
        <p:nvSpPr>
          <p:cNvPr id="259" name="Google Shape;259;g3d49611c445_1_18"/>
          <p:cNvSpPr txBox="1"/>
          <p:nvPr/>
        </p:nvSpPr>
        <p:spPr>
          <a:xfrm>
            <a:off x="4467200" y="5885000"/>
            <a:ext cx="2098700" cy="4000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AU" sz="1400" u="none" cap="none" strike="noStrike">
                <a:solidFill>
                  <a:srgbClr val="000000"/>
                </a:solidFill>
                <a:latin typeface="Arial"/>
                <a:ea typeface="Arial"/>
                <a:cs typeface="Arial"/>
                <a:sym typeface="Arial"/>
              </a:rPr>
              <a:t>Fig.2：DETR structure</a:t>
            </a:r>
            <a:endParaRPr b="0" i="0" sz="1400" u="none" cap="none" strike="noStrike">
              <a:solidFill>
                <a:srgbClr val="000000"/>
              </a:solidFill>
              <a:latin typeface="Arial"/>
              <a:ea typeface="Arial"/>
              <a:cs typeface="Arial"/>
              <a:sym typeface="Arial"/>
            </a:endParaRPr>
          </a:p>
        </p:txBody>
      </p:sp>
      <p:sp>
        <p:nvSpPr>
          <p:cNvPr id="260" name="Google Shape;260;g3d49611c445_1_18"/>
          <p:cNvSpPr txBox="1"/>
          <p:nvPr>
            <p:ph idx="1" type="body"/>
          </p:nvPr>
        </p:nvSpPr>
        <p:spPr>
          <a:xfrm>
            <a:off x="306060" y="978761"/>
            <a:ext cx="4161140" cy="466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2400"/>
              <a:buNone/>
            </a:pPr>
            <a:r>
              <a:rPr lang="en-AU"/>
              <a:t>Query in DETR</a:t>
            </a:r>
            <a:endParaRPr/>
          </a:p>
        </p:txBody>
      </p:sp>
      <p:sp>
        <p:nvSpPr>
          <p:cNvPr id="261" name="Google Shape;261;g3d49611c445_1_18"/>
          <p:cNvSpPr txBox="1"/>
          <p:nvPr>
            <p:ph idx="2" type="body"/>
          </p:nvPr>
        </p:nvSpPr>
        <p:spPr>
          <a:xfrm>
            <a:off x="306060" y="326309"/>
            <a:ext cx="4431193" cy="737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4200"/>
              <a:buNone/>
            </a:pPr>
            <a:r>
              <a:rPr lang="en-AU"/>
              <a:t>Literature Review</a:t>
            </a:r>
            <a:endParaRPr/>
          </a:p>
        </p:txBody>
      </p:sp>
      <p:sp>
        <p:nvSpPr>
          <p:cNvPr id="262" name="Google Shape;262;g3d49611c445_1_18"/>
          <p:cNvSpPr txBox="1"/>
          <p:nvPr/>
        </p:nvSpPr>
        <p:spPr>
          <a:xfrm>
            <a:off x="7344008" y="1754370"/>
            <a:ext cx="2725409" cy="4100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Eq. 1：Cross attention equation</a:t>
            </a:r>
            <a:endParaRPr b="0" i="0" sz="1400" u="none" cap="none" strike="noStrike">
              <a:solidFill>
                <a:srgbClr val="000000"/>
              </a:solidFill>
              <a:latin typeface="Arial"/>
              <a:ea typeface="Arial"/>
              <a:cs typeface="Arial"/>
              <a:sym typeface="Arial"/>
            </a:endParaRPr>
          </a:p>
        </p:txBody>
      </p:sp>
      <p:sp>
        <p:nvSpPr>
          <p:cNvPr id="263" name="Google Shape;263;g3d49611c445_1_18"/>
          <p:cNvSpPr txBox="1"/>
          <p:nvPr/>
        </p:nvSpPr>
        <p:spPr>
          <a:xfrm>
            <a:off x="163654" y="6168452"/>
            <a:ext cx="13878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3200" u="none" cap="none" strike="noStrike">
                <a:solidFill>
                  <a:srgbClr val="000000"/>
                </a:solidFill>
                <a:latin typeface="Arial"/>
                <a:ea typeface="Arial"/>
                <a:cs typeface="Arial"/>
                <a:sym typeface="Arial"/>
              </a:rPr>
              <a:t>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
          <p:cNvSpPr txBox="1"/>
          <p:nvPr/>
        </p:nvSpPr>
        <p:spPr>
          <a:xfrm>
            <a:off x="6279179" y="1898966"/>
            <a:ext cx="5292016" cy="1554241"/>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500"/>
              <a:buFont typeface="Arial"/>
              <a:buNone/>
            </a:pPr>
            <a:r>
              <a:rPr b="0" i="0" lang="en-AU" sz="1500" u="none" cap="none" strike="noStrike">
                <a:solidFill>
                  <a:schemeClr val="dk1"/>
                </a:solidFill>
                <a:latin typeface="Arial"/>
                <a:ea typeface="Arial"/>
                <a:cs typeface="Arial"/>
                <a:sym typeface="Arial"/>
              </a:rPr>
              <a:t>A core limitation of the original DETR is that these queries are </a:t>
            </a:r>
            <a:r>
              <a:rPr b="1" i="0" lang="en-AU" sz="1500" u="none" cap="none" strike="noStrike">
                <a:solidFill>
                  <a:schemeClr val="dk1"/>
                </a:solidFill>
                <a:latin typeface="Arial"/>
                <a:ea typeface="Arial"/>
                <a:cs typeface="Arial"/>
                <a:sym typeface="Arial"/>
              </a:rPr>
              <a:t>randomly initialized</a:t>
            </a:r>
            <a:r>
              <a:rPr b="0" i="0" lang="en-AU" sz="1500" u="none" cap="none" strike="noStrike">
                <a:solidFill>
                  <a:schemeClr val="dk1"/>
                </a:solidFill>
                <a:latin typeface="Arial"/>
                <a:ea typeface="Arial"/>
                <a:cs typeface="Arial"/>
                <a:sym typeface="Arial"/>
              </a:rPr>
              <a:t>. They often exceeding 500 epochs to achieve stable </a:t>
            </a:r>
            <a:r>
              <a:rPr b="1" i="0" lang="en-AU" sz="1500" u="none" cap="none" strike="noStrike">
                <a:solidFill>
                  <a:schemeClr val="dk1"/>
                </a:solidFill>
                <a:latin typeface="Arial"/>
                <a:ea typeface="Arial"/>
                <a:cs typeface="Arial"/>
                <a:sym typeface="Arial"/>
              </a:rPr>
              <a:t>convergence</a:t>
            </a:r>
            <a:r>
              <a:rPr b="0" i="0" lang="en-AU" sz="1500" u="none" cap="none" strike="noStrike">
                <a:solidFill>
                  <a:schemeClr val="dk1"/>
                </a:solidFill>
                <a:latin typeface="Arial"/>
                <a:ea typeface="Arial"/>
                <a:cs typeface="Arial"/>
                <a:sym typeface="Arial"/>
              </a:rPr>
              <a:t> and accurate bounding box regression. </a:t>
            </a:r>
            <a:endParaRPr b="0" i="0" sz="1500" u="none" cap="none" strike="noStrike">
              <a:solidFill>
                <a:schemeClr val="dk1"/>
              </a:solidFill>
              <a:latin typeface="Arial"/>
              <a:ea typeface="Arial"/>
              <a:cs typeface="Arial"/>
              <a:sym typeface="Arial"/>
            </a:endParaRPr>
          </a:p>
        </p:txBody>
      </p:sp>
      <p:sp>
        <p:nvSpPr>
          <p:cNvPr id="270" name="Google Shape;270;p4"/>
          <p:cNvSpPr/>
          <p:nvPr/>
        </p:nvSpPr>
        <p:spPr>
          <a:xfrm>
            <a:off x="6279179" y="3453207"/>
            <a:ext cx="4914575" cy="2375137"/>
          </a:xfrm>
          <a:prstGeom prst="rect">
            <a:avLst/>
          </a:prstGeom>
          <a:blipFill rotWithShape="1">
            <a:blip r:embed="rId3">
              <a:alphaModFix/>
            </a:blip>
            <a:stretch>
              <a:fillRect b="-2308" l="-496" r="-372" t="-179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pic>
        <p:nvPicPr>
          <p:cNvPr id="271" name="Google Shape;271;p4"/>
          <p:cNvPicPr preferRelativeResize="0"/>
          <p:nvPr/>
        </p:nvPicPr>
        <p:blipFill rotWithShape="1">
          <a:blip r:embed="rId4">
            <a:alphaModFix/>
          </a:blip>
          <a:srcRect b="0" l="0" r="0" t="0"/>
          <a:stretch/>
        </p:blipFill>
        <p:spPr>
          <a:xfrm>
            <a:off x="161096" y="1715861"/>
            <a:ext cx="5934904" cy="3249277"/>
          </a:xfrm>
          <a:prstGeom prst="rect">
            <a:avLst/>
          </a:prstGeom>
          <a:noFill/>
          <a:ln>
            <a:noFill/>
          </a:ln>
        </p:spPr>
      </p:pic>
      <p:sp>
        <p:nvSpPr>
          <p:cNvPr id="272" name="Google Shape;272;p4"/>
          <p:cNvSpPr txBox="1"/>
          <p:nvPr/>
        </p:nvSpPr>
        <p:spPr>
          <a:xfrm>
            <a:off x="1697874" y="5035698"/>
            <a:ext cx="2816976" cy="4000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AU" sz="1400" u="none" cap="none" strike="noStrike">
                <a:solidFill>
                  <a:srgbClr val="000000"/>
                </a:solidFill>
                <a:latin typeface="Arial"/>
                <a:ea typeface="Arial"/>
                <a:cs typeface="Arial"/>
                <a:sym typeface="Arial"/>
              </a:rPr>
              <a:t>Fig. 3：PVIC[2] query design</a:t>
            </a:r>
            <a:endParaRPr b="0" i="0" sz="1400" u="none" cap="none" strike="noStrike">
              <a:solidFill>
                <a:srgbClr val="000000"/>
              </a:solidFill>
              <a:latin typeface="Arial"/>
              <a:ea typeface="Arial"/>
              <a:cs typeface="Arial"/>
              <a:sym typeface="Arial"/>
            </a:endParaRPr>
          </a:p>
        </p:txBody>
      </p:sp>
      <p:sp>
        <p:nvSpPr>
          <p:cNvPr id="273" name="Google Shape;273;p4"/>
          <p:cNvSpPr txBox="1"/>
          <p:nvPr>
            <p:ph idx="1" type="body"/>
          </p:nvPr>
        </p:nvSpPr>
        <p:spPr>
          <a:xfrm>
            <a:off x="306060" y="978761"/>
            <a:ext cx="7451700" cy="466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2400"/>
              <a:buNone/>
            </a:pPr>
            <a:r>
              <a:rPr lang="en-AU"/>
              <a:t>PVIC</a:t>
            </a:r>
            <a:endParaRPr/>
          </a:p>
        </p:txBody>
      </p:sp>
      <p:sp>
        <p:nvSpPr>
          <p:cNvPr id="274" name="Google Shape;274;p4"/>
          <p:cNvSpPr txBox="1"/>
          <p:nvPr>
            <p:ph idx="2" type="body"/>
          </p:nvPr>
        </p:nvSpPr>
        <p:spPr>
          <a:xfrm>
            <a:off x="306060" y="326309"/>
            <a:ext cx="7452000" cy="737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000"/>
              </a:spcBef>
              <a:spcAft>
                <a:spcPts val="0"/>
              </a:spcAft>
              <a:buSzPts val="4200"/>
              <a:buNone/>
            </a:pPr>
            <a:r>
              <a:rPr lang="en-AU"/>
              <a:t>Literature Review</a:t>
            </a:r>
            <a:endParaRPr/>
          </a:p>
        </p:txBody>
      </p:sp>
      <p:sp>
        <p:nvSpPr>
          <p:cNvPr id="275" name="Google Shape;275;p4"/>
          <p:cNvSpPr/>
          <p:nvPr/>
        </p:nvSpPr>
        <p:spPr>
          <a:xfrm>
            <a:off x="3549650" y="1898966"/>
            <a:ext cx="2146300" cy="672784"/>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6" name="Google Shape;276;p4"/>
          <p:cNvSpPr txBox="1"/>
          <p:nvPr/>
        </p:nvSpPr>
        <p:spPr>
          <a:xfrm>
            <a:off x="636583" y="5968427"/>
            <a:ext cx="9904200" cy="49241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AU" sz="1000" u="none" cap="none" strike="noStrike">
                <a:solidFill>
                  <a:srgbClr val="222222"/>
                </a:solidFill>
                <a:highlight>
                  <a:srgbClr val="FFFFFF"/>
                </a:highlight>
                <a:latin typeface="Arial"/>
                <a:ea typeface="Arial"/>
                <a:cs typeface="Arial"/>
                <a:sym typeface="Arial"/>
              </a:rPr>
              <a:t>[2] Zhang, Frederic Z., et al. "Exploring predicate visual context in detecting of human-object interactions." </a:t>
            </a:r>
            <a:r>
              <a:rPr b="0" i="1" lang="en-AU" sz="1000" u="none" cap="none" strike="noStrike">
                <a:solidFill>
                  <a:srgbClr val="222222"/>
                </a:solidFill>
                <a:highlight>
                  <a:srgbClr val="FFFFFF"/>
                </a:highlight>
                <a:latin typeface="Arial"/>
                <a:ea typeface="Arial"/>
                <a:cs typeface="Arial"/>
                <a:sym typeface="Arial"/>
              </a:rPr>
              <a:t>Proceedings of the IEEE/CVF international conference on computer vision</a:t>
            </a:r>
            <a:r>
              <a:rPr b="0" i="0" lang="en-AU" sz="1000" u="none" cap="none" strike="noStrike">
                <a:solidFill>
                  <a:srgbClr val="222222"/>
                </a:solidFill>
                <a:highlight>
                  <a:srgbClr val="FFFFFF"/>
                </a:highlight>
                <a:latin typeface="Arial"/>
                <a:ea typeface="Arial"/>
                <a:cs typeface="Arial"/>
                <a:sym typeface="Arial"/>
              </a:rPr>
              <a:t>. 2023.</a:t>
            </a:r>
            <a:endParaRPr b="0" i="0" sz="1400" u="none" cap="none" strike="noStrike">
              <a:solidFill>
                <a:srgbClr val="000000"/>
              </a:solidFill>
              <a:latin typeface="Arial"/>
              <a:ea typeface="Arial"/>
              <a:cs typeface="Arial"/>
              <a:sym typeface="Arial"/>
            </a:endParaRPr>
          </a:p>
        </p:txBody>
      </p:sp>
      <p:sp>
        <p:nvSpPr>
          <p:cNvPr id="277" name="Google Shape;277;p4"/>
          <p:cNvSpPr txBox="1"/>
          <p:nvPr/>
        </p:nvSpPr>
        <p:spPr>
          <a:xfrm>
            <a:off x="163654" y="6168452"/>
            <a:ext cx="13878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3200" u="none" cap="none" strike="noStrike">
                <a:solidFill>
                  <a:srgbClr val="000000"/>
                </a:solidFill>
                <a:latin typeface="Arial"/>
                <a:ea typeface="Arial"/>
                <a:cs typeface="Arial"/>
                <a:sym typeface="Arial"/>
              </a:rPr>
              <a:t>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6"/>
          <p:cNvSpPr txBox="1"/>
          <p:nvPr>
            <p:ph idx="2" type="body"/>
          </p:nvPr>
        </p:nvSpPr>
        <p:spPr>
          <a:xfrm>
            <a:off x="115409" y="253985"/>
            <a:ext cx="9330300" cy="7371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90000"/>
              </a:lnSpc>
              <a:spcBef>
                <a:spcPts val="1000"/>
              </a:spcBef>
              <a:spcAft>
                <a:spcPts val="0"/>
              </a:spcAft>
              <a:buClr>
                <a:schemeClr val="dk1"/>
              </a:buClr>
              <a:buSzPts val="4200"/>
              <a:buFont typeface="Arial"/>
              <a:buNone/>
            </a:pPr>
            <a:r>
              <a:rPr lang="en-AU"/>
              <a:t>Literature Review</a:t>
            </a:r>
            <a:endParaRPr b="1" i="0" sz="4200" u="none" cap="none" strike="noStrike">
              <a:solidFill>
                <a:schemeClr val="dk1"/>
              </a:solidFill>
              <a:latin typeface="Arial Narrow"/>
              <a:ea typeface="Arial Narrow"/>
              <a:cs typeface="Arial Narrow"/>
              <a:sym typeface="Arial Narrow"/>
            </a:endParaRPr>
          </a:p>
        </p:txBody>
      </p:sp>
      <p:sp>
        <p:nvSpPr>
          <p:cNvPr id="284" name="Google Shape;284;p6"/>
          <p:cNvSpPr txBox="1"/>
          <p:nvPr/>
        </p:nvSpPr>
        <p:spPr>
          <a:xfrm>
            <a:off x="344275" y="857575"/>
            <a:ext cx="3884100" cy="55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AU" sz="2400" u="none" cap="none" strike="noStrike">
                <a:solidFill>
                  <a:srgbClr val="000000"/>
                </a:solidFill>
                <a:latin typeface="Arial"/>
                <a:ea typeface="Arial"/>
                <a:cs typeface="Arial"/>
                <a:sym typeface="Arial"/>
              </a:rPr>
              <a:t>Dataset</a:t>
            </a:r>
            <a:endParaRPr b="0" i="0" sz="2400" u="none" cap="none" strike="noStrike">
              <a:solidFill>
                <a:srgbClr val="000000"/>
              </a:solidFill>
              <a:latin typeface="Arial"/>
              <a:ea typeface="Arial"/>
              <a:cs typeface="Arial"/>
              <a:sym typeface="Arial"/>
            </a:endParaRPr>
          </a:p>
        </p:txBody>
      </p:sp>
      <p:graphicFrame>
        <p:nvGraphicFramePr>
          <p:cNvPr id="285" name="Google Shape;285;p6"/>
          <p:cNvGraphicFramePr/>
          <p:nvPr/>
        </p:nvGraphicFramePr>
        <p:xfrm>
          <a:off x="799350" y="3729351"/>
          <a:ext cx="3000000" cy="3000000"/>
        </p:xfrm>
        <a:graphic>
          <a:graphicData uri="http://schemas.openxmlformats.org/drawingml/2006/table">
            <a:tbl>
              <a:tblPr bandRow="1" firstRow="1">
                <a:noFill/>
                <a:tableStyleId>{2A80F3BA-3C41-4C19-AA86-348411CC9863}</a:tableStyleId>
              </a:tblPr>
              <a:tblGrid>
                <a:gridCol w="1683950"/>
                <a:gridCol w="1683950"/>
              </a:tblGrid>
              <a:tr h="488475">
                <a:tc>
                  <a:txBody>
                    <a:bodyPr/>
                    <a:lstStyle/>
                    <a:p>
                      <a:pPr indent="0" lvl="0" marL="0" marR="0" rtl="0" algn="l">
                        <a:lnSpc>
                          <a:spcPct val="100000"/>
                        </a:lnSpc>
                        <a:spcBef>
                          <a:spcPts val="0"/>
                        </a:spcBef>
                        <a:spcAft>
                          <a:spcPts val="0"/>
                        </a:spcAft>
                        <a:buNone/>
                      </a:pPr>
                      <a:r>
                        <a:rPr lang="en-AU" sz="1400" u="none" cap="none" strike="noStrike"/>
                        <a:t>Feature</a:t>
                      </a:r>
                      <a:endParaRPr/>
                    </a:p>
                  </a:txBody>
                  <a:tcPr marT="45725" marB="45725" marR="91450" marL="91450"/>
                </a:tc>
                <a:tc>
                  <a:txBody>
                    <a:bodyPr/>
                    <a:lstStyle/>
                    <a:p>
                      <a:pPr indent="0" lvl="0" marL="0" marR="0" rtl="0" algn="l">
                        <a:lnSpc>
                          <a:spcPct val="100000"/>
                        </a:lnSpc>
                        <a:spcBef>
                          <a:spcPts val="0"/>
                        </a:spcBef>
                        <a:spcAft>
                          <a:spcPts val="0"/>
                        </a:spcAft>
                        <a:buNone/>
                      </a:pPr>
                      <a:r>
                        <a:rPr lang="en-AU" sz="1400" u="none" cap="none" strike="noStrike"/>
                        <a:t>V-COCO</a:t>
                      </a:r>
                      <a:endParaRPr/>
                    </a:p>
                  </a:txBody>
                  <a:tcPr marT="45725" marB="45725" marR="91450" marL="91450"/>
                </a:tc>
              </a:tr>
              <a:tr h="516075">
                <a:tc>
                  <a:txBody>
                    <a:bodyPr/>
                    <a:lstStyle/>
                    <a:p>
                      <a:pPr indent="0" lvl="0" marL="0" marR="0" rtl="0" algn="ctr">
                        <a:lnSpc>
                          <a:spcPct val="100000"/>
                        </a:lnSpc>
                        <a:spcBef>
                          <a:spcPts val="0"/>
                        </a:spcBef>
                        <a:spcAft>
                          <a:spcPts val="0"/>
                        </a:spcAft>
                        <a:buNone/>
                      </a:pPr>
                      <a:r>
                        <a:rPr lang="en-AU" sz="1400" u="none" cap="none" strike="noStrike"/>
                        <a:t>Total images</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AU" sz="1400" u="none" cap="none" strike="noStrike"/>
                        <a:t>10,346</a:t>
                      </a:r>
                      <a:endParaRPr/>
                    </a:p>
                  </a:txBody>
                  <a:tcPr marT="45725" marB="45725" marR="91450" marL="91450" anchor="ctr"/>
                </a:tc>
              </a:tr>
              <a:tr h="615475">
                <a:tc>
                  <a:txBody>
                    <a:bodyPr/>
                    <a:lstStyle/>
                    <a:p>
                      <a:pPr indent="0" lvl="0" marL="0" marR="0" rtl="0" algn="ctr">
                        <a:lnSpc>
                          <a:spcPct val="100000"/>
                        </a:lnSpc>
                        <a:spcBef>
                          <a:spcPts val="0"/>
                        </a:spcBef>
                        <a:spcAft>
                          <a:spcPts val="0"/>
                        </a:spcAft>
                        <a:buNone/>
                      </a:pPr>
                      <a:r>
                        <a:rPr lang="en-AU" sz="1400" u="none" cap="none" strike="noStrike"/>
                        <a:t>Object categories</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AU" sz="1400" u="none" cap="none" strike="noStrike"/>
                        <a:t>80</a:t>
                      </a:r>
                      <a:endParaRPr/>
                    </a:p>
                  </a:txBody>
                  <a:tcPr marT="45725" marB="45725" marR="91450" marL="91450" anchor="ctr"/>
                </a:tc>
              </a:tr>
              <a:tr h="615475">
                <a:tc>
                  <a:txBody>
                    <a:bodyPr/>
                    <a:lstStyle/>
                    <a:p>
                      <a:pPr indent="0" lvl="0" marL="0" marR="0" rtl="0" algn="ctr">
                        <a:lnSpc>
                          <a:spcPct val="100000"/>
                        </a:lnSpc>
                        <a:spcBef>
                          <a:spcPts val="0"/>
                        </a:spcBef>
                        <a:spcAft>
                          <a:spcPts val="0"/>
                        </a:spcAft>
                        <a:buClr>
                          <a:srgbClr val="000000"/>
                        </a:buClr>
                        <a:buSzPts val="1400"/>
                        <a:buFont typeface="Arial"/>
                        <a:buNone/>
                      </a:pPr>
                      <a:r>
                        <a:rPr lang="en-AU" sz="1400" u="none" cap="none" strike="noStrike"/>
                        <a:t>Action categories</a:t>
                      </a:r>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AU" sz="1400" u="none" cap="none" strike="noStrike"/>
                        <a:t>29</a:t>
                      </a:r>
                      <a:endParaRPr/>
                    </a:p>
                  </a:txBody>
                  <a:tcPr marT="45725" marB="45725" marR="91450" marL="91450" anchor="ctr"/>
                </a:tc>
              </a:tr>
            </a:tbl>
          </a:graphicData>
        </a:graphic>
      </p:graphicFrame>
      <p:sp>
        <p:nvSpPr>
          <p:cNvPr id="286" name="Google Shape;286;p6"/>
          <p:cNvSpPr txBox="1"/>
          <p:nvPr/>
        </p:nvSpPr>
        <p:spPr>
          <a:xfrm>
            <a:off x="585199" y="5993517"/>
            <a:ext cx="3959167" cy="4000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Table.1：Brief review of main HOI dataset</a:t>
            </a:r>
            <a:endParaRPr b="0" i="0" sz="1400" u="none" cap="none" strike="noStrike">
              <a:solidFill>
                <a:srgbClr val="000000"/>
              </a:solidFill>
              <a:latin typeface="Arial"/>
              <a:ea typeface="Arial"/>
              <a:cs typeface="Arial"/>
              <a:sym typeface="Arial"/>
            </a:endParaRPr>
          </a:p>
        </p:txBody>
      </p:sp>
      <p:sp>
        <p:nvSpPr>
          <p:cNvPr id="287" name="Google Shape;287;p6"/>
          <p:cNvSpPr txBox="1"/>
          <p:nvPr/>
        </p:nvSpPr>
        <p:spPr>
          <a:xfrm>
            <a:off x="5206620" y="5997481"/>
            <a:ext cx="5181980" cy="6155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Fig.4：Non-central annotation and small human instance,  GT                      	for this picture is  &lt;human, ride, boat&gt;</a:t>
            </a:r>
            <a:endParaRPr b="0" i="0" sz="1400" u="none" cap="none" strike="noStrike">
              <a:solidFill>
                <a:srgbClr val="000000"/>
              </a:solidFill>
              <a:latin typeface="Arial"/>
              <a:ea typeface="Arial"/>
              <a:cs typeface="Arial"/>
              <a:sym typeface="Arial"/>
            </a:endParaRPr>
          </a:p>
        </p:txBody>
      </p:sp>
      <p:pic>
        <p:nvPicPr>
          <p:cNvPr descr="海上的帆船&#10;&#10;AI 生成的内容可能不正确。" id="288" name="Google Shape;288;p6"/>
          <p:cNvPicPr preferRelativeResize="0"/>
          <p:nvPr/>
        </p:nvPicPr>
        <p:blipFill rotWithShape="1">
          <a:blip r:embed="rId3">
            <a:alphaModFix/>
          </a:blip>
          <a:srcRect b="0" l="0" r="0" t="0"/>
          <a:stretch/>
        </p:blipFill>
        <p:spPr>
          <a:xfrm>
            <a:off x="6228726" y="3729351"/>
            <a:ext cx="3293053" cy="2256313"/>
          </a:xfrm>
          <a:prstGeom prst="rect">
            <a:avLst/>
          </a:prstGeom>
          <a:noFill/>
          <a:ln>
            <a:noFill/>
          </a:ln>
        </p:spPr>
      </p:pic>
      <p:sp>
        <p:nvSpPr>
          <p:cNvPr id="289" name="Google Shape;289;p6"/>
          <p:cNvSpPr/>
          <p:nvPr/>
        </p:nvSpPr>
        <p:spPr>
          <a:xfrm>
            <a:off x="742570" y="1568549"/>
            <a:ext cx="10414000" cy="1815882"/>
          </a:xfrm>
          <a:prstGeom prst="rect">
            <a:avLst/>
          </a:prstGeom>
          <a:noFill/>
          <a:ln>
            <a:noFill/>
          </a:ln>
        </p:spPr>
        <p:txBody>
          <a:bodyPr anchorCtr="0" anchor="ctr" bIns="45700" lIns="91425" spcFirstLastPara="1" rIns="91425" wrap="square" tIns="45700">
            <a:spAutoFit/>
          </a:bodyPr>
          <a:lstStyle/>
          <a:p>
            <a:pPr indent="-101600" lvl="0" marL="0" marR="0" rtl="0" algn="l">
              <a:lnSpc>
                <a:spcPct val="100000"/>
              </a:lnSpc>
              <a:spcBef>
                <a:spcPts val="0"/>
              </a:spcBef>
              <a:spcAft>
                <a:spcPts val="0"/>
              </a:spcAft>
              <a:buClr>
                <a:schemeClr val="dk1"/>
              </a:buClr>
              <a:buSzPts val="1600"/>
              <a:buFont typeface="Arial"/>
              <a:buChar char="•"/>
            </a:pPr>
            <a:r>
              <a:rPr b="1" i="0" lang="en-AU" sz="1600" u="none" cap="none" strike="noStrike">
                <a:solidFill>
                  <a:schemeClr val="dk1"/>
                </a:solidFill>
                <a:latin typeface="Arial"/>
                <a:ea typeface="Arial"/>
                <a:cs typeface="Arial"/>
                <a:sym typeface="Arial"/>
              </a:rPr>
              <a:t>Sub-optimal Visual Quality:</a:t>
            </a:r>
            <a:r>
              <a:rPr b="0" i="0" lang="en-AU" sz="1600" u="none" cap="none" strike="noStrike">
                <a:solidFill>
                  <a:schemeClr val="dk1"/>
                </a:solidFill>
                <a:latin typeface="Arial"/>
                <a:ea typeface="Arial"/>
                <a:cs typeface="Arial"/>
                <a:sym typeface="Arial"/>
              </a:rPr>
              <a:t> Human instances compromised by extremely small scales, severe occlusions, or inadequate lighting conditions, which results in degraded feature representation.</a:t>
            </a:r>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1" i="0" lang="en-AU" sz="1600" u="none" cap="none" strike="noStrike">
                <a:solidFill>
                  <a:schemeClr val="dk1"/>
                </a:solidFill>
                <a:latin typeface="Arial"/>
                <a:ea typeface="Arial"/>
                <a:cs typeface="Arial"/>
                <a:sym typeface="Arial"/>
              </a:rPr>
              <a:t>Incomplete and Non-central Annotations: </a:t>
            </a:r>
            <a:r>
              <a:rPr b="0" i="0" lang="en-AU" sz="1600" u="none" cap="none" strike="noStrike">
                <a:solidFill>
                  <a:schemeClr val="dk1"/>
                </a:solidFill>
                <a:latin typeface="Arial"/>
                <a:ea typeface="Arial"/>
                <a:cs typeface="Arial"/>
                <a:sym typeface="Arial"/>
              </a:rPr>
              <a:t>An</a:t>
            </a:r>
            <a:r>
              <a:rPr b="0" i="0" lang="en-AU" sz="1600" u="none" cap="none" strike="noStrike">
                <a:solidFill>
                  <a:schemeClr val="dk1"/>
                </a:solidFill>
                <a:latin typeface="Arial"/>
                <a:ea typeface="Arial"/>
                <a:cs typeface="Arial"/>
                <a:sym typeface="Arial"/>
              </a:rPr>
              <a:t>notations sometimes focus on peripheral subjects rather than the primary, most semantically significant interactions in the scene.</a:t>
            </a:r>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101600" lvl="0" marL="0" marR="0" rtl="0" algn="l">
              <a:lnSpc>
                <a:spcPct val="100000"/>
              </a:lnSpc>
              <a:spcBef>
                <a:spcPts val="0"/>
              </a:spcBef>
              <a:spcAft>
                <a:spcPts val="0"/>
              </a:spcAft>
              <a:buClr>
                <a:srgbClr val="000000"/>
              </a:buClr>
              <a:buSzPts val="1600"/>
              <a:buFont typeface="Arial"/>
              <a:buChar char="•"/>
            </a:pPr>
            <a:r>
              <a:rPr b="1" i="0" lang="en-AU" sz="1600" u="none" cap="none" strike="noStrike">
                <a:solidFill>
                  <a:srgbClr val="000000"/>
                </a:solidFill>
                <a:latin typeface="Arial"/>
                <a:ea typeface="Arial"/>
                <a:cs typeface="Arial"/>
                <a:sym typeface="Arial"/>
              </a:rPr>
              <a:t>Human Error:</a:t>
            </a:r>
            <a:r>
              <a:rPr b="0" i="0" lang="en-AU" sz="1600" u="none" cap="none" strike="noStrike">
                <a:solidFill>
                  <a:srgbClr val="000000"/>
                </a:solidFill>
                <a:latin typeface="Arial"/>
                <a:ea typeface="Arial"/>
                <a:cs typeface="Arial"/>
                <a:sym typeface="Arial"/>
              </a:rPr>
              <a:t> it contain 3-4% error rates, including misclassified actions and coarse bounding box boundaries.</a:t>
            </a:r>
            <a:endParaRPr/>
          </a:p>
        </p:txBody>
      </p:sp>
      <p:sp>
        <p:nvSpPr>
          <p:cNvPr id="290" name="Google Shape;290;p6"/>
          <p:cNvSpPr txBox="1"/>
          <p:nvPr/>
        </p:nvSpPr>
        <p:spPr>
          <a:xfrm>
            <a:off x="163654" y="6168452"/>
            <a:ext cx="13878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3200" u="none" cap="none" strike="noStrike">
                <a:solidFill>
                  <a:srgbClr val="000000"/>
                </a:solidFill>
                <a:latin typeface="Arial"/>
                <a:ea typeface="Arial"/>
                <a:cs typeface="Arial"/>
                <a:sym typeface="Arial"/>
              </a:rPr>
              <a:t>6</a:t>
            </a:r>
            <a:endParaRPr/>
          </a:p>
        </p:txBody>
      </p:sp>
      <p:sp>
        <p:nvSpPr>
          <p:cNvPr id="291" name="Google Shape;291;p6"/>
          <p:cNvSpPr/>
          <p:nvPr/>
        </p:nvSpPr>
        <p:spPr>
          <a:xfrm>
            <a:off x="6760564" y="5054858"/>
            <a:ext cx="164892" cy="296631"/>
          </a:xfrm>
          <a:prstGeom prst="rect">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7"/>
          <p:cNvSpPr txBox="1"/>
          <p:nvPr>
            <p:ph idx="2" type="body"/>
          </p:nvPr>
        </p:nvSpPr>
        <p:spPr>
          <a:xfrm>
            <a:off x="115409" y="253985"/>
            <a:ext cx="9330431" cy="7371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90000"/>
              </a:lnSpc>
              <a:spcBef>
                <a:spcPts val="1000"/>
              </a:spcBef>
              <a:spcAft>
                <a:spcPts val="0"/>
              </a:spcAft>
              <a:buClr>
                <a:schemeClr val="dk1"/>
              </a:buClr>
              <a:buSzPts val="4200"/>
              <a:buFont typeface="Arial"/>
              <a:buNone/>
            </a:pPr>
            <a:r>
              <a:rPr lang="en-AU"/>
              <a:t>Research Gap and Aims</a:t>
            </a:r>
            <a:endParaRPr b="1" i="0" sz="4200" u="none" cap="none" strike="noStrike">
              <a:solidFill>
                <a:schemeClr val="dk1"/>
              </a:solidFill>
              <a:latin typeface="Arial Narrow"/>
              <a:ea typeface="Arial Narrow"/>
              <a:cs typeface="Arial Narrow"/>
              <a:sym typeface="Arial Narrow"/>
            </a:endParaRPr>
          </a:p>
        </p:txBody>
      </p:sp>
      <p:sp>
        <p:nvSpPr>
          <p:cNvPr id="298" name="Google Shape;298;p7"/>
          <p:cNvSpPr/>
          <p:nvPr/>
        </p:nvSpPr>
        <p:spPr>
          <a:xfrm>
            <a:off x="607483" y="2170160"/>
            <a:ext cx="10864312" cy="3647152"/>
          </a:xfrm>
          <a:prstGeom prst="rect">
            <a:avLst/>
          </a:prstGeom>
          <a:noFill/>
          <a:ln>
            <a:noFill/>
          </a:ln>
        </p:spPr>
        <p:txBody>
          <a:bodyPr anchorCtr="0" anchor="ctr" bIns="45700" lIns="91425" spcFirstLastPara="1" rIns="91425" wrap="square" tIns="0">
            <a:spAutoFit/>
          </a:bodyPr>
          <a:lstStyle/>
          <a:p>
            <a:pPr indent="-285750" lvl="0" marL="285750" marR="0" rtl="0" algn="l">
              <a:lnSpc>
                <a:spcPct val="100000"/>
              </a:lnSpc>
              <a:spcBef>
                <a:spcPts val="0"/>
              </a:spcBef>
              <a:spcAft>
                <a:spcPts val="0"/>
              </a:spcAft>
              <a:buClr>
                <a:srgbClr val="000000"/>
              </a:buClr>
              <a:buSzPts val="1800"/>
              <a:buFont typeface="Arial"/>
              <a:buChar char="•"/>
            </a:pPr>
            <a:r>
              <a:rPr b="0" i="0" lang="en-AU" sz="1800" u="none" cap="none" strike="noStrike">
                <a:solidFill>
                  <a:srgbClr val="000000"/>
                </a:solidFill>
                <a:latin typeface="Arial"/>
                <a:ea typeface="Arial"/>
                <a:cs typeface="Arial"/>
                <a:sym typeface="Arial"/>
              </a:rPr>
              <a:t>HOI models struggle with efficient feature extraction, leading to ambiguous intent recognition and inefficient feature utilization. To implement a Position-Aware framework that optimizes feature isolation to clarify agent intent .</a:t>
            </a:r>
            <a:endParaRPr b="0" i="0" sz="1800" u="none" cap="none" strike="noStrike">
              <a:solidFill>
                <a:schemeClr val="dk1"/>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AU" sz="1800" u="none" cap="none" strike="noStrike">
                <a:solidFill>
                  <a:srgbClr val="000000"/>
                </a:solidFill>
                <a:latin typeface="Arial"/>
                <a:ea typeface="Arial"/>
                <a:cs typeface="Arial"/>
                <a:sym typeface="Arial"/>
              </a:rPr>
              <a:t>Established datasets contain significant noise, with error rates, This low-fidelity input causes models to learn incorrect patterns rather than genuine physical interactions</a:t>
            </a:r>
            <a:r>
              <a:rPr b="0" i="0" lang="en-AU" sz="1800" u="none" cap="none" strike="noStrike">
                <a:solidFill>
                  <a:schemeClr val="dk1"/>
                </a:solidFill>
                <a:latin typeface="Arial"/>
                <a:ea typeface="Arial"/>
                <a:cs typeface="Arial"/>
                <a:sym typeface="Arial"/>
              </a:rPr>
              <a:t>. </a:t>
            </a:r>
            <a:r>
              <a:rPr b="0" i="0" lang="en-AU" sz="1800" u="none" cap="none" strike="noStrike">
                <a:solidFill>
                  <a:srgbClr val="000000"/>
                </a:solidFill>
                <a:latin typeface="Arial"/>
                <a:ea typeface="Arial"/>
                <a:cs typeface="Arial"/>
                <a:sym typeface="Arial"/>
              </a:rPr>
              <a:t>To implement a Data Quality Refinement strategy that purifies the dataset.</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AU" sz="1800" u="none" cap="none" strike="noStrike">
                <a:solidFill>
                  <a:srgbClr val="000000"/>
                </a:solidFill>
                <a:latin typeface="Arial"/>
                <a:ea typeface="Arial"/>
                <a:cs typeface="Arial"/>
                <a:sym typeface="Arial"/>
              </a:rPr>
              <a:t>Current methods use coarse bounding boxes, lacking fine-grained human-centric priors (posture, gaze) necessary for disambiguating complex relationships. To incorporate Human Structural Priors into the query design process to provide the model with a high-resolution understanding of the agent </a:t>
            </a:r>
            <a:endParaRPr b="0" i="0" sz="1800" u="none" cap="none" strike="noStrike">
              <a:solidFill>
                <a:schemeClr val="dk1"/>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9" name="Google Shape;299;p7"/>
          <p:cNvSpPr txBox="1"/>
          <p:nvPr/>
        </p:nvSpPr>
        <p:spPr>
          <a:xfrm>
            <a:off x="163654" y="6168452"/>
            <a:ext cx="13878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3200" u="none" cap="none" strike="noStrike">
                <a:solidFill>
                  <a:srgbClr val="000000"/>
                </a:solidFill>
                <a:latin typeface="Arial"/>
                <a:ea typeface="Arial"/>
                <a:cs typeface="Arial"/>
                <a:sym typeface="Arial"/>
              </a:rPr>
              <a:t>7</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0"/>
          <p:cNvSpPr txBox="1"/>
          <p:nvPr>
            <p:ph idx="2" type="body"/>
          </p:nvPr>
        </p:nvSpPr>
        <p:spPr>
          <a:xfrm>
            <a:off x="115409" y="253985"/>
            <a:ext cx="4839363" cy="7371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90000"/>
              </a:lnSpc>
              <a:spcBef>
                <a:spcPts val="1000"/>
              </a:spcBef>
              <a:spcAft>
                <a:spcPts val="0"/>
              </a:spcAft>
              <a:buClr>
                <a:schemeClr val="dk1"/>
              </a:buClr>
              <a:buSzPts val="4200"/>
              <a:buFont typeface="Arial"/>
              <a:buNone/>
            </a:pPr>
            <a:r>
              <a:rPr lang="en-AU"/>
              <a:t>Proposed Research</a:t>
            </a:r>
            <a:endParaRPr b="1" i="0" sz="4200" u="none" cap="none" strike="noStrike">
              <a:solidFill>
                <a:schemeClr val="dk1"/>
              </a:solidFill>
              <a:latin typeface="Arial Narrow"/>
              <a:ea typeface="Arial Narrow"/>
              <a:cs typeface="Arial Narrow"/>
              <a:sym typeface="Arial Narrow"/>
            </a:endParaRPr>
          </a:p>
        </p:txBody>
      </p:sp>
      <p:sp>
        <p:nvSpPr>
          <p:cNvPr id="306" name="Google Shape;306;p10"/>
          <p:cNvSpPr txBox="1"/>
          <p:nvPr/>
        </p:nvSpPr>
        <p:spPr>
          <a:xfrm>
            <a:off x="344275" y="857575"/>
            <a:ext cx="3884100" cy="55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AU" sz="2400" u="none" cap="none" strike="noStrike">
                <a:solidFill>
                  <a:srgbClr val="000000"/>
                </a:solidFill>
                <a:latin typeface="Arial"/>
                <a:ea typeface="Arial"/>
                <a:cs typeface="Arial"/>
                <a:sym typeface="Arial"/>
              </a:rPr>
              <a:t>Human-center dataset</a:t>
            </a:r>
            <a:endParaRPr b="0" i="0" sz="2400" u="none" cap="none" strike="noStrike">
              <a:solidFill>
                <a:srgbClr val="000000"/>
              </a:solidFill>
              <a:latin typeface="Arial"/>
              <a:ea typeface="Arial"/>
              <a:cs typeface="Arial"/>
              <a:sym typeface="Arial"/>
            </a:endParaRPr>
          </a:p>
        </p:txBody>
      </p:sp>
      <p:pic>
        <p:nvPicPr>
          <p:cNvPr id="307" name="Google Shape;307;p10"/>
          <p:cNvPicPr preferRelativeResize="0"/>
          <p:nvPr/>
        </p:nvPicPr>
        <p:blipFill rotWithShape="1">
          <a:blip r:embed="rId3">
            <a:alphaModFix/>
          </a:blip>
          <a:srcRect b="0" l="0" r="0" t="0"/>
          <a:stretch/>
        </p:blipFill>
        <p:spPr>
          <a:xfrm>
            <a:off x="7324337" y="1077996"/>
            <a:ext cx="3410045" cy="2216741"/>
          </a:xfrm>
          <a:prstGeom prst="rect">
            <a:avLst/>
          </a:prstGeom>
          <a:noFill/>
          <a:ln>
            <a:noFill/>
          </a:ln>
        </p:spPr>
      </p:pic>
      <p:pic>
        <p:nvPicPr>
          <p:cNvPr id="308" name="Google Shape;308;p10"/>
          <p:cNvPicPr preferRelativeResize="0"/>
          <p:nvPr/>
        </p:nvPicPr>
        <p:blipFill rotWithShape="1">
          <a:blip r:embed="rId4">
            <a:alphaModFix/>
          </a:blip>
          <a:srcRect b="0" l="0" r="0" t="0"/>
          <a:stretch/>
        </p:blipFill>
        <p:spPr>
          <a:xfrm>
            <a:off x="7324337" y="3263024"/>
            <a:ext cx="3410045" cy="2215470"/>
          </a:xfrm>
          <a:prstGeom prst="rect">
            <a:avLst/>
          </a:prstGeom>
          <a:noFill/>
          <a:ln>
            <a:noFill/>
          </a:ln>
        </p:spPr>
      </p:pic>
      <p:sp>
        <p:nvSpPr>
          <p:cNvPr id="309" name="Google Shape;309;p10"/>
          <p:cNvSpPr txBox="1"/>
          <p:nvPr/>
        </p:nvSpPr>
        <p:spPr>
          <a:xfrm>
            <a:off x="600075" y="1662065"/>
            <a:ext cx="6094878" cy="36625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AU" sz="1600" u="none" cap="none" strike="noStrike">
                <a:solidFill>
                  <a:srgbClr val="000000"/>
                </a:solidFill>
                <a:latin typeface="Arial"/>
                <a:ea typeface="Arial"/>
                <a:cs typeface="Arial"/>
                <a:sym typeface="Arial"/>
              </a:rPr>
              <a:t>Impact on Model</a:t>
            </a:r>
            <a:endParaRPr b="0" i="0" sz="1600" u="none" cap="none" strike="noStrike">
              <a:solidFill>
                <a:srgbClr val="000000"/>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Char char="•"/>
            </a:pPr>
            <a:r>
              <a:rPr b="1" i="0" lang="en-AU" sz="1400" u="none" cap="none" strike="noStrike">
                <a:solidFill>
                  <a:srgbClr val="000000"/>
                </a:solidFill>
                <a:latin typeface="Arial"/>
                <a:ea typeface="Arial"/>
                <a:cs typeface="Arial"/>
                <a:sym typeface="Arial"/>
              </a:rPr>
              <a:t>  Suboptimal Feature Learning:</a:t>
            </a:r>
            <a:r>
              <a:rPr b="0" i="0" lang="en-AU" sz="1400" u="none" cap="none" strike="noStrike">
                <a:solidFill>
                  <a:srgbClr val="000000"/>
                </a:solidFill>
                <a:latin typeface="Arial"/>
                <a:ea typeface="Arial"/>
                <a:cs typeface="Arial"/>
                <a:sym typeface="Arial"/>
              </a:rPr>
              <a:t> Leads to poor generalization across diverse scenarios. </a:t>
            </a:r>
            <a:endParaRPr/>
          </a:p>
          <a:p>
            <a:pPr indent="-88900" lvl="0" marL="0" marR="0" rtl="0" algn="l">
              <a:lnSpc>
                <a:spcPct val="100000"/>
              </a:lnSpc>
              <a:spcBef>
                <a:spcPts val="0"/>
              </a:spcBef>
              <a:spcAft>
                <a:spcPts val="0"/>
              </a:spcAft>
              <a:buClr>
                <a:srgbClr val="000000"/>
              </a:buClr>
              <a:buSzPts val="1400"/>
              <a:buFont typeface="Arial"/>
              <a:buChar char="•"/>
            </a:pPr>
            <a:r>
              <a:rPr b="1" i="0" lang="en-AU" sz="1400" u="none" cap="none" strike="noStrike">
                <a:solidFill>
                  <a:srgbClr val="000000"/>
                </a:solidFill>
                <a:latin typeface="Arial"/>
                <a:ea typeface="Arial"/>
                <a:cs typeface="Arial"/>
                <a:sym typeface="Arial"/>
              </a:rPr>
              <a:t>  Overfitting Risk:</a:t>
            </a:r>
            <a:r>
              <a:rPr b="0" i="0" lang="en-AU" sz="1400" u="none" cap="none" strike="noStrike">
                <a:solidFill>
                  <a:srgbClr val="000000"/>
                </a:solidFill>
                <a:latin typeface="Arial"/>
                <a:ea typeface="Arial"/>
                <a:cs typeface="Arial"/>
                <a:sym typeface="Arial"/>
              </a:rPr>
              <a:t> High data noise increases the likelihood of the model memorizing artifacts instead of learning patterns. </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AU" sz="1600" u="none" cap="none" strike="noStrike">
                <a:solidFill>
                  <a:srgbClr val="000000"/>
                </a:solidFill>
                <a:latin typeface="Arial"/>
                <a:ea typeface="Arial"/>
                <a:cs typeface="Arial"/>
                <a:sym typeface="Arial"/>
              </a:rPr>
              <a:t>Proposed Solution </a:t>
            </a:r>
            <a:endParaRPr b="0" i="0" sz="1600" u="none" cap="none" strike="noStrike">
              <a:solidFill>
                <a:srgbClr val="000000"/>
              </a:solidFill>
              <a:latin typeface="Arial"/>
              <a:ea typeface="Arial"/>
              <a:cs typeface="Arial"/>
              <a:sym typeface="Arial"/>
            </a:endParaRPr>
          </a:p>
          <a:p>
            <a:pPr indent="-88900" lvl="1" marL="0" marR="0" rtl="0" algn="l">
              <a:lnSpc>
                <a:spcPct val="100000"/>
              </a:lnSpc>
              <a:spcBef>
                <a:spcPts val="0"/>
              </a:spcBef>
              <a:spcAft>
                <a:spcPts val="0"/>
              </a:spcAft>
              <a:buClr>
                <a:srgbClr val="000000"/>
              </a:buClr>
              <a:buSzPts val="1400"/>
              <a:buFont typeface="Arial"/>
              <a:buChar char="•"/>
            </a:pPr>
            <a:r>
              <a:rPr b="1" i="0" lang="en-AU" sz="1400" u="none" cap="none" strike="noStrike">
                <a:solidFill>
                  <a:srgbClr val="000000"/>
                </a:solidFill>
                <a:latin typeface="Arial"/>
                <a:ea typeface="Arial"/>
                <a:cs typeface="Arial"/>
                <a:sym typeface="Arial"/>
              </a:rPr>
              <a:t>  Leverage Off-the-shelf Detectors:</a:t>
            </a:r>
            <a:r>
              <a:rPr b="0" i="0" lang="en-AU" sz="1400" u="none" cap="none" strike="noStrike">
                <a:solidFill>
                  <a:srgbClr val="000000"/>
                </a:solidFill>
                <a:latin typeface="Arial"/>
                <a:ea typeface="Arial"/>
                <a:cs typeface="Arial"/>
                <a:sym typeface="Arial"/>
              </a:rPr>
              <a:t> Implement pre-trained human detection model RTMPose-L, SOTA frameworks to ground the search space. </a:t>
            </a:r>
            <a:endParaRPr b="0" i="0" sz="1400" u="none" cap="none" strike="noStrike">
              <a:solidFill>
                <a:srgbClr val="000000"/>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Char char="•"/>
            </a:pPr>
            <a:r>
              <a:rPr b="1" i="0" lang="en-AU" sz="1400" u="none" cap="none" strike="noStrike">
                <a:solidFill>
                  <a:srgbClr val="000000"/>
                </a:solidFill>
                <a:latin typeface="Arial"/>
                <a:ea typeface="Arial"/>
                <a:cs typeface="Arial"/>
                <a:sym typeface="Arial"/>
              </a:rPr>
              <a:t>  Data Quality Refinement:</a:t>
            </a:r>
            <a:r>
              <a:rPr b="0" i="0" lang="en-AU" sz="1400" u="none" cap="none" strike="noStrike">
                <a:solidFill>
                  <a:srgbClr val="000000"/>
                </a:solidFill>
                <a:latin typeface="Arial"/>
                <a:ea typeface="Arial"/>
                <a:cs typeface="Arial"/>
                <a:sym typeface="Arial"/>
              </a:rPr>
              <a:t> Apply a strict </a:t>
            </a:r>
            <a:r>
              <a:rPr b="1" i="0" lang="en-AU" sz="1400" u="none" cap="none" strike="noStrike">
                <a:solidFill>
                  <a:srgbClr val="000000"/>
                </a:solidFill>
                <a:latin typeface="Arial"/>
                <a:ea typeface="Arial"/>
                <a:cs typeface="Arial"/>
                <a:sym typeface="Arial"/>
              </a:rPr>
              <a:t>80% confidence threshold</a:t>
            </a:r>
            <a:r>
              <a:rPr b="0" i="0" lang="en-AU" sz="1400" u="none" cap="none" strike="noStrike">
                <a:solidFill>
                  <a:srgbClr val="000000"/>
                </a:solidFill>
                <a:latin typeface="Arial"/>
                <a:ea typeface="Arial"/>
                <a:cs typeface="Arial"/>
                <a:sym typeface="Arial"/>
              </a:rPr>
              <a:t> to filter and retain only high-fidelity samples. </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AU" sz="1800" u="none" cap="none" strike="noStrike">
                <a:solidFill>
                  <a:srgbClr val="000000"/>
                </a:solidFill>
                <a:latin typeface="Arial"/>
                <a:ea typeface="Arial"/>
                <a:cs typeface="Arial"/>
                <a:sym typeface="Arial"/>
              </a:rPr>
              <a:t>Result</a:t>
            </a:r>
            <a:endParaRPr/>
          </a:p>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Train and valid: from 5,814 to 5,404</a:t>
            </a:r>
            <a:endParaRPr/>
          </a:p>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Test: From 4,532 to 4,332</a:t>
            </a:r>
            <a:endParaRPr b="0" i="0" sz="1400" u="none" cap="none" strike="noStrike">
              <a:solidFill>
                <a:srgbClr val="000000"/>
              </a:solidFill>
              <a:latin typeface="Arial"/>
              <a:ea typeface="Arial"/>
              <a:cs typeface="Arial"/>
              <a:sym typeface="Arial"/>
            </a:endParaRPr>
          </a:p>
        </p:txBody>
      </p:sp>
      <p:sp>
        <p:nvSpPr>
          <p:cNvPr id="310" name="Google Shape;310;p10"/>
          <p:cNvSpPr txBox="1"/>
          <p:nvPr/>
        </p:nvSpPr>
        <p:spPr>
          <a:xfrm>
            <a:off x="6484091" y="5661305"/>
            <a:ext cx="5181980" cy="83096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Fig.5：Example 1 was discarded since human detection confidence score (32%) is below the 80% threshold. Example 2 keeped </a:t>
            </a:r>
            <a:endParaRPr b="0" i="0" sz="1400" u="none" cap="none" strike="noStrike">
              <a:solidFill>
                <a:srgbClr val="000000"/>
              </a:solidFill>
              <a:latin typeface="Arial"/>
              <a:ea typeface="Arial"/>
              <a:cs typeface="Arial"/>
              <a:sym typeface="Arial"/>
            </a:endParaRPr>
          </a:p>
        </p:txBody>
      </p:sp>
      <p:sp>
        <p:nvSpPr>
          <p:cNvPr id="311" name="Google Shape;311;p10"/>
          <p:cNvSpPr txBox="1"/>
          <p:nvPr/>
        </p:nvSpPr>
        <p:spPr>
          <a:xfrm>
            <a:off x="7395882" y="1117896"/>
            <a:ext cx="47737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AU" sz="2800" u="none" cap="none" strike="noStrike">
                <a:solidFill>
                  <a:schemeClr val="lt1"/>
                </a:solidFill>
                <a:latin typeface="Arial"/>
                <a:ea typeface="Arial"/>
                <a:cs typeface="Arial"/>
                <a:sym typeface="Arial"/>
              </a:rPr>
              <a:t>1</a:t>
            </a:r>
            <a:endParaRPr/>
          </a:p>
        </p:txBody>
      </p:sp>
      <p:sp>
        <p:nvSpPr>
          <p:cNvPr id="312" name="Google Shape;312;p10"/>
          <p:cNvSpPr txBox="1"/>
          <p:nvPr/>
        </p:nvSpPr>
        <p:spPr>
          <a:xfrm>
            <a:off x="7395882" y="3215938"/>
            <a:ext cx="47737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AU" sz="2800" u="none" cap="none" strike="noStrike">
                <a:solidFill>
                  <a:schemeClr val="lt1"/>
                </a:solidFill>
                <a:latin typeface="Arial"/>
                <a:ea typeface="Arial"/>
                <a:cs typeface="Arial"/>
                <a:sym typeface="Arial"/>
              </a:rPr>
              <a:t>2</a:t>
            </a:r>
            <a:endParaRPr/>
          </a:p>
        </p:txBody>
      </p:sp>
      <p:sp>
        <p:nvSpPr>
          <p:cNvPr id="313" name="Google Shape;313;p10"/>
          <p:cNvSpPr txBox="1"/>
          <p:nvPr/>
        </p:nvSpPr>
        <p:spPr>
          <a:xfrm>
            <a:off x="163654" y="6168452"/>
            <a:ext cx="13878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3200" u="none" cap="none" strike="noStrike">
                <a:solidFill>
                  <a:srgbClr val="000000"/>
                </a:solidFill>
                <a:latin typeface="Arial"/>
                <a:ea typeface="Arial"/>
                <a:cs typeface="Arial"/>
                <a:sym typeface="Arial"/>
              </a:rPr>
              <a:t>8</a:t>
            </a:r>
            <a:endParaRPr/>
          </a:p>
        </p:txBody>
      </p:sp>
      <p:sp>
        <p:nvSpPr>
          <p:cNvPr id="314" name="Google Shape;314;p10"/>
          <p:cNvSpPr/>
          <p:nvPr/>
        </p:nvSpPr>
        <p:spPr>
          <a:xfrm>
            <a:off x="10073217" y="2300817"/>
            <a:ext cx="57150" cy="88900"/>
          </a:xfrm>
          <a:prstGeom prst="rect">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5" name="Google Shape;315;p10"/>
          <p:cNvSpPr/>
          <p:nvPr/>
        </p:nvSpPr>
        <p:spPr>
          <a:xfrm>
            <a:off x="8636001" y="3845560"/>
            <a:ext cx="1092200" cy="1632934"/>
          </a:xfrm>
          <a:prstGeom prst="rect">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d49611c445_1_12"/>
          <p:cNvSpPr/>
          <p:nvPr/>
        </p:nvSpPr>
        <p:spPr>
          <a:xfrm>
            <a:off x="3503463" y="5153022"/>
            <a:ext cx="1324840" cy="562840"/>
          </a:xfrm>
          <a:prstGeom prst="roundRect">
            <a:avLst>
              <a:gd fmla="val 16667" name="adj"/>
            </a:avLst>
          </a:prstGeom>
          <a:solidFill>
            <a:srgbClr val="C4E0B2"/>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Skeletion detection</a:t>
            </a:r>
            <a:endParaRPr/>
          </a:p>
        </p:txBody>
      </p:sp>
      <p:sp>
        <p:nvSpPr>
          <p:cNvPr id="322" name="Google Shape;322;g3d49611c445_1_12"/>
          <p:cNvSpPr/>
          <p:nvPr/>
        </p:nvSpPr>
        <p:spPr>
          <a:xfrm>
            <a:off x="5379701" y="5083500"/>
            <a:ext cx="1342290" cy="706838"/>
          </a:xfrm>
          <a:prstGeom prst="roundRect">
            <a:avLst>
              <a:gd fmla="val 16667" name="adj"/>
            </a:avLst>
          </a:prstGeom>
          <a:solidFill>
            <a:srgbClr val="C4E0B2"/>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Dynamic</a:t>
            </a:r>
            <a:endParaRPr/>
          </a:p>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Keypoints selection </a:t>
            </a:r>
            <a:endParaRPr/>
          </a:p>
        </p:txBody>
      </p:sp>
      <p:sp>
        <p:nvSpPr>
          <p:cNvPr id="323" name="Google Shape;323;g3d49611c445_1_12"/>
          <p:cNvSpPr/>
          <p:nvPr/>
        </p:nvSpPr>
        <p:spPr>
          <a:xfrm>
            <a:off x="6840174" y="4123469"/>
            <a:ext cx="1578680" cy="614391"/>
          </a:xfrm>
          <a:prstGeom prst="roundRect">
            <a:avLst>
              <a:gd fmla="val 16667" name="adj"/>
            </a:avLst>
          </a:prstGeom>
          <a:solidFill>
            <a:srgbClr val="BBD6EE"/>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Position</a:t>
            </a:r>
            <a:endParaRPr/>
          </a:p>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Dynamic Fusion</a:t>
            </a:r>
            <a:endParaRPr b="0" i="0" sz="1400" u="none" cap="none" strike="noStrike">
              <a:solidFill>
                <a:schemeClr val="dk1"/>
              </a:solidFill>
              <a:latin typeface="Arial"/>
              <a:ea typeface="Arial"/>
              <a:cs typeface="Arial"/>
              <a:sym typeface="Arial"/>
            </a:endParaRPr>
          </a:p>
        </p:txBody>
      </p:sp>
      <p:sp>
        <p:nvSpPr>
          <p:cNvPr id="324" name="Google Shape;324;g3d49611c445_1_12"/>
          <p:cNvSpPr txBox="1"/>
          <p:nvPr/>
        </p:nvSpPr>
        <p:spPr>
          <a:xfrm>
            <a:off x="8317337" y="3418619"/>
            <a:ext cx="73396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Query</a:t>
            </a:r>
            <a:endParaRPr b="0" i="0" sz="1400" u="none" cap="none" strike="noStrike">
              <a:solidFill>
                <a:srgbClr val="000000"/>
              </a:solidFill>
              <a:latin typeface="Arial"/>
              <a:ea typeface="Arial"/>
              <a:cs typeface="Arial"/>
              <a:sym typeface="Arial"/>
            </a:endParaRPr>
          </a:p>
        </p:txBody>
      </p:sp>
      <p:sp>
        <p:nvSpPr>
          <p:cNvPr id="325" name="Google Shape;325;g3d49611c445_1_12"/>
          <p:cNvSpPr txBox="1"/>
          <p:nvPr/>
        </p:nvSpPr>
        <p:spPr>
          <a:xfrm>
            <a:off x="3623146" y="3683751"/>
            <a:ext cx="345953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AU" sz="1800" u="none" cap="none" strike="noStrike">
                <a:solidFill>
                  <a:srgbClr val="000000"/>
                </a:solidFill>
                <a:latin typeface="Arial"/>
                <a:ea typeface="Arial"/>
                <a:cs typeface="Arial"/>
                <a:sym typeface="Arial"/>
              </a:rPr>
              <a:t>Query Position Enhancement</a:t>
            </a:r>
            <a:endParaRPr b="1" i="0" sz="1800" u="none" cap="none" strike="noStrike">
              <a:solidFill>
                <a:srgbClr val="000000"/>
              </a:solidFill>
              <a:latin typeface="Arial"/>
              <a:ea typeface="Arial"/>
              <a:cs typeface="Arial"/>
              <a:sym typeface="Arial"/>
            </a:endParaRPr>
          </a:p>
        </p:txBody>
      </p:sp>
      <p:sp>
        <p:nvSpPr>
          <p:cNvPr id="326" name="Google Shape;326;g3d49611c445_1_12"/>
          <p:cNvSpPr txBox="1"/>
          <p:nvPr/>
        </p:nvSpPr>
        <p:spPr>
          <a:xfrm>
            <a:off x="9377929" y="3418616"/>
            <a:ext cx="95167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Key</a:t>
            </a:r>
            <a:endParaRPr b="0" i="0" sz="1400" u="none" cap="none" strike="noStrike">
              <a:solidFill>
                <a:srgbClr val="000000"/>
              </a:solidFill>
              <a:latin typeface="Arial"/>
              <a:ea typeface="Arial"/>
              <a:cs typeface="Arial"/>
              <a:sym typeface="Arial"/>
            </a:endParaRPr>
          </a:p>
        </p:txBody>
      </p:sp>
      <p:sp>
        <p:nvSpPr>
          <p:cNvPr id="327" name="Google Shape;327;g3d49611c445_1_12"/>
          <p:cNvSpPr txBox="1"/>
          <p:nvPr/>
        </p:nvSpPr>
        <p:spPr>
          <a:xfrm>
            <a:off x="10494306" y="3421108"/>
            <a:ext cx="10696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Value</a:t>
            </a:r>
            <a:endParaRPr b="0" i="0" sz="1400" u="none" cap="none" strike="noStrike">
              <a:solidFill>
                <a:srgbClr val="000000"/>
              </a:solidFill>
              <a:latin typeface="Arial"/>
              <a:ea typeface="Arial"/>
              <a:cs typeface="Arial"/>
              <a:sym typeface="Arial"/>
            </a:endParaRPr>
          </a:p>
        </p:txBody>
      </p:sp>
      <p:cxnSp>
        <p:nvCxnSpPr>
          <p:cNvPr id="328" name="Google Shape;328;g3d49611c445_1_12"/>
          <p:cNvCxnSpPr/>
          <p:nvPr/>
        </p:nvCxnSpPr>
        <p:spPr>
          <a:xfrm flipH="1" rot="10800000">
            <a:off x="1333874" y="4491937"/>
            <a:ext cx="827" cy="343065"/>
          </a:xfrm>
          <a:prstGeom prst="straightConnector1">
            <a:avLst/>
          </a:prstGeom>
          <a:noFill/>
          <a:ln cap="flat" cmpd="sng" w="28575">
            <a:solidFill>
              <a:schemeClr val="dk1"/>
            </a:solidFill>
            <a:prstDash val="solid"/>
            <a:round/>
            <a:headEnd len="sm" w="sm" type="none"/>
            <a:tailEnd len="med" w="med" type="triangle"/>
          </a:ln>
        </p:spPr>
      </p:cxnSp>
      <p:sp>
        <p:nvSpPr>
          <p:cNvPr id="329" name="Google Shape;329;g3d49611c445_1_12"/>
          <p:cNvSpPr/>
          <p:nvPr/>
        </p:nvSpPr>
        <p:spPr>
          <a:xfrm>
            <a:off x="959473" y="4023108"/>
            <a:ext cx="750867" cy="467590"/>
          </a:xfrm>
          <a:prstGeom prst="trapezoid">
            <a:avLst>
              <a:gd fmla="val 25000" name="adj"/>
            </a:avLst>
          </a:prstGeom>
          <a:solidFill>
            <a:srgbClr val="F2F2F2"/>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CNN</a:t>
            </a:r>
            <a:endParaRPr b="0" i="0" sz="1400" u="none" cap="none" strike="noStrike">
              <a:solidFill>
                <a:schemeClr val="dk1"/>
              </a:solidFill>
              <a:latin typeface="Arial"/>
              <a:ea typeface="Arial"/>
              <a:cs typeface="Arial"/>
              <a:sym typeface="Arial"/>
            </a:endParaRPr>
          </a:p>
        </p:txBody>
      </p:sp>
      <p:cxnSp>
        <p:nvCxnSpPr>
          <p:cNvPr id="330" name="Google Shape;330;g3d49611c445_1_12"/>
          <p:cNvCxnSpPr/>
          <p:nvPr/>
        </p:nvCxnSpPr>
        <p:spPr>
          <a:xfrm flipH="1" rot="10800000">
            <a:off x="1333873" y="3675508"/>
            <a:ext cx="827" cy="343065"/>
          </a:xfrm>
          <a:prstGeom prst="straightConnector1">
            <a:avLst/>
          </a:prstGeom>
          <a:noFill/>
          <a:ln cap="flat" cmpd="sng" w="28575">
            <a:solidFill>
              <a:schemeClr val="dk1"/>
            </a:solidFill>
            <a:prstDash val="solid"/>
            <a:round/>
            <a:headEnd len="sm" w="sm" type="none"/>
            <a:tailEnd len="med" w="med" type="triangle"/>
          </a:ln>
        </p:spPr>
      </p:cxnSp>
      <p:cxnSp>
        <p:nvCxnSpPr>
          <p:cNvPr id="331" name="Google Shape;331;g3d49611c445_1_12"/>
          <p:cNvCxnSpPr/>
          <p:nvPr/>
        </p:nvCxnSpPr>
        <p:spPr>
          <a:xfrm flipH="1" rot="10800000">
            <a:off x="1333873" y="3021886"/>
            <a:ext cx="827" cy="343065"/>
          </a:xfrm>
          <a:prstGeom prst="straightConnector1">
            <a:avLst/>
          </a:prstGeom>
          <a:noFill/>
          <a:ln cap="flat" cmpd="sng" w="28575">
            <a:solidFill>
              <a:schemeClr val="dk1"/>
            </a:solidFill>
            <a:prstDash val="solid"/>
            <a:round/>
            <a:headEnd len="sm" w="sm" type="none"/>
            <a:tailEnd len="med" w="med" type="triangle"/>
          </a:ln>
        </p:spPr>
      </p:cxnSp>
      <p:sp>
        <p:nvSpPr>
          <p:cNvPr id="332" name="Google Shape;332;g3d49611c445_1_12"/>
          <p:cNvSpPr/>
          <p:nvPr/>
        </p:nvSpPr>
        <p:spPr>
          <a:xfrm>
            <a:off x="871040" y="1992233"/>
            <a:ext cx="1018974" cy="395019"/>
          </a:xfrm>
          <a:prstGeom prst="roundRect">
            <a:avLst>
              <a:gd fmla="val 16667" name="adj"/>
            </a:avLst>
          </a:prstGeom>
          <a:solidFill>
            <a:srgbClr val="D8D8D8"/>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Encoder</a:t>
            </a:r>
            <a:endParaRPr b="0" i="0" sz="1400" u="none" cap="none" strike="noStrike">
              <a:solidFill>
                <a:schemeClr val="dk1"/>
              </a:solidFill>
              <a:latin typeface="Arial"/>
              <a:ea typeface="Arial"/>
              <a:cs typeface="Arial"/>
              <a:sym typeface="Arial"/>
            </a:endParaRPr>
          </a:p>
        </p:txBody>
      </p:sp>
      <p:cxnSp>
        <p:nvCxnSpPr>
          <p:cNvPr id="333" name="Google Shape;333;g3d49611c445_1_12"/>
          <p:cNvCxnSpPr/>
          <p:nvPr/>
        </p:nvCxnSpPr>
        <p:spPr>
          <a:xfrm flipH="1" rot="10800000">
            <a:off x="1328577" y="2396322"/>
            <a:ext cx="827" cy="343065"/>
          </a:xfrm>
          <a:prstGeom prst="straightConnector1">
            <a:avLst/>
          </a:prstGeom>
          <a:noFill/>
          <a:ln cap="flat" cmpd="sng" w="28575">
            <a:solidFill>
              <a:schemeClr val="dk1"/>
            </a:solidFill>
            <a:prstDash val="solid"/>
            <a:round/>
            <a:headEnd len="sm" w="sm" type="none"/>
            <a:tailEnd len="med" w="med" type="triangle"/>
          </a:ln>
        </p:spPr>
      </p:cxnSp>
      <p:cxnSp>
        <p:nvCxnSpPr>
          <p:cNvPr id="334" name="Google Shape;334;g3d49611c445_1_12"/>
          <p:cNvCxnSpPr/>
          <p:nvPr/>
        </p:nvCxnSpPr>
        <p:spPr>
          <a:xfrm flipH="1" rot="10800000">
            <a:off x="1890014" y="1167875"/>
            <a:ext cx="639463" cy="9874"/>
          </a:xfrm>
          <a:prstGeom prst="straightConnector1">
            <a:avLst/>
          </a:prstGeom>
          <a:noFill/>
          <a:ln cap="flat" cmpd="sng" w="28575">
            <a:solidFill>
              <a:schemeClr val="dk1"/>
            </a:solidFill>
            <a:prstDash val="solid"/>
            <a:round/>
            <a:headEnd len="sm" w="sm" type="none"/>
            <a:tailEnd len="med" w="med" type="triangle"/>
          </a:ln>
        </p:spPr>
      </p:cxnSp>
      <p:sp>
        <p:nvSpPr>
          <p:cNvPr id="335" name="Google Shape;335;g3d49611c445_1_12"/>
          <p:cNvSpPr txBox="1"/>
          <p:nvPr/>
        </p:nvSpPr>
        <p:spPr>
          <a:xfrm>
            <a:off x="565449" y="3170364"/>
            <a:ext cx="254522" cy="307777"/>
          </a:xfrm>
          <a:prstGeom prst="rect">
            <a:avLst/>
          </a:prstGeom>
          <a:blipFill rotWithShape="1">
            <a:blip r:embed="rId3">
              <a:alphaModFix/>
            </a:blip>
            <a:stretch>
              <a:fillRect b="-19609" l="-26190" r="-1190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grpSp>
        <p:nvGrpSpPr>
          <p:cNvPr id="336" name="Google Shape;336;g3d49611c445_1_12"/>
          <p:cNvGrpSpPr/>
          <p:nvPr/>
        </p:nvGrpSpPr>
        <p:grpSpPr>
          <a:xfrm>
            <a:off x="8363387" y="3153721"/>
            <a:ext cx="966415" cy="244438"/>
            <a:chOff x="7575923" y="2916138"/>
            <a:chExt cx="981995" cy="230250"/>
          </a:xfrm>
        </p:grpSpPr>
        <p:sp>
          <p:nvSpPr>
            <p:cNvPr id="337" name="Google Shape;337;g3d49611c445_1_12"/>
            <p:cNvSpPr/>
            <p:nvPr/>
          </p:nvSpPr>
          <p:spPr>
            <a:xfrm>
              <a:off x="7575923" y="2918486"/>
              <a:ext cx="245656" cy="227902"/>
            </a:xfrm>
            <a:prstGeom prst="cube">
              <a:avLst>
                <a:gd fmla="val 61221" name="adj"/>
              </a:avLst>
            </a:prstGeom>
            <a:solidFill>
              <a:srgbClr val="F4B081"/>
            </a:solidFill>
            <a:ln cap="flat" cmpd="sng" w="9525">
              <a:solidFill>
                <a:srgbClr val="833C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8" name="Google Shape;338;g3d49611c445_1_12"/>
            <p:cNvSpPr/>
            <p:nvPr/>
          </p:nvSpPr>
          <p:spPr>
            <a:xfrm>
              <a:off x="7721117" y="2917867"/>
              <a:ext cx="245656" cy="227902"/>
            </a:xfrm>
            <a:prstGeom prst="cube">
              <a:avLst>
                <a:gd fmla="val 61221" name="adj"/>
              </a:avLst>
            </a:prstGeom>
            <a:solidFill>
              <a:srgbClr val="F4B081"/>
            </a:solidFill>
            <a:ln cap="flat" cmpd="sng" w="9525">
              <a:solidFill>
                <a:srgbClr val="833C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9" name="Google Shape;339;g3d49611c445_1_12"/>
            <p:cNvSpPr/>
            <p:nvPr/>
          </p:nvSpPr>
          <p:spPr>
            <a:xfrm>
              <a:off x="7865637" y="2917377"/>
              <a:ext cx="245656" cy="227902"/>
            </a:xfrm>
            <a:prstGeom prst="cube">
              <a:avLst>
                <a:gd fmla="val 61221" name="adj"/>
              </a:avLst>
            </a:prstGeom>
            <a:solidFill>
              <a:srgbClr val="F4B081"/>
            </a:solidFill>
            <a:ln cap="flat" cmpd="sng" w="9525">
              <a:solidFill>
                <a:srgbClr val="833C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0" name="Google Shape;340;g3d49611c445_1_12"/>
            <p:cNvSpPr/>
            <p:nvPr/>
          </p:nvSpPr>
          <p:spPr>
            <a:xfrm>
              <a:off x="8011683" y="2917377"/>
              <a:ext cx="245656" cy="227902"/>
            </a:xfrm>
            <a:prstGeom prst="cube">
              <a:avLst>
                <a:gd fmla="val 61221" name="adj"/>
              </a:avLst>
            </a:prstGeom>
            <a:solidFill>
              <a:srgbClr val="F4B081"/>
            </a:solidFill>
            <a:ln cap="flat" cmpd="sng" w="9525">
              <a:solidFill>
                <a:srgbClr val="833C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1" name="Google Shape;341;g3d49611c445_1_12"/>
            <p:cNvSpPr/>
            <p:nvPr/>
          </p:nvSpPr>
          <p:spPr>
            <a:xfrm>
              <a:off x="8163610" y="2916757"/>
              <a:ext cx="245656" cy="227902"/>
            </a:xfrm>
            <a:prstGeom prst="cube">
              <a:avLst>
                <a:gd fmla="val 61221" name="adj"/>
              </a:avLst>
            </a:prstGeom>
            <a:solidFill>
              <a:srgbClr val="F4B081"/>
            </a:solidFill>
            <a:ln cap="flat" cmpd="sng" w="9525">
              <a:solidFill>
                <a:srgbClr val="833C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2" name="Google Shape;342;g3d49611c445_1_12"/>
            <p:cNvSpPr/>
            <p:nvPr/>
          </p:nvSpPr>
          <p:spPr>
            <a:xfrm>
              <a:off x="8312262" y="2916138"/>
              <a:ext cx="245656" cy="227902"/>
            </a:xfrm>
            <a:prstGeom prst="cube">
              <a:avLst>
                <a:gd fmla="val 61221" name="adj"/>
              </a:avLst>
            </a:prstGeom>
            <a:solidFill>
              <a:srgbClr val="F4B081"/>
            </a:solidFill>
            <a:ln cap="flat" cmpd="sng" w="9525">
              <a:solidFill>
                <a:srgbClr val="833C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descr="Badge Follow outline" id="343" name="Google Shape;343;g3d49611c445_1_12"/>
          <p:cNvSpPr/>
          <p:nvPr/>
        </p:nvSpPr>
        <p:spPr>
          <a:xfrm>
            <a:off x="1183932" y="2713225"/>
            <a:ext cx="333242" cy="333242"/>
          </a:xfrm>
          <a:prstGeom prst="rect">
            <a:avLst/>
          </a:prstGeom>
          <a:noFill/>
          <a:ln>
            <a:noFill/>
          </a:ln>
        </p:spPr>
      </p:sp>
      <p:cxnSp>
        <p:nvCxnSpPr>
          <p:cNvPr id="344" name="Google Shape;344;g3d49611c445_1_12"/>
          <p:cNvCxnSpPr/>
          <p:nvPr/>
        </p:nvCxnSpPr>
        <p:spPr>
          <a:xfrm>
            <a:off x="812138" y="2879846"/>
            <a:ext cx="403583" cy="0"/>
          </a:xfrm>
          <a:prstGeom prst="straightConnector1">
            <a:avLst/>
          </a:prstGeom>
          <a:noFill/>
          <a:ln cap="flat" cmpd="sng" w="28575">
            <a:solidFill>
              <a:schemeClr val="dk1"/>
            </a:solidFill>
            <a:prstDash val="solid"/>
            <a:round/>
            <a:headEnd len="sm" w="sm" type="none"/>
            <a:tailEnd len="med" w="med" type="triangle"/>
          </a:ln>
        </p:spPr>
      </p:cxnSp>
      <p:sp>
        <p:nvSpPr>
          <p:cNvPr id="345" name="Google Shape;345;g3d49611c445_1_12"/>
          <p:cNvSpPr txBox="1"/>
          <p:nvPr/>
        </p:nvSpPr>
        <p:spPr>
          <a:xfrm>
            <a:off x="542340" y="2625681"/>
            <a:ext cx="254522" cy="307777"/>
          </a:xfrm>
          <a:prstGeom prst="rect">
            <a:avLst/>
          </a:prstGeom>
          <a:blipFill rotWithShape="1">
            <a:blip r:embed="rId4">
              <a:alphaModFix/>
            </a:blip>
            <a:stretch>
              <a:fillRect b="-16000" l="-30953" r="-7144"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pic>
        <p:nvPicPr>
          <p:cNvPr id="346" name="Google Shape;346;g3d49611c445_1_12"/>
          <p:cNvPicPr preferRelativeResize="0"/>
          <p:nvPr/>
        </p:nvPicPr>
        <p:blipFill rotWithShape="1">
          <a:blip r:embed="rId5">
            <a:alphaModFix/>
          </a:blip>
          <a:srcRect b="0" l="0" r="0" t="0"/>
          <a:stretch/>
        </p:blipFill>
        <p:spPr>
          <a:xfrm>
            <a:off x="564386" y="4844072"/>
            <a:ext cx="1661450" cy="1329858"/>
          </a:xfrm>
          <a:prstGeom prst="rect">
            <a:avLst/>
          </a:prstGeom>
          <a:noFill/>
          <a:ln>
            <a:noFill/>
          </a:ln>
        </p:spPr>
      </p:pic>
      <p:sp>
        <p:nvSpPr>
          <p:cNvPr id="347" name="Google Shape;347;g3d49611c445_1_12"/>
          <p:cNvSpPr txBox="1"/>
          <p:nvPr/>
        </p:nvSpPr>
        <p:spPr>
          <a:xfrm>
            <a:off x="512205" y="832752"/>
            <a:ext cx="254522" cy="307777"/>
          </a:xfrm>
          <a:prstGeom prst="rect">
            <a:avLst/>
          </a:prstGeom>
          <a:blipFill rotWithShape="1">
            <a:blip r:embed="rId6">
              <a:alphaModFix/>
            </a:blip>
            <a:stretch>
              <a:fillRect b="-16000" l="-30951" r="-11906"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grpSp>
        <p:nvGrpSpPr>
          <p:cNvPr id="348" name="Google Shape;348;g3d49611c445_1_12"/>
          <p:cNvGrpSpPr/>
          <p:nvPr/>
        </p:nvGrpSpPr>
        <p:grpSpPr>
          <a:xfrm>
            <a:off x="9476095" y="3156214"/>
            <a:ext cx="966415" cy="244438"/>
            <a:chOff x="7575923" y="2916138"/>
            <a:chExt cx="981995" cy="230250"/>
          </a:xfrm>
        </p:grpSpPr>
        <p:sp>
          <p:nvSpPr>
            <p:cNvPr id="349" name="Google Shape;349;g3d49611c445_1_12"/>
            <p:cNvSpPr/>
            <p:nvPr/>
          </p:nvSpPr>
          <p:spPr>
            <a:xfrm>
              <a:off x="7575923" y="2918486"/>
              <a:ext cx="245656" cy="227902"/>
            </a:xfrm>
            <a:prstGeom prst="cube">
              <a:avLst>
                <a:gd fmla="val 61221" name="adj"/>
              </a:avLst>
            </a:prstGeom>
            <a:solidFill>
              <a:srgbClr val="8DA9DB"/>
            </a:solidFill>
            <a:ln cap="flat" cmpd="sng" w="9525">
              <a:solidFill>
                <a:srgbClr val="2F549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0" name="Google Shape;350;g3d49611c445_1_12"/>
            <p:cNvSpPr/>
            <p:nvPr/>
          </p:nvSpPr>
          <p:spPr>
            <a:xfrm>
              <a:off x="7721117" y="2917867"/>
              <a:ext cx="245656" cy="227902"/>
            </a:xfrm>
            <a:prstGeom prst="cube">
              <a:avLst>
                <a:gd fmla="val 61221" name="adj"/>
              </a:avLst>
            </a:prstGeom>
            <a:solidFill>
              <a:srgbClr val="8DA9DB"/>
            </a:solidFill>
            <a:ln cap="flat" cmpd="sng" w="9525">
              <a:solidFill>
                <a:srgbClr val="2F549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1" name="Google Shape;351;g3d49611c445_1_12"/>
            <p:cNvSpPr/>
            <p:nvPr/>
          </p:nvSpPr>
          <p:spPr>
            <a:xfrm>
              <a:off x="7865637" y="2917377"/>
              <a:ext cx="245656" cy="227902"/>
            </a:xfrm>
            <a:prstGeom prst="cube">
              <a:avLst>
                <a:gd fmla="val 61221" name="adj"/>
              </a:avLst>
            </a:prstGeom>
            <a:solidFill>
              <a:srgbClr val="8DA9DB"/>
            </a:solidFill>
            <a:ln cap="flat" cmpd="sng" w="9525">
              <a:solidFill>
                <a:srgbClr val="2F549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2" name="Google Shape;352;g3d49611c445_1_12"/>
            <p:cNvSpPr/>
            <p:nvPr/>
          </p:nvSpPr>
          <p:spPr>
            <a:xfrm>
              <a:off x="8011683" y="2917377"/>
              <a:ext cx="245656" cy="227902"/>
            </a:xfrm>
            <a:prstGeom prst="cube">
              <a:avLst>
                <a:gd fmla="val 61221" name="adj"/>
              </a:avLst>
            </a:prstGeom>
            <a:solidFill>
              <a:srgbClr val="8DA9DB"/>
            </a:solidFill>
            <a:ln cap="flat" cmpd="sng" w="9525">
              <a:solidFill>
                <a:srgbClr val="2F549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3" name="Google Shape;353;g3d49611c445_1_12"/>
            <p:cNvSpPr/>
            <p:nvPr/>
          </p:nvSpPr>
          <p:spPr>
            <a:xfrm>
              <a:off x="8163610" y="2916757"/>
              <a:ext cx="245656" cy="227902"/>
            </a:xfrm>
            <a:prstGeom prst="cube">
              <a:avLst>
                <a:gd fmla="val 61221" name="adj"/>
              </a:avLst>
            </a:prstGeom>
            <a:solidFill>
              <a:srgbClr val="8DA9DB"/>
            </a:solidFill>
            <a:ln cap="flat" cmpd="sng" w="9525">
              <a:solidFill>
                <a:srgbClr val="2F549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4" name="Google Shape;354;g3d49611c445_1_12"/>
            <p:cNvSpPr/>
            <p:nvPr/>
          </p:nvSpPr>
          <p:spPr>
            <a:xfrm>
              <a:off x="8312262" y="2916138"/>
              <a:ext cx="245656" cy="227902"/>
            </a:xfrm>
            <a:prstGeom prst="cube">
              <a:avLst>
                <a:gd fmla="val 61221" name="adj"/>
              </a:avLst>
            </a:prstGeom>
            <a:solidFill>
              <a:srgbClr val="8DA9DB"/>
            </a:solidFill>
            <a:ln cap="flat" cmpd="sng" w="9525">
              <a:solidFill>
                <a:srgbClr val="2F549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355" name="Google Shape;355;g3d49611c445_1_12"/>
          <p:cNvGrpSpPr/>
          <p:nvPr/>
        </p:nvGrpSpPr>
        <p:grpSpPr>
          <a:xfrm>
            <a:off x="10564705" y="3152474"/>
            <a:ext cx="966415" cy="244438"/>
            <a:chOff x="7575923" y="2916138"/>
            <a:chExt cx="981995" cy="230250"/>
          </a:xfrm>
        </p:grpSpPr>
        <p:sp>
          <p:nvSpPr>
            <p:cNvPr id="356" name="Google Shape;356;g3d49611c445_1_12"/>
            <p:cNvSpPr/>
            <p:nvPr/>
          </p:nvSpPr>
          <p:spPr>
            <a:xfrm>
              <a:off x="7575923" y="2918486"/>
              <a:ext cx="245656" cy="227902"/>
            </a:xfrm>
            <a:prstGeom prst="cube">
              <a:avLst>
                <a:gd fmla="val 61221" name="adj"/>
              </a:avLst>
            </a:prstGeom>
            <a:solidFill>
              <a:srgbClr val="A8D08C"/>
            </a:solidFill>
            <a:ln cap="flat" cmpd="sng" w="9525">
              <a:solidFill>
                <a:srgbClr val="5481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7" name="Google Shape;357;g3d49611c445_1_12"/>
            <p:cNvSpPr/>
            <p:nvPr/>
          </p:nvSpPr>
          <p:spPr>
            <a:xfrm>
              <a:off x="7721117" y="2917867"/>
              <a:ext cx="245656" cy="227902"/>
            </a:xfrm>
            <a:prstGeom prst="cube">
              <a:avLst>
                <a:gd fmla="val 61221" name="adj"/>
              </a:avLst>
            </a:prstGeom>
            <a:solidFill>
              <a:srgbClr val="A8D08C"/>
            </a:solidFill>
            <a:ln cap="flat" cmpd="sng" w="9525">
              <a:solidFill>
                <a:srgbClr val="5481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8" name="Google Shape;358;g3d49611c445_1_12"/>
            <p:cNvSpPr/>
            <p:nvPr/>
          </p:nvSpPr>
          <p:spPr>
            <a:xfrm>
              <a:off x="7865637" y="2917377"/>
              <a:ext cx="245656" cy="227902"/>
            </a:xfrm>
            <a:prstGeom prst="cube">
              <a:avLst>
                <a:gd fmla="val 61221" name="adj"/>
              </a:avLst>
            </a:prstGeom>
            <a:solidFill>
              <a:srgbClr val="A8D08C"/>
            </a:solidFill>
            <a:ln cap="flat" cmpd="sng" w="9525">
              <a:solidFill>
                <a:srgbClr val="5481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9" name="Google Shape;359;g3d49611c445_1_12"/>
            <p:cNvSpPr/>
            <p:nvPr/>
          </p:nvSpPr>
          <p:spPr>
            <a:xfrm>
              <a:off x="8011683" y="2917377"/>
              <a:ext cx="245656" cy="227902"/>
            </a:xfrm>
            <a:prstGeom prst="cube">
              <a:avLst>
                <a:gd fmla="val 61221" name="adj"/>
              </a:avLst>
            </a:prstGeom>
            <a:solidFill>
              <a:srgbClr val="A8D08C"/>
            </a:solidFill>
            <a:ln cap="flat" cmpd="sng" w="9525">
              <a:solidFill>
                <a:srgbClr val="5481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0" name="Google Shape;360;g3d49611c445_1_12"/>
            <p:cNvSpPr/>
            <p:nvPr/>
          </p:nvSpPr>
          <p:spPr>
            <a:xfrm>
              <a:off x="8163610" y="2916757"/>
              <a:ext cx="245656" cy="227902"/>
            </a:xfrm>
            <a:prstGeom prst="cube">
              <a:avLst>
                <a:gd fmla="val 61221" name="adj"/>
              </a:avLst>
            </a:prstGeom>
            <a:solidFill>
              <a:srgbClr val="A8D08C"/>
            </a:solidFill>
            <a:ln cap="flat" cmpd="sng" w="9525">
              <a:solidFill>
                <a:srgbClr val="5481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1" name="Google Shape;361;g3d49611c445_1_12"/>
            <p:cNvSpPr/>
            <p:nvPr/>
          </p:nvSpPr>
          <p:spPr>
            <a:xfrm>
              <a:off x="8312262" y="2916138"/>
              <a:ext cx="245656" cy="227902"/>
            </a:xfrm>
            <a:prstGeom prst="cube">
              <a:avLst>
                <a:gd fmla="val 61221" name="adj"/>
              </a:avLst>
            </a:prstGeom>
            <a:solidFill>
              <a:srgbClr val="A8D08C"/>
            </a:solidFill>
            <a:ln cap="flat" cmpd="sng" w="9525">
              <a:solidFill>
                <a:srgbClr val="5481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362" name="Google Shape;362;g3d49611c445_1_12"/>
          <p:cNvSpPr/>
          <p:nvPr/>
        </p:nvSpPr>
        <p:spPr>
          <a:xfrm>
            <a:off x="9559659" y="4109650"/>
            <a:ext cx="1018974" cy="395019"/>
          </a:xfrm>
          <a:prstGeom prst="roundRect">
            <a:avLst>
              <a:gd fmla="val 16667" name="adj"/>
            </a:avLst>
          </a:prstGeom>
          <a:solidFill>
            <a:srgbClr val="D8D8D8"/>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Decoder</a:t>
            </a:r>
            <a:endParaRPr b="0" i="0" sz="1400" u="none" cap="none" strike="noStrike">
              <a:solidFill>
                <a:schemeClr val="dk1"/>
              </a:solidFill>
              <a:latin typeface="Arial"/>
              <a:ea typeface="Arial"/>
              <a:cs typeface="Arial"/>
              <a:sym typeface="Arial"/>
            </a:endParaRPr>
          </a:p>
        </p:txBody>
      </p:sp>
      <p:pic>
        <p:nvPicPr>
          <p:cNvPr id="363" name="Google Shape;363;g3d49611c445_1_12"/>
          <p:cNvPicPr preferRelativeResize="0"/>
          <p:nvPr/>
        </p:nvPicPr>
        <p:blipFill rotWithShape="1">
          <a:blip r:embed="rId5">
            <a:alphaModFix/>
          </a:blip>
          <a:srcRect b="22743" l="0" r="0" t="0"/>
          <a:stretch/>
        </p:blipFill>
        <p:spPr>
          <a:xfrm>
            <a:off x="9285492" y="5146514"/>
            <a:ext cx="1661450" cy="1027416"/>
          </a:xfrm>
          <a:prstGeom prst="rect">
            <a:avLst/>
          </a:prstGeom>
          <a:noFill/>
          <a:ln>
            <a:noFill/>
          </a:ln>
        </p:spPr>
      </p:pic>
      <p:sp>
        <p:nvSpPr>
          <p:cNvPr id="364" name="Google Shape;364;g3d49611c445_1_12"/>
          <p:cNvSpPr txBox="1"/>
          <p:nvPr/>
        </p:nvSpPr>
        <p:spPr>
          <a:xfrm>
            <a:off x="9099209" y="4850290"/>
            <a:ext cx="201849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&lt; Human Ride Horse&gt;</a:t>
            </a:r>
            <a:endParaRPr b="0" i="0" sz="1400" u="none" cap="none" strike="noStrike">
              <a:solidFill>
                <a:srgbClr val="000000"/>
              </a:solidFill>
              <a:latin typeface="Arial"/>
              <a:ea typeface="Arial"/>
              <a:cs typeface="Arial"/>
              <a:sym typeface="Arial"/>
            </a:endParaRPr>
          </a:p>
        </p:txBody>
      </p:sp>
      <p:cxnSp>
        <p:nvCxnSpPr>
          <p:cNvPr id="365" name="Google Shape;365;g3d49611c445_1_12"/>
          <p:cNvCxnSpPr/>
          <p:nvPr/>
        </p:nvCxnSpPr>
        <p:spPr>
          <a:xfrm flipH="1">
            <a:off x="10023535" y="4506051"/>
            <a:ext cx="827" cy="343065"/>
          </a:xfrm>
          <a:prstGeom prst="straightConnector1">
            <a:avLst/>
          </a:prstGeom>
          <a:noFill/>
          <a:ln cap="flat" cmpd="sng" w="28575">
            <a:solidFill>
              <a:schemeClr val="dk1"/>
            </a:solidFill>
            <a:prstDash val="solid"/>
            <a:round/>
            <a:headEnd len="sm" w="sm" type="none"/>
            <a:tailEnd len="med" w="med" type="triangle"/>
          </a:ln>
        </p:spPr>
      </p:cxnSp>
      <p:cxnSp>
        <p:nvCxnSpPr>
          <p:cNvPr id="366" name="Google Shape;366;g3d49611c445_1_12"/>
          <p:cNvCxnSpPr/>
          <p:nvPr/>
        </p:nvCxnSpPr>
        <p:spPr>
          <a:xfrm flipH="1">
            <a:off x="9998746" y="3692769"/>
            <a:ext cx="4225" cy="391445"/>
          </a:xfrm>
          <a:prstGeom prst="straightConnector1">
            <a:avLst/>
          </a:prstGeom>
          <a:noFill/>
          <a:ln cap="flat" cmpd="sng" w="28575">
            <a:solidFill>
              <a:schemeClr val="dk1"/>
            </a:solidFill>
            <a:prstDash val="solid"/>
            <a:round/>
            <a:headEnd len="sm" w="sm" type="none"/>
            <a:tailEnd len="med" w="med" type="triangle"/>
          </a:ln>
        </p:spPr>
      </p:cxnSp>
      <p:cxnSp>
        <p:nvCxnSpPr>
          <p:cNvPr id="367" name="Google Shape;367;g3d49611c445_1_12"/>
          <p:cNvCxnSpPr>
            <a:endCxn id="362" idx="1"/>
          </p:cNvCxnSpPr>
          <p:nvPr/>
        </p:nvCxnSpPr>
        <p:spPr>
          <a:xfrm>
            <a:off x="8627259" y="3692760"/>
            <a:ext cx="932400" cy="614400"/>
          </a:xfrm>
          <a:prstGeom prst="bentConnector3">
            <a:avLst>
              <a:gd fmla="val 960" name="adj1"/>
            </a:avLst>
          </a:prstGeom>
          <a:noFill/>
          <a:ln cap="flat" cmpd="sng" w="28575">
            <a:solidFill>
              <a:schemeClr val="dk1"/>
            </a:solidFill>
            <a:prstDash val="solid"/>
            <a:round/>
            <a:headEnd len="sm" w="sm" type="none"/>
            <a:tailEnd len="med" w="med" type="triangle"/>
          </a:ln>
        </p:spPr>
      </p:cxnSp>
      <p:cxnSp>
        <p:nvCxnSpPr>
          <p:cNvPr id="368" name="Google Shape;368;g3d49611c445_1_12"/>
          <p:cNvCxnSpPr>
            <a:endCxn id="362" idx="3"/>
          </p:cNvCxnSpPr>
          <p:nvPr/>
        </p:nvCxnSpPr>
        <p:spPr>
          <a:xfrm rot="5400000">
            <a:off x="10553583" y="3717810"/>
            <a:ext cx="614400" cy="564300"/>
          </a:xfrm>
          <a:prstGeom prst="bentConnector2">
            <a:avLst/>
          </a:prstGeom>
          <a:noFill/>
          <a:ln cap="flat" cmpd="sng" w="28575">
            <a:solidFill>
              <a:schemeClr val="dk1"/>
            </a:solidFill>
            <a:prstDash val="solid"/>
            <a:round/>
            <a:headEnd len="sm" w="sm" type="none"/>
            <a:tailEnd len="med" w="med" type="triangle"/>
          </a:ln>
        </p:spPr>
      </p:cxnSp>
      <p:cxnSp>
        <p:nvCxnSpPr>
          <p:cNvPr id="369" name="Google Shape;369;g3d49611c445_1_12"/>
          <p:cNvCxnSpPr/>
          <p:nvPr/>
        </p:nvCxnSpPr>
        <p:spPr>
          <a:xfrm flipH="1">
            <a:off x="11128479" y="2689506"/>
            <a:ext cx="4225" cy="391445"/>
          </a:xfrm>
          <a:prstGeom prst="straightConnector1">
            <a:avLst/>
          </a:prstGeom>
          <a:noFill/>
          <a:ln cap="flat" cmpd="sng" w="28575">
            <a:solidFill>
              <a:schemeClr val="dk1"/>
            </a:solidFill>
            <a:prstDash val="dash"/>
            <a:round/>
            <a:headEnd len="sm" w="sm" type="none"/>
            <a:tailEnd len="med" w="med" type="triangle"/>
          </a:ln>
        </p:spPr>
      </p:cxnSp>
      <p:sp>
        <p:nvSpPr>
          <p:cNvPr id="370" name="Google Shape;370;g3d49611c445_1_12"/>
          <p:cNvSpPr txBox="1"/>
          <p:nvPr/>
        </p:nvSpPr>
        <p:spPr>
          <a:xfrm>
            <a:off x="11034839" y="2381142"/>
            <a:ext cx="254522" cy="307777"/>
          </a:xfrm>
          <a:prstGeom prst="rect">
            <a:avLst/>
          </a:prstGeom>
          <a:blipFill rotWithShape="1">
            <a:blip r:embed="rId7">
              <a:alphaModFix/>
            </a:blip>
            <a:stretch>
              <a:fillRect b="-16000" l="-30951" r="-11906"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sp>
        <p:nvSpPr>
          <p:cNvPr id="371" name="Google Shape;371;g3d49611c445_1_12"/>
          <p:cNvSpPr txBox="1"/>
          <p:nvPr/>
        </p:nvSpPr>
        <p:spPr>
          <a:xfrm>
            <a:off x="9672477" y="2353608"/>
            <a:ext cx="254522" cy="307777"/>
          </a:xfrm>
          <a:prstGeom prst="rect">
            <a:avLst/>
          </a:prstGeom>
          <a:blipFill rotWithShape="1">
            <a:blip r:embed="rId8">
              <a:alphaModFix/>
            </a:blip>
            <a:stretch>
              <a:fillRect b="-13726" l="-34147" r="-14634"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cxnSp>
        <p:nvCxnSpPr>
          <p:cNvPr id="372" name="Google Shape;372;g3d49611c445_1_12"/>
          <p:cNvCxnSpPr/>
          <p:nvPr/>
        </p:nvCxnSpPr>
        <p:spPr>
          <a:xfrm flipH="1">
            <a:off x="9772854" y="2683274"/>
            <a:ext cx="4225" cy="391445"/>
          </a:xfrm>
          <a:prstGeom prst="straightConnector1">
            <a:avLst/>
          </a:prstGeom>
          <a:noFill/>
          <a:ln cap="flat" cmpd="sng" w="28575">
            <a:solidFill>
              <a:schemeClr val="dk1"/>
            </a:solidFill>
            <a:prstDash val="dash"/>
            <a:round/>
            <a:headEnd len="sm" w="sm" type="none"/>
            <a:tailEnd len="med" w="med" type="triangle"/>
          </a:ln>
        </p:spPr>
      </p:cxnSp>
      <p:cxnSp>
        <p:nvCxnSpPr>
          <p:cNvPr id="373" name="Google Shape;373;g3d49611c445_1_12"/>
          <p:cNvCxnSpPr/>
          <p:nvPr/>
        </p:nvCxnSpPr>
        <p:spPr>
          <a:xfrm flipH="1">
            <a:off x="10239565" y="2695847"/>
            <a:ext cx="4225" cy="391445"/>
          </a:xfrm>
          <a:prstGeom prst="straightConnector1">
            <a:avLst/>
          </a:prstGeom>
          <a:noFill/>
          <a:ln cap="flat" cmpd="sng" w="28575">
            <a:solidFill>
              <a:schemeClr val="dk1"/>
            </a:solidFill>
            <a:prstDash val="dash"/>
            <a:round/>
            <a:headEnd len="sm" w="sm" type="none"/>
            <a:tailEnd len="med" w="med" type="triangle"/>
          </a:ln>
        </p:spPr>
      </p:cxnSp>
      <p:cxnSp>
        <p:nvCxnSpPr>
          <p:cNvPr id="374" name="Google Shape;374;g3d49611c445_1_12"/>
          <p:cNvCxnSpPr/>
          <p:nvPr/>
        </p:nvCxnSpPr>
        <p:spPr>
          <a:xfrm rot="10800000">
            <a:off x="1344016" y="1407465"/>
            <a:ext cx="0" cy="583529"/>
          </a:xfrm>
          <a:prstGeom prst="straightConnector1">
            <a:avLst/>
          </a:prstGeom>
          <a:noFill/>
          <a:ln cap="flat" cmpd="sng" w="28575">
            <a:solidFill>
              <a:schemeClr val="dk1"/>
            </a:solidFill>
            <a:prstDash val="solid"/>
            <a:round/>
            <a:headEnd len="sm" w="sm" type="none"/>
            <a:tailEnd len="med" w="med" type="triangle"/>
          </a:ln>
        </p:spPr>
      </p:cxnSp>
      <p:grpSp>
        <p:nvGrpSpPr>
          <p:cNvPr id="375" name="Google Shape;375;g3d49611c445_1_12"/>
          <p:cNvGrpSpPr/>
          <p:nvPr/>
        </p:nvGrpSpPr>
        <p:grpSpPr>
          <a:xfrm>
            <a:off x="871040" y="3402008"/>
            <a:ext cx="966415" cy="244438"/>
            <a:chOff x="7575923" y="2916138"/>
            <a:chExt cx="981995" cy="230250"/>
          </a:xfrm>
        </p:grpSpPr>
        <p:sp>
          <p:nvSpPr>
            <p:cNvPr id="376" name="Google Shape;376;g3d49611c445_1_12"/>
            <p:cNvSpPr/>
            <p:nvPr/>
          </p:nvSpPr>
          <p:spPr>
            <a:xfrm>
              <a:off x="7575923" y="2918486"/>
              <a:ext cx="245656" cy="227902"/>
            </a:xfrm>
            <a:prstGeom prst="cube">
              <a:avLst>
                <a:gd fmla="val 61221" name="adj"/>
              </a:avLst>
            </a:prstGeom>
            <a:solidFill>
              <a:srgbClr val="BFBFBF"/>
            </a:solidFill>
            <a:ln cap="flat" cmpd="sng" w="9525">
              <a:solidFill>
                <a:srgbClr val="2626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7" name="Google Shape;377;g3d49611c445_1_12"/>
            <p:cNvSpPr/>
            <p:nvPr/>
          </p:nvSpPr>
          <p:spPr>
            <a:xfrm>
              <a:off x="7721117" y="2917867"/>
              <a:ext cx="245656" cy="227902"/>
            </a:xfrm>
            <a:prstGeom prst="cube">
              <a:avLst>
                <a:gd fmla="val 61221" name="adj"/>
              </a:avLst>
            </a:prstGeom>
            <a:solidFill>
              <a:srgbClr val="BFBFBF"/>
            </a:solidFill>
            <a:ln cap="flat" cmpd="sng" w="9525">
              <a:solidFill>
                <a:srgbClr val="2626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8" name="Google Shape;378;g3d49611c445_1_12"/>
            <p:cNvSpPr/>
            <p:nvPr/>
          </p:nvSpPr>
          <p:spPr>
            <a:xfrm>
              <a:off x="7865637" y="2917377"/>
              <a:ext cx="245656" cy="227902"/>
            </a:xfrm>
            <a:prstGeom prst="cube">
              <a:avLst>
                <a:gd fmla="val 61221" name="adj"/>
              </a:avLst>
            </a:prstGeom>
            <a:solidFill>
              <a:srgbClr val="BFBFBF"/>
            </a:solidFill>
            <a:ln cap="flat" cmpd="sng" w="9525">
              <a:solidFill>
                <a:srgbClr val="2626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9" name="Google Shape;379;g3d49611c445_1_12"/>
            <p:cNvSpPr/>
            <p:nvPr/>
          </p:nvSpPr>
          <p:spPr>
            <a:xfrm>
              <a:off x="8011683" y="2917377"/>
              <a:ext cx="245656" cy="227902"/>
            </a:xfrm>
            <a:prstGeom prst="cube">
              <a:avLst>
                <a:gd fmla="val 61221" name="adj"/>
              </a:avLst>
            </a:prstGeom>
            <a:solidFill>
              <a:srgbClr val="BFBFBF"/>
            </a:solidFill>
            <a:ln cap="flat" cmpd="sng" w="9525">
              <a:solidFill>
                <a:srgbClr val="2626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0" name="Google Shape;380;g3d49611c445_1_12"/>
            <p:cNvSpPr/>
            <p:nvPr/>
          </p:nvSpPr>
          <p:spPr>
            <a:xfrm>
              <a:off x="8163610" y="2916757"/>
              <a:ext cx="245656" cy="227902"/>
            </a:xfrm>
            <a:prstGeom prst="cube">
              <a:avLst>
                <a:gd fmla="val 61221" name="adj"/>
              </a:avLst>
            </a:prstGeom>
            <a:solidFill>
              <a:srgbClr val="BFBFBF"/>
            </a:solidFill>
            <a:ln cap="flat" cmpd="sng" w="9525">
              <a:solidFill>
                <a:srgbClr val="2626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1" name="Google Shape;381;g3d49611c445_1_12"/>
            <p:cNvSpPr/>
            <p:nvPr/>
          </p:nvSpPr>
          <p:spPr>
            <a:xfrm>
              <a:off x="8312262" y="2916138"/>
              <a:ext cx="245656" cy="227902"/>
            </a:xfrm>
            <a:prstGeom prst="cube">
              <a:avLst>
                <a:gd fmla="val 61221" name="adj"/>
              </a:avLst>
            </a:prstGeom>
            <a:solidFill>
              <a:srgbClr val="BFBFBF"/>
            </a:solidFill>
            <a:ln cap="flat" cmpd="sng" w="9525">
              <a:solidFill>
                <a:srgbClr val="2626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382" name="Google Shape;382;g3d49611c445_1_12"/>
          <p:cNvGrpSpPr/>
          <p:nvPr/>
        </p:nvGrpSpPr>
        <p:grpSpPr>
          <a:xfrm>
            <a:off x="880914" y="1119405"/>
            <a:ext cx="966415" cy="244438"/>
            <a:chOff x="7575923" y="2916138"/>
            <a:chExt cx="981995" cy="230250"/>
          </a:xfrm>
        </p:grpSpPr>
        <p:sp>
          <p:nvSpPr>
            <p:cNvPr id="383" name="Google Shape;383;g3d49611c445_1_12"/>
            <p:cNvSpPr/>
            <p:nvPr/>
          </p:nvSpPr>
          <p:spPr>
            <a:xfrm>
              <a:off x="7575923" y="2918486"/>
              <a:ext cx="245656" cy="227902"/>
            </a:xfrm>
            <a:prstGeom prst="cube">
              <a:avLst>
                <a:gd fmla="val 61221" name="adj"/>
              </a:avLst>
            </a:prstGeom>
            <a:solidFill>
              <a:srgbClr val="FFD966"/>
            </a:solidFill>
            <a:ln cap="flat" cmpd="sng" w="9525">
              <a:solidFill>
                <a:srgbClr val="7F6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4" name="Google Shape;384;g3d49611c445_1_12"/>
            <p:cNvSpPr/>
            <p:nvPr/>
          </p:nvSpPr>
          <p:spPr>
            <a:xfrm>
              <a:off x="7721117" y="2917867"/>
              <a:ext cx="245656" cy="227902"/>
            </a:xfrm>
            <a:prstGeom prst="cube">
              <a:avLst>
                <a:gd fmla="val 61221" name="adj"/>
              </a:avLst>
            </a:prstGeom>
            <a:solidFill>
              <a:srgbClr val="FFD966"/>
            </a:solidFill>
            <a:ln cap="flat" cmpd="sng" w="9525">
              <a:solidFill>
                <a:srgbClr val="7F6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5" name="Google Shape;385;g3d49611c445_1_12"/>
            <p:cNvSpPr/>
            <p:nvPr/>
          </p:nvSpPr>
          <p:spPr>
            <a:xfrm>
              <a:off x="7865637" y="2917377"/>
              <a:ext cx="245656" cy="227902"/>
            </a:xfrm>
            <a:prstGeom prst="cube">
              <a:avLst>
                <a:gd fmla="val 61221" name="adj"/>
              </a:avLst>
            </a:prstGeom>
            <a:solidFill>
              <a:srgbClr val="FFD966"/>
            </a:solidFill>
            <a:ln cap="flat" cmpd="sng" w="9525">
              <a:solidFill>
                <a:srgbClr val="7F6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6" name="Google Shape;386;g3d49611c445_1_12"/>
            <p:cNvSpPr/>
            <p:nvPr/>
          </p:nvSpPr>
          <p:spPr>
            <a:xfrm>
              <a:off x="8011683" y="2917377"/>
              <a:ext cx="245656" cy="227902"/>
            </a:xfrm>
            <a:prstGeom prst="cube">
              <a:avLst>
                <a:gd fmla="val 61221" name="adj"/>
              </a:avLst>
            </a:prstGeom>
            <a:solidFill>
              <a:srgbClr val="FFD966"/>
            </a:solidFill>
            <a:ln cap="flat" cmpd="sng" w="9525">
              <a:solidFill>
                <a:srgbClr val="7F6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7" name="Google Shape;387;g3d49611c445_1_12"/>
            <p:cNvSpPr/>
            <p:nvPr/>
          </p:nvSpPr>
          <p:spPr>
            <a:xfrm>
              <a:off x="8163610" y="2916757"/>
              <a:ext cx="245656" cy="227902"/>
            </a:xfrm>
            <a:prstGeom prst="cube">
              <a:avLst>
                <a:gd fmla="val 61221" name="adj"/>
              </a:avLst>
            </a:prstGeom>
            <a:solidFill>
              <a:srgbClr val="FFD966"/>
            </a:solidFill>
            <a:ln cap="flat" cmpd="sng" w="9525">
              <a:solidFill>
                <a:srgbClr val="7F6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8" name="Google Shape;388;g3d49611c445_1_12"/>
            <p:cNvSpPr/>
            <p:nvPr/>
          </p:nvSpPr>
          <p:spPr>
            <a:xfrm>
              <a:off x="8312262" y="2916138"/>
              <a:ext cx="245656" cy="227902"/>
            </a:xfrm>
            <a:prstGeom prst="cube">
              <a:avLst>
                <a:gd fmla="val 61221" name="adj"/>
              </a:avLst>
            </a:prstGeom>
            <a:solidFill>
              <a:srgbClr val="FFD966"/>
            </a:solidFill>
            <a:ln cap="flat" cmpd="sng" w="9525">
              <a:solidFill>
                <a:srgbClr val="7F6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389" name="Google Shape;389;g3d49611c445_1_12"/>
          <p:cNvSpPr/>
          <p:nvPr/>
        </p:nvSpPr>
        <p:spPr>
          <a:xfrm>
            <a:off x="2529477" y="904259"/>
            <a:ext cx="1112319" cy="492661"/>
          </a:xfrm>
          <a:prstGeom prst="roundRect">
            <a:avLst>
              <a:gd fmla="val 16667" name="adj"/>
            </a:avLst>
          </a:prstGeom>
          <a:solidFill>
            <a:srgbClr val="D8D8D8"/>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Detection</a:t>
            </a:r>
            <a:endParaRPr b="0" i="0" sz="1400" u="none" cap="none" strike="noStrike">
              <a:solidFill>
                <a:schemeClr val="dk1"/>
              </a:solidFill>
              <a:latin typeface="Arial"/>
              <a:ea typeface="Arial"/>
              <a:cs typeface="Arial"/>
              <a:sym typeface="Arial"/>
            </a:endParaRPr>
          </a:p>
        </p:txBody>
      </p:sp>
      <p:sp>
        <p:nvSpPr>
          <p:cNvPr id="390" name="Google Shape;390;g3d49611c445_1_12"/>
          <p:cNvSpPr/>
          <p:nvPr/>
        </p:nvSpPr>
        <p:spPr>
          <a:xfrm>
            <a:off x="2885092" y="2889235"/>
            <a:ext cx="1112319" cy="492661"/>
          </a:xfrm>
          <a:prstGeom prst="roundRect">
            <a:avLst>
              <a:gd fmla="val 16667" name="adj"/>
            </a:avLst>
          </a:prstGeom>
          <a:solidFill>
            <a:srgbClr val="C4E0B2"/>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Human bbox</a:t>
            </a:r>
            <a:endParaRPr b="0" i="0" sz="1400" u="none" cap="none" strike="noStrike">
              <a:solidFill>
                <a:schemeClr val="dk1"/>
              </a:solidFill>
              <a:latin typeface="Arial"/>
              <a:ea typeface="Arial"/>
              <a:cs typeface="Arial"/>
              <a:sym typeface="Arial"/>
            </a:endParaRPr>
          </a:p>
        </p:txBody>
      </p:sp>
      <p:cxnSp>
        <p:nvCxnSpPr>
          <p:cNvPr id="391" name="Google Shape;391;g3d49611c445_1_12"/>
          <p:cNvCxnSpPr>
            <a:endCxn id="392" idx="1"/>
          </p:cNvCxnSpPr>
          <p:nvPr/>
        </p:nvCxnSpPr>
        <p:spPr>
          <a:xfrm>
            <a:off x="2137044" y="5417812"/>
            <a:ext cx="547500" cy="12000"/>
          </a:xfrm>
          <a:prstGeom prst="straightConnector1">
            <a:avLst/>
          </a:prstGeom>
          <a:noFill/>
          <a:ln cap="flat" cmpd="sng" w="28575">
            <a:solidFill>
              <a:schemeClr val="dk1"/>
            </a:solidFill>
            <a:prstDash val="dot"/>
            <a:round/>
            <a:headEnd len="sm" w="sm" type="none"/>
            <a:tailEnd len="med" w="med" type="triangle"/>
          </a:ln>
        </p:spPr>
      </p:cxnSp>
      <p:sp>
        <p:nvSpPr>
          <p:cNvPr id="393" name="Google Shape;393;g3d49611c445_1_12"/>
          <p:cNvSpPr/>
          <p:nvPr/>
        </p:nvSpPr>
        <p:spPr>
          <a:xfrm>
            <a:off x="2881609" y="1562754"/>
            <a:ext cx="1112319" cy="492661"/>
          </a:xfrm>
          <a:prstGeom prst="roundRect">
            <a:avLst>
              <a:gd fmla="val 16667" name="adj"/>
            </a:avLst>
          </a:prstGeom>
          <a:solidFill>
            <a:srgbClr val="FEE599"/>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Object</a:t>
            </a:r>
            <a:endParaRPr/>
          </a:p>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bbox</a:t>
            </a:r>
            <a:endParaRPr b="0" i="0" sz="1400" u="none" cap="none" strike="noStrike">
              <a:solidFill>
                <a:schemeClr val="dk1"/>
              </a:solidFill>
              <a:latin typeface="Arial"/>
              <a:ea typeface="Arial"/>
              <a:cs typeface="Arial"/>
              <a:sym typeface="Arial"/>
            </a:endParaRPr>
          </a:p>
        </p:txBody>
      </p:sp>
      <p:cxnSp>
        <p:nvCxnSpPr>
          <p:cNvPr id="394" name="Google Shape;394;g3d49611c445_1_12"/>
          <p:cNvCxnSpPr>
            <a:endCxn id="321" idx="1"/>
          </p:cNvCxnSpPr>
          <p:nvPr/>
        </p:nvCxnSpPr>
        <p:spPr>
          <a:xfrm>
            <a:off x="3085563" y="5434442"/>
            <a:ext cx="417900" cy="0"/>
          </a:xfrm>
          <a:prstGeom prst="straightConnector1">
            <a:avLst/>
          </a:prstGeom>
          <a:noFill/>
          <a:ln cap="flat" cmpd="sng" w="28575">
            <a:solidFill>
              <a:schemeClr val="dk1"/>
            </a:solidFill>
            <a:prstDash val="solid"/>
            <a:round/>
            <a:headEnd len="sm" w="sm" type="none"/>
            <a:tailEnd len="med" w="med" type="triangle"/>
          </a:ln>
        </p:spPr>
      </p:cxnSp>
      <p:sp>
        <p:nvSpPr>
          <p:cNvPr descr="Badge Follow outline" id="392" name="Google Shape;392;g3d49611c445_1_12"/>
          <p:cNvSpPr/>
          <p:nvPr/>
        </p:nvSpPr>
        <p:spPr>
          <a:xfrm>
            <a:off x="2684544" y="5229265"/>
            <a:ext cx="401093" cy="401093"/>
          </a:xfrm>
          <a:prstGeom prst="rect">
            <a:avLst/>
          </a:prstGeom>
          <a:noFill/>
          <a:ln>
            <a:noFill/>
          </a:ln>
        </p:spPr>
      </p:sp>
      <p:cxnSp>
        <p:nvCxnSpPr>
          <p:cNvPr id="395" name="Google Shape;395;g3d49611c445_1_12"/>
          <p:cNvCxnSpPr/>
          <p:nvPr/>
        </p:nvCxnSpPr>
        <p:spPr>
          <a:xfrm>
            <a:off x="4828303" y="5436919"/>
            <a:ext cx="551398" cy="0"/>
          </a:xfrm>
          <a:prstGeom prst="straightConnector1">
            <a:avLst/>
          </a:prstGeom>
          <a:noFill/>
          <a:ln cap="flat" cmpd="sng" w="28575">
            <a:solidFill>
              <a:schemeClr val="dk1"/>
            </a:solidFill>
            <a:prstDash val="solid"/>
            <a:round/>
            <a:headEnd len="sm" w="sm" type="none"/>
            <a:tailEnd len="med" w="med" type="triangle"/>
          </a:ln>
        </p:spPr>
      </p:cxnSp>
      <p:sp>
        <p:nvSpPr>
          <p:cNvPr id="396" name="Google Shape;396;g3d49611c445_1_12"/>
          <p:cNvSpPr/>
          <p:nvPr/>
        </p:nvSpPr>
        <p:spPr>
          <a:xfrm>
            <a:off x="7188842" y="5211444"/>
            <a:ext cx="985774" cy="418914"/>
          </a:xfrm>
          <a:prstGeom prst="roundRect">
            <a:avLst>
              <a:gd fmla="val 16667" name="adj"/>
            </a:avLst>
          </a:prstGeom>
          <a:solidFill>
            <a:srgbClr val="D8D8D8"/>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MLP</a:t>
            </a:r>
            <a:endParaRPr b="0" i="0" sz="1400" u="none" cap="none" strike="noStrike">
              <a:solidFill>
                <a:schemeClr val="dk1"/>
              </a:solidFill>
              <a:latin typeface="Arial"/>
              <a:ea typeface="Arial"/>
              <a:cs typeface="Arial"/>
              <a:sym typeface="Arial"/>
            </a:endParaRPr>
          </a:p>
        </p:txBody>
      </p:sp>
      <p:cxnSp>
        <p:nvCxnSpPr>
          <p:cNvPr id="397" name="Google Shape;397;g3d49611c445_1_12"/>
          <p:cNvCxnSpPr/>
          <p:nvPr/>
        </p:nvCxnSpPr>
        <p:spPr>
          <a:xfrm>
            <a:off x="4770756" y="4453904"/>
            <a:ext cx="497035" cy="0"/>
          </a:xfrm>
          <a:prstGeom prst="straightConnector1">
            <a:avLst/>
          </a:prstGeom>
          <a:noFill/>
          <a:ln cap="flat" cmpd="sng" w="28575">
            <a:solidFill>
              <a:schemeClr val="dk1"/>
            </a:solidFill>
            <a:prstDash val="dot"/>
            <a:round/>
            <a:headEnd len="sm" w="sm" type="none"/>
            <a:tailEnd len="med" w="med" type="triangle"/>
          </a:ln>
        </p:spPr>
      </p:cxnSp>
      <p:sp>
        <p:nvSpPr>
          <p:cNvPr id="398" name="Google Shape;398;g3d49611c445_1_12"/>
          <p:cNvSpPr/>
          <p:nvPr/>
        </p:nvSpPr>
        <p:spPr>
          <a:xfrm>
            <a:off x="5267791" y="4208065"/>
            <a:ext cx="945845" cy="451214"/>
          </a:xfrm>
          <a:prstGeom prst="roundRect">
            <a:avLst>
              <a:gd fmla="val 16667" name="adj"/>
            </a:avLst>
          </a:prstGeom>
          <a:solidFill>
            <a:srgbClr val="D8D8D8"/>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MLP</a:t>
            </a:r>
            <a:endParaRPr b="0" i="0" sz="1400" u="none" cap="none" strike="noStrike">
              <a:solidFill>
                <a:schemeClr val="dk1"/>
              </a:solidFill>
              <a:latin typeface="Arial"/>
              <a:ea typeface="Arial"/>
              <a:cs typeface="Arial"/>
              <a:sym typeface="Arial"/>
            </a:endParaRPr>
          </a:p>
        </p:txBody>
      </p:sp>
      <p:cxnSp>
        <p:nvCxnSpPr>
          <p:cNvPr id="399" name="Google Shape;399;g3d49611c445_1_12"/>
          <p:cNvCxnSpPr/>
          <p:nvPr/>
        </p:nvCxnSpPr>
        <p:spPr>
          <a:xfrm>
            <a:off x="6734159" y="5436919"/>
            <a:ext cx="454683" cy="3032"/>
          </a:xfrm>
          <a:prstGeom prst="straightConnector1">
            <a:avLst/>
          </a:prstGeom>
          <a:noFill/>
          <a:ln cap="flat" cmpd="sng" w="28575">
            <a:solidFill>
              <a:schemeClr val="dk1"/>
            </a:solidFill>
            <a:prstDash val="solid"/>
            <a:round/>
            <a:headEnd len="sm" w="sm" type="none"/>
            <a:tailEnd len="med" w="med" type="triangle"/>
          </a:ln>
        </p:spPr>
      </p:cxnSp>
      <p:cxnSp>
        <p:nvCxnSpPr>
          <p:cNvPr id="400" name="Google Shape;400;g3d49611c445_1_12"/>
          <p:cNvCxnSpPr>
            <a:endCxn id="323" idx="1"/>
          </p:cNvCxnSpPr>
          <p:nvPr/>
        </p:nvCxnSpPr>
        <p:spPr>
          <a:xfrm>
            <a:off x="6219474" y="4430665"/>
            <a:ext cx="620700" cy="0"/>
          </a:xfrm>
          <a:prstGeom prst="straightConnector1">
            <a:avLst/>
          </a:prstGeom>
          <a:noFill/>
          <a:ln cap="flat" cmpd="sng" w="28575">
            <a:solidFill>
              <a:schemeClr val="dk1"/>
            </a:solidFill>
            <a:prstDash val="solid"/>
            <a:round/>
            <a:headEnd len="sm" w="sm" type="none"/>
            <a:tailEnd len="med" w="med" type="triangle"/>
          </a:ln>
        </p:spPr>
      </p:cxnSp>
      <p:sp>
        <p:nvSpPr>
          <p:cNvPr id="401" name="Google Shape;401;g3d49611c445_1_12"/>
          <p:cNvSpPr/>
          <p:nvPr/>
        </p:nvSpPr>
        <p:spPr>
          <a:xfrm>
            <a:off x="2369178" y="3687773"/>
            <a:ext cx="6087217" cy="2395256"/>
          </a:xfrm>
          <a:prstGeom prst="rect">
            <a:avLst/>
          </a:prstGeom>
          <a:noFill/>
          <a:ln cap="flat" cmpd="sng" w="25400">
            <a:solidFill>
              <a:srgbClr val="0B5AE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02" name="Google Shape;402;g3d49611c445_1_12"/>
          <p:cNvCxnSpPr>
            <a:stCxn id="390" idx="2"/>
            <a:endCxn id="392" idx="0"/>
          </p:cNvCxnSpPr>
          <p:nvPr/>
        </p:nvCxnSpPr>
        <p:spPr>
          <a:xfrm rot="5400000">
            <a:off x="2239452" y="4027496"/>
            <a:ext cx="1847400" cy="556200"/>
          </a:xfrm>
          <a:prstGeom prst="curvedConnector3">
            <a:avLst>
              <a:gd fmla="val 50000" name="adj1"/>
            </a:avLst>
          </a:prstGeom>
          <a:noFill/>
          <a:ln cap="flat" cmpd="sng" w="28575">
            <a:solidFill>
              <a:srgbClr val="A8D08C"/>
            </a:solidFill>
            <a:prstDash val="dot"/>
            <a:round/>
            <a:headEnd len="sm" w="sm" type="none"/>
            <a:tailEnd len="med" w="med" type="triangle"/>
          </a:ln>
        </p:spPr>
      </p:cxnSp>
      <p:sp>
        <p:nvSpPr>
          <p:cNvPr id="403" name="Google Shape;403;g3d49611c445_1_12"/>
          <p:cNvSpPr/>
          <p:nvPr/>
        </p:nvSpPr>
        <p:spPr>
          <a:xfrm>
            <a:off x="3824910" y="4191930"/>
            <a:ext cx="928719" cy="492661"/>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Object</a:t>
            </a:r>
            <a:endParaRPr/>
          </a:p>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bbox</a:t>
            </a:r>
            <a:endParaRPr b="0" i="0" sz="1400" u="none" cap="none" strike="noStrike">
              <a:solidFill>
                <a:schemeClr val="dk1"/>
              </a:solidFill>
              <a:latin typeface="Arial"/>
              <a:ea typeface="Arial"/>
              <a:cs typeface="Arial"/>
              <a:sym typeface="Arial"/>
            </a:endParaRPr>
          </a:p>
        </p:txBody>
      </p:sp>
      <p:cxnSp>
        <p:nvCxnSpPr>
          <p:cNvPr id="404" name="Google Shape;404;g3d49611c445_1_12"/>
          <p:cNvCxnSpPr>
            <a:endCxn id="393" idx="1"/>
          </p:cNvCxnSpPr>
          <p:nvPr/>
        </p:nvCxnSpPr>
        <p:spPr>
          <a:xfrm flipH="1" rot="-5400000">
            <a:off x="2578009" y="1505485"/>
            <a:ext cx="423600" cy="183600"/>
          </a:xfrm>
          <a:prstGeom prst="bentConnector2">
            <a:avLst/>
          </a:prstGeom>
          <a:noFill/>
          <a:ln cap="flat" cmpd="sng" w="28575">
            <a:solidFill>
              <a:schemeClr val="dk1"/>
            </a:solidFill>
            <a:prstDash val="solid"/>
            <a:round/>
            <a:headEnd len="sm" w="sm" type="none"/>
            <a:tailEnd len="med" w="med" type="triangle"/>
          </a:ln>
        </p:spPr>
      </p:cxnSp>
      <p:sp>
        <p:nvSpPr>
          <p:cNvPr id="405" name="Google Shape;405;g3d49611c445_1_12"/>
          <p:cNvSpPr/>
          <p:nvPr/>
        </p:nvSpPr>
        <p:spPr>
          <a:xfrm>
            <a:off x="4496232" y="1570135"/>
            <a:ext cx="1486405" cy="1855862"/>
          </a:xfrm>
          <a:prstGeom prst="roundRect">
            <a:avLst>
              <a:gd fmla="val 16667" name="adj"/>
            </a:avLst>
          </a:prstGeom>
          <a:solidFill>
            <a:srgbClr val="EDABE5"/>
          </a:solidFill>
          <a:ln cap="flat" cmpd="sng" w="25400">
            <a:solidFill>
              <a:srgbClr val="7030A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Human Object matcher</a:t>
            </a:r>
            <a:endParaRPr b="0" i="0" sz="1400" u="none" cap="none" strike="noStrike">
              <a:solidFill>
                <a:schemeClr val="dk1"/>
              </a:solidFill>
              <a:latin typeface="Arial"/>
              <a:ea typeface="Arial"/>
              <a:cs typeface="Arial"/>
              <a:sym typeface="Arial"/>
            </a:endParaRPr>
          </a:p>
        </p:txBody>
      </p:sp>
      <p:cxnSp>
        <p:nvCxnSpPr>
          <p:cNvPr id="406" name="Google Shape;406;g3d49611c445_1_12"/>
          <p:cNvCxnSpPr>
            <a:stCxn id="323" idx="0"/>
            <a:endCxn id="337" idx="0"/>
          </p:cNvCxnSpPr>
          <p:nvPr/>
        </p:nvCxnSpPr>
        <p:spPr>
          <a:xfrm rot="-5400000">
            <a:off x="7610314" y="3175469"/>
            <a:ext cx="967200" cy="928800"/>
          </a:xfrm>
          <a:prstGeom prst="curvedConnector3">
            <a:avLst>
              <a:gd fmla="val 123641" name="adj1"/>
            </a:avLst>
          </a:prstGeom>
          <a:noFill/>
          <a:ln cap="flat" cmpd="sng" w="28575">
            <a:solidFill>
              <a:schemeClr val="dk1"/>
            </a:solidFill>
            <a:prstDash val="solid"/>
            <a:round/>
            <a:headEnd len="sm" w="sm" type="none"/>
            <a:tailEnd len="med" w="med" type="triangle"/>
          </a:ln>
        </p:spPr>
      </p:cxnSp>
      <p:sp>
        <p:nvSpPr>
          <p:cNvPr id="407" name="Google Shape;407;g3d49611c445_1_12"/>
          <p:cNvSpPr txBox="1"/>
          <p:nvPr/>
        </p:nvSpPr>
        <p:spPr>
          <a:xfrm>
            <a:off x="6509741" y="1639083"/>
            <a:ext cx="254522" cy="307777"/>
          </a:xfrm>
          <a:prstGeom prst="rect">
            <a:avLst/>
          </a:prstGeom>
          <a:blipFill rotWithShape="1">
            <a:blip r:embed="rId9">
              <a:alphaModFix/>
            </a:blip>
            <a:stretch>
              <a:fillRect b="-16000" l="-33334" r="-1190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sp>
        <p:nvSpPr>
          <p:cNvPr id="408" name="Google Shape;408;g3d49611c445_1_12"/>
          <p:cNvSpPr txBox="1"/>
          <p:nvPr/>
        </p:nvSpPr>
        <p:spPr>
          <a:xfrm>
            <a:off x="7948125" y="2306803"/>
            <a:ext cx="579192" cy="307777"/>
          </a:xfrm>
          <a:prstGeom prst="rect">
            <a:avLst/>
          </a:prstGeom>
          <a:blipFill rotWithShape="1">
            <a:blip r:embed="rId10">
              <a:alphaModFix/>
            </a:blip>
            <a:stretch>
              <a:fillRect b="-27450" l="-9474" r="-10526"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sp>
        <p:nvSpPr>
          <p:cNvPr id="409" name="Google Shape;409;g3d49611c445_1_12"/>
          <p:cNvSpPr/>
          <p:nvPr/>
        </p:nvSpPr>
        <p:spPr>
          <a:xfrm>
            <a:off x="2381350" y="774971"/>
            <a:ext cx="4584588" cy="2746475"/>
          </a:xfrm>
          <a:prstGeom prst="rect">
            <a:avLst/>
          </a:prstGeom>
          <a:noFill/>
          <a:ln cap="flat" cmpd="sng" w="25400">
            <a:solidFill>
              <a:srgbClr val="FFC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10" name="Google Shape;410;g3d49611c445_1_12"/>
          <p:cNvSpPr txBox="1"/>
          <p:nvPr/>
        </p:nvSpPr>
        <p:spPr>
          <a:xfrm>
            <a:off x="3652491" y="847078"/>
            <a:ext cx="345953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AU" sz="1800" u="none" cap="none" strike="noStrike">
                <a:solidFill>
                  <a:srgbClr val="000000"/>
                </a:solidFill>
                <a:latin typeface="Arial"/>
                <a:ea typeface="Arial"/>
                <a:cs typeface="Arial"/>
                <a:sym typeface="Arial"/>
              </a:rPr>
              <a:t>Query Feature Enhancement</a:t>
            </a:r>
            <a:endParaRPr b="1" i="0" sz="1800" u="none" cap="none" strike="noStrike">
              <a:solidFill>
                <a:srgbClr val="000000"/>
              </a:solidFill>
              <a:latin typeface="Arial"/>
              <a:ea typeface="Arial"/>
              <a:cs typeface="Arial"/>
              <a:sym typeface="Arial"/>
            </a:endParaRPr>
          </a:p>
        </p:txBody>
      </p:sp>
      <p:sp>
        <p:nvSpPr>
          <p:cNvPr id="411" name="Google Shape;411;g3d49611c445_1_12"/>
          <p:cNvSpPr txBox="1"/>
          <p:nvPr/>
        </p:nvSpPr>
        <p:spPr>
          <a:xfrm>
            <a:off x="114520" y="-7844"/>
            <a:ext cx="4839363" cy="7371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90000"/>
              </a:lnSpc>
              <a:spcBef>
                <a:spcPts val="1000"/>
              </a:spcBef>
              <a:spcAft>
                <a:spcPts val="0"/>
              </a:spcAft>
              <a:buClr>
                <a:schemeClr val="dk1"/>
              </a:buClr>
              <a:buSzPts val="4200"/>
              <a:buFont typeface="Arial"/>
              <a:buNone/>
            </a:pPr>
            <a:r>
              <a:rPr b="1" i="0" lang="en-AU" sz="4200" u="none" cap="none" strike="noStrike">
                <a:solidFill>
                  <a:schemeClr val="dk1"/>
                </a:solidFill>
                <a:latin typeface="Arial Narrow"/>
                <a:ea typeface="Arial Narrow"/>
                <a:cs typeface="Arial Narrow"/>
                <a:sym typeface="Arial Narrow"/>
              </a:rPr>
              <a:t>Flow Chart</a:t>
            </a:r>
            <a:endParaRPr/>
          </a:p>
        </p:txBody>
      </p:sp>
      <p:sp>
        <p:nvSpPr>
          <p:cNvPr id="412" name="Google Shape;412;g3d49611c445_1_12"/>
          <p:cNvSpPr/>
          <p:nvPr/>
        </p:nvSpPr>
        <p:spPr>
          <a:xfrm>
            <a:off x="2885090" y="2214362"/>
            <a:ext cx="1112319" cy="492661"/>
          </a:xfrm>
          <a:prstGeom prst="roundRect">
            <a:avLst>
              <a:gd fmla="val 16667" name="adj"/>
            </a:avLst>
          </a:prstGeom>
          <a:solidFill>
            <a:srgbClr val="C4E0B2"/>
          </a:solidFill>
          <a:ln cap="flat" cmpd="sng" w="254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AU" sz="1400" u="none" cap="none" strike="noStrike">
                <a:solidFill>
                  <a:schemeClr val="dk1"/>
                </a:solidFill>
                <a:latin typeface="Arial"/>
                <a:ea typeface="Arial"/>
                <a:cs typeface="Arial"/>
                <a:sym typeface="Arial"/>
              </a:rPr>
              <a:t>Face Direction</a:t>
            </a:r>
            <a:endParaRPr b="0" i="0" sz="1400" u="none" cap="none" strike="noStrike">
              <a:solidFill>
                <a:schemeClr val="dk1"/>
              </a:solidFill>
              <a:latin typeface="Arial"/>
              <a:ea typeface="Arial"/>
              <a:cs typeface="Arial"/>
              <a:sym typeface="Arial"/>
            </a:endParaRPr>
          </a:p>
        </p:txBody>
      </p:sp>
      <p:cxnSp>
        <p:nvCxnSpPr>
          <p:cNvPr id="413" name="Google Shape;413;g3d49611c445_1_12"/>
          <p:cNvCxnSpPr>
            <a:endCxn id="412" idx="1"/>
          </p:cNvCxnSpPr>
          <p:nvPr/>
        </p:nvCxnSpPr>
        <p:spPr>
          <a:xfrm flipH="1" rot="-5400000">
            <a:off x="2259740" y="1835343"/>
            <a:ext cx="1063800" cy="186900"/>
          </a:xfrm>
          <a:prstGeom prst="bentConnector2">
            <a:avLst/>
          </a:prstGeom>
          <a:noFill/>
          <a:ln cap="flat" cmpd="sng" w="28575">
            <a:solidFill>
              <a:schemeClr val="dk1"/>
            </a:solidFill>
            <a:prstDash val="solid"/>
            <a:round/>
            <a:headEnd len="sm" w="sm" type="none"/>
            <a:tailEnd len="med" w="med" type="triangle"/>
          </a:ln>
        </p:spPr>
      </p:cxnSp>
      <p:cxnSp>
        <p:nvCxnSpPr>
          <p:cNvPr id="414" name="Google Shape;414;g3d49611c445_1_12"/>
          <p:cNvCxnSpPr>
            <a:endCxn id="390" idx="1"/>
          </p:cNvCxnSpPr>
          <p:nvPr/>
        </p:nvCxnSpPr>
        <p:spPr>
          <a:xfrm flipH="1" rot="-5400000">
            <a:off x="1922392" y="2172866"/>
            <a:ext cx="1738500" cy="186900"/>
          </a:xfrm>
          <a:prstGeom prst="bentConnector2">
            <a:avLst/>
          </a:prstGeom>
          <a:noFill/>
          <a:ln cap="flat" cmpd="sng" w="28575">
            <a:solidFill>
              <a:schemeClr val="dk1"/>
            </a:solidFill>
            <a:prstDash val="solid"/>
            <a:round/>
            <a:headEnd len="sm" w="sm" type="none"/>
            <a:tailEnd len="med" w="med" type="triangle"/>
          </a:ln>
        </p:spPr>
      </p:cxnSp>
      <p:cxnSp>
        <p:nvCxnSpPr>
          <p:cNvPr id="415" name="Google Shape;415;g3d49611c445_1_12"/>
          <p:cNvCxnSpPr/>
          <p:nvPr/>
        </p:nvCxnSpPr>
        <p:spPr>
          <a:xfrm flipH="1" rot="10800000">
            <a:off x="3993928" y="1822471"/>
            <a:ext cx="491336" cy="4058"/>
          </a:xfrm>
          <a:prstGeom prst="straightConnector1">
            <a:avLst/>
          </a:prstGeom>
          <a:noFill/>
          <a:ln cap="flat" cmpd="sng" w="28575">
            <a:solidFill>
              <a:schemeClr val="dk1"/>
            </a:solidFill>
            <a:prstDash val="solid"/>
            <a:round/>
            <a:headEnd len="sm" w="sm" type="none"/>
            <a:tailEnd len="med" w="med" type="triangle"/>
          </a:ln>
        </p:spPr>
      </p:cxnSp>
      <p:cxnSp>
        <p:nvCxnSpPr>
          <p:cNvPr id="416" name="Google Shape;416;g3d49611c445_1_12"/>
          <p:cNvCxnSpPr>
            <a:stCxn id="405" idx="3"/>
            <a:endCxn id="341" idx="0"/>
          </p:cNvCxnSpPr>
          <p:nvPr/>
        </p:nvCxnSpPr>
        <p:spPr>
          <a:xfrm>
            <a:off x="5982637" y="2498066"/>
            <a:ext cx="3153900" cy="656400"/>
          </a:xfrm>
          <a:prstGeom prst="curvedConnector2">
            <a:avLst/>
          </a:prstGeom>
          <a:noFill/>
          <a:ln cap="flat" cmpd="sng" w="28575">
            <a:solidFill>
              <a:schemeClr val="dk1"/>
            </a:solidFill>
            <a:prstDash val="solid"/>
            <a:round/>
            <a:headEnd len="sm" w="sm" type="none"/>
            <a:tailEnd len="med" w="med" type="triangle"/>
          </a:ln>
        </p:spPr>
      </p:cxnSp>
      <p:cxnSp>
        <p:nvCxnSpPr>
          <p:cNvPr id="417" name="Google Shape;417;g3d49611c445_1_12"/>
          <p:cNvCxnSpPr/>
          <p:nvPr/>
        </p:nvCxnSpPr>
        <p:spPr>
          <a:xfrm rot="10800000">
            <a:off x="5982637" y="1822471"/>
            <a:ext cx="478675" cy="0"/>
          </a:xfrm>
          <a:prstGeom prst="straightConnector1">
            <a:avLst/>
          </a:prstGeom>
          <a:noFill/>
          <a:ln cap="flat" cmpd="sng" w="28575">
            <a:solidFill>
              <a:schemeClr val="dk1"/>
            </a:solidFill>
            <a:prstDash val="solid"/>
            <a:round/>
            <a:headEnd len="sm" w="sm" type="none"/>
            <a:tailEnd len="med" w="med" type="triangle"/>
          </a:ln>
        </p:spPr>
      </p:cxnSp>
      <p:cxnSp>
        <p:nvCxnSpPr>
          <p:cNvPr id="418" name="Google Shape;418;g3d49611c445_1_12"/>
          <p:cNvCxnSpPr/>
          <p:nvPr/>
        </p:nvCxnSpPr>
        <p:spPr>
          <a:xfrm flipH="1" rot="10800000">
            <a:off x="3992930" y="2456633"/>
            <a:ext cx="491336" cy="4058"/>
          </a:xfrm>
          <a:prstGeom prst="straightConnector1">
            <a:avLst/>
          </a:prstGeom>
          <a:noFill/>
          <a:ln cap="flat" cmpd="sng" w="28575">
            <a:solidFill>
              <a:schemeClr val="dk1"/>
            </a:solidFill>
            <a:prstDash val="solid"/>
            <a:round/>
            <a:headEnd len="sm" w="sm" type="none"/>
            <a:tailEnd len="med" w="med" type="triangle"/>
          </a:ln>
        </p:spPr>
      </p:cxnSp>
      <p:cxnSp>
        <p:nvCxnSpPr>
          <p:cNvPr id="419" name="Google Shape;419;g3d49611c445_1_12"/>
          <p:cNvCxnSpPr/>
          <p:nvPr/>
        </p:nvCxnSpPr>
        <p:spPr>
          <a:xfrm flipH="1" rot="10800000">
            <a:off x="3997411" y="3147310"/>
            <a:ext cx="491336" cy="4058"/>
          </a:xfrm>
          <a:prstGeom prst="straightConnector1">
            <a:avLst/>
          </a:prstGeom>
          <a:noFill/>
          <a:ln cap="flat" cmpd="sng" w="28575">
            <a:solidFill>
              <a:schemeClr val="dk1"/>
            </a:solidFill>
            <a:prstDash val="solid"/>
            <a:round/>
            <a:headEnd len="sm" w="sm" type="none"/>
            <a:tailEnd len="med" w="med" type="triangle"/>
          </a:ln>
        </p:spPr>
      </p:cxnSp>
      <p:cxnSp>
        <p:nvCxnSpPr>
          <p:cNvPr id="420" name="Google Shape;420;g3d49611c445_1_12"/>
          <p:cNvCxnSpPr/>
          <p:nvPr/>
        </p:nvCxnSpPr>
        <p:spPr>
          <a:xfrm rot="10800000">
            <a:off x="7681729" y="4844072"/>
            <a:ext cx="0" cy="347894"/>
          </a:xfrm>
          <a:prstGeom prst="straightConnector1">
            <a:avLst/>
          </a:prstGeom>
          <a:noFill/>
          <a:ln cap="flat" cmpd="sng" w="28575">
            <a:solidFill>
              <a:schemeClr val="dk1"/>
            </a:solidFill>
            <a:prstDash val="solid"/>
            <a:round/>
            <a:headEnd len="sm" w="sm" type="none"/>
            <a:tailEnd len="med" w="med" type="triangle"/>
          </a:ln>
        </p:spPr>
      </p:cxnSp>
      <p:sp>
        <p:nvSpPr>
          <p:cNvPr id="421" name="Google Shape;421;g3d49611c445_1_12"/>
          <p:cNvSpPr txBox="1"/>
          <p:nvPr/>
        </p:nvSpPr>
        <p:spPr>
          <a:xfrm>
            <a:off x="7102228" y="3044695"/>
            <a:ext cx="653049" cy="307777"/>
          </a:xfrm>
          <a:prstGeom prst="rect">
            <a:avLst/>
          </a:prstGeom>
          <a:blipFill rotWithShape="1">
            <a:blip r:embed="rId11">
              <a:alphaModFix/>
            </a:blip>
            <a:stretch>
              <a:fillRect b="-27450" l="-11215" r="-1215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sp>
        <p:nvSpPr>
          <p:cNvPr id="422" name="Google Shape;422;g3d49611c445_1_12"/>
          <p:cNvSpPr txBox="1"/>
          <p:nvPr/>
        </p:nvSpPr>
        <p:spPr>
          <a:xfrm>
            <a:off x="9919847" y="2283796"/>
            <a:ext cx="658786" cy="400110"/>
          </a:xfrm>
          <a:prstGeom prst="rect">
            <a:avLst/>
          </a:prstGeom>
          <a:blipFill rotWithShape="1">
            <a:blip r:embed="rId12">
              <a:alphaModFix/>
            </a:blip>
            <a:stretch>
              <a:fillRect b="-10769" l="0" r="-21296"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sp>
        <p:nvSpPr>
          <p:cNvPr id="423" name="Google Shape;423;g3d49611c445_1_12"/>
          <p:cNvSpPr txBox="1"/>
          <p:nvPr/>
        </p:nvSpPr>
        <p:spPr>
          <a:xfrm>
            <a:off x="163654" y="6168452"/>
            <a:ext cx="13878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3200" u="none" cap="none" strike="noStrike">
                <a:solidFill>
                  <a:srgbClr val="000000"/>
                </a:solidFill>
                <a:latin typeface="Arial"/>
                <a:ea typeface="Arial"/>
                <a:cs typeface="Arial"/>
                <a:sym typeface="Arial"/>
              </a:rPr>
              <a:t>9</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
          <p:cNvSpPr txBox="1"/>
          <p:nvPr/>
        </p:nvSpPr>
        <p:spPr>
          <a:xfrm>
            <a:off x="115409" y="253985"/>
            <a:ext cx="4738979" cy="7371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90000"/>
              </a:lnSpc>
              <a:spcBef>
                <a:spcPts val="1000"/>
              </a:spcBef>
              <a:spcAft>
                <a:spcPts val="0"/>
              </a:spcAft>
              <a:buClr>
                <a:schemeClr val="dk1"/>
              </a:buClr>
              <a:buSzPts val="4200"/>
              <a:buFont typeface="Arial"/>
              <a:buNone/>
            </a:pPr>
            <a:r>
              <a:rPr b="1" i="0" lang="en-AU" sz="4200" u="none" cap="none" strike="noStrike">
                <a:solidFill>
                  <a:schemeClr val="dk1"/>
                </a:solidFill>
                <a:latin typeface="Arial Narrow"/>
                <a:ea typeface="Arial Narrow"/>
                <a:cs typeface="Arial Narrow"/>
                <a:sym typeface="Arial Narrow"/>
              </a:rPr>
              <a:t>Proposed Research</a:t>
            </a:r>
            <a:endParaRPr/>
          </a:p>
        </p:txBody>
      </p:sp>
      <p:sp>
        <p:nvSpPr>
          <p:cNvPr id="430" name="Google Shape;430;p3"/>
          <p:cNvSpPr txBox="1"/>
          <p:nvPr/>
        </p:nvSpPr>
        <p:spPr>
          <a:xfrm>
            <a:off x="344275" y="857575"/>
            <a:ext cx="5841372" cy="55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AU" sz="2400" u="none" cap="none" strike="noStrike">
                <a:solidFill>
                  <a:srgbClr val="000000"/>
                </a:solidFill>
                <a:latin typeface="Arial"/>
                <a:ea typeface="Arial"/>
                <a:cs typeface="Arial"/>
                <a:sym typeface="Arial"/>
              </a:rPr>
              <a:t>Query Mathematic theory</a:t>
            </a:r>
            <a:endParaRPr b="0" i="0" sz="2400" u="none" cap="none" strike="noStrike">
              <a:solidFill>
                <a:srgbClr val="000000"/>
              </a:solidFill>
              <a:latin typeface="Arial"/>
              <a:ea typeface="Arial"/>
              <a:cs typeface="Arial"/>
              <a:sym typeface="Arial"/>
            </a:endParaRPr>
          </a:p>
        </p:txBody>
      </p:sp>
      <p:pic>
        <p:nvPicPr>
          <p:cNvPr id="431" name="Google Shape;431;p3"/>
          <p:cNvPicPr preferRelativeResize="0"/>
          <p:nvPr/>
        </p:nvPicPr>
        <p:blipFill rotWithShape="1">
          <a:blip r:embed="rId3">
            <a:alphaModFix/>
          </a:blip>
          <a:srcRect b="0" l="0" r="0" t="0"/>
          <a:stretch/>
        </p:blipFill>
        <p:spPr>
          <a:xfrm>
            <a:off x="274903" y="2368033"/>
            <a:ext cx="4968943" cy="863092"/>
          </a:xfrm>
          <a:prstGeom prst="rect">
            <a:avLst/>
          </a:prstGeom>
          <a:noFill/>
          <a:ln>
            <a:noFill/>
          </a:ln>
        </p:spPr>
      </p:pic>
      <p:sp>
        <p:nvSpPr>
          <p:cNvPr id="432" name="Google Shape;432;p3"/>
          <p:cNvSpPr/>
          <p:nvPr/>
        </p:nvSpPr>
        <p:spPr>
          <a:xfrm>
            <a:off x="6585426" y="3441648"/>
            <a:ext cx="5014002" cy="1862048"/>
          </a:xfrm>
          <a:prstGeom prst="rect">
            <a:avLst/>
          </a:prstGeom>
          <a:blipFill rotWithShape="1">
            <a:blip r:embed="rId4">
              <a:alphaModFix/>
            </a:blip>
            <a:stretch>
              <a:fillRect b="0" l="-972" r="0" t="-393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sp>
        <p:nvSpPr>
          <p:cNvPr id="433" name="Google Shape;433;p3"/>
          <p:cNvSpPr txBox="1"/>
          <p:nvPr/>
        </p:nvSpPr>
        <p:spPr>
          <a:xfrm>
            <a:off x="208067" y="4042977"/>
            <a:ext cx="2627126" cy="1169551"/>
          </a:xfrm>
          <a:prstGeom prst="rect">
            <a:avLst/>
          </a:prstGeom>
          <a:blipFill rotWithShape="1">
            <a:blip r:embed="rId5">
              <a:alphaModFix/>
            </a:blip>
            <a:stretch>
              <a:fillRect b="0" l="0" r="-14849"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pic>
        <p:nvPicPr>
          <p:cNvPr id="434" name="Google Shape;434;p3"/>
          <p:cNvPicPr preferRelativeResize="0"/>
          <p:nvPr/>
        </p:nvPicPr>
        <p:blipFill rotWithShape="1">
          <a:blip r:embed="rId6">
            <a:alphaModFix/>
          </a:blip>
          <a:srcRect b="0" l="0" r="0" t="0"/>
          <a:stretch/>
        </p:blipFill>
        <p:spPr>
          <a:xfrm>
            <a:off x="6279776" y="1505869"/>
            <a:ext cx="4981832" cy="589314"/>
          </a:xfrm>
          <a:prstGeom prst="rect">
            <a:avLst/>
          </a:prstGeom>
          <a:noFill/>
          <a:ln>
            <a:noFill/>
          </a:ln>
        </p:spPr>
      </p:pic>
      <p:sp>
        <p:nvSpPr>
          <p:cNvPr id="435" name="Google Shape;435;p3"/>
          <p:cNvSpPr txBox="1"/>
          <p:nvPr/>
        </p:nvSpPr>
        <p:spPr>
          <a:xfrm>
            <a:off x="344277" y="5127239"/>
            <a:ext cx="5510595" cy="6155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Eq. 2：Cross attention math equation, softmax outputs represent the spatial attention distribution of each query over the entire image</a:t>
            </a:r>
            <a:endParaRPr b="0" i="0" sz="1400" u="none" cap="none" strike="noStrike">
              <a:solidFill>
                <a:srgbClr val="000000"/>
              </a:solidFill>
              <a:latin typeface="Arial"/>
              <a:ea typeface="Arial"/>
              <a:cs typeface="Arial"/>
              <a:sym typeface="Arial"/>
            </a:endParaRPr>
          </a:p>
        </p:txBody>
      </p:sp>
      <p:grpSp>
        <p:nvGrpSpPr>
          <p:cNvPr id="436" name="Google Shape;436;p3"/>
          <p:cNvGrpSpPr/>
          <p:nvPr/>
        </p:nvGrpSpPr>
        <p:grpSpPr>
          <a:xfrm>
            <a:off x="1416834" y="3112330"/>
            <a:ext cx="2742170" cy="757947"/>
            <a:chOff x="953980" y="1605316"/>
            <a:chExt cx="2836719" cy="782808"/>
          </a:xfrm>
        </p:grpSpPr>
        <p:pic>
          <p:nvPicPr>
            <p:cNvPr id="437" name="Google Shape;437;p3"/>
            <p:cNvPicPr preferRelativeResize="0"/>
            <p:nvPr/>
          </p:nvPicPr>
          <p:blipFill rotWithShape="1">
            <a:blip r:embed="rId7">
              <a:alphaModFix/>
            </a:blip>
            <a:srcRect b="0" l="0" r="0" t="0"/>
            <a:stretch/>
          </p:blipFill>
          <p:spPr>
            <a:xfrm>
              <a:off x="953980" y="1606423"/>
              <a:ext cx="1426510" cy="444627"/>
            </a:xfrm>
            <a:prstGeom prst="rect">
              <a:avLst/>
            </a:prstGeom>
            <a:noFill/>
            <a:ln>
              <a:noFill/>
            </a:ln>
          </p:spPr>
        </p:pic>
        <p:pic>
          <p:nvPicPr>
            <p:cNvPr id="438" name="Google Shape;438;p3"/>
            <p:cNvPicPr preferRelativeResize="0"/>
            <p:nvPr/>
          </p:nvPicPr>
          <p:blipFill rotWithShape="1">
            <a:blip r:embed="rId8">
              <a:alphaModFix/>
            </a:blip>
            <a:srcRect b="0" l="0" r="0" t="0"/>
            <a:stretch/>
          </p:blipFill>
          <p:spPr>
            <a:xfrm>
              <a:off x="1030474" y="1931898"/>
              <a:ext cx="1426510" cy="456226"/>
            </a:xfrm>
            <a:prstGeom prst="rect">
              <a:avLst/>
            </a:prstGeom>
            <a:noFill/>
            <a:ln>
              <a:noFill/>
            </a:ln>
          </p:spPr>
        </p:pic>
        <p:pic>
          <p:nvPicPr>
            <p:cNvPr id="439" name="Google Shape;439;p3"/>
            <p:cNvPicPr preferRelativeResize="0"/>
            <p:nvPr/>
          </p:nvPicPr>
          <p:blipFill rotWithShape="1">
            <a:blip r:embed="rId9">
              <a:alphaModFix/>
            </a:blip>
            <a:srcRect b="0" l="0" r="0" t="0"/>
            <a:stretch/>
          </p:blipFill>
          <p:spPr>
            <a:xfrm>
              <a:off x="2292822" y="1605316"/>
              <a:ext cx="1497877" cy="420457"/>
            </a:xfrm>
            <a:prstGeom prst="rect">
              <a:avLst/>
            </a:prstGeom>
            <a:noFill/>
            <a:ln>
              <a:noFill/>
            </a:ln>
          </p:spPr>
        </p:pic>
        <p:pic>
          <p:nvPicPr>
            <p:cNvPr id="440" name="Google Shape;440;p3"/>
            <p:cNvPicPr preferRelativeResize="0"/>
            <p:nvPr/>
          </p:nvPicPr>
          <p:blipFill rotWithShape="1">
            <a:blip r:embed="rId10">
              <a:alphaModFix/>
            </a:blip>
            <a:srcRect b="0" l="0" r="0" t="0"/>
            <a:stretch/>
          </p:blipFill>
          <p:spPr>
            <a:xfrm>
              <a:off x="2331498" y="1965117"/>
              <a:ext cx="1318064" cy="423007"/>
            </a:xfrm>
            <a:prstGeom prst="rect">
              <a:avLst/>
            </a:prstGeom>
            <a:noFill/>
            <a:ln>
              <a:noFill/>
            </a:ln>
          </p:spPr>
        </p:pic>
      </p:grpSp>
      <p:sp>
        <p:nvSpPr>
          <p:cNvPr id="441" name="Google Shape;441;p3"/>
          <p:cNvSpPr txBox="1"/>
          <p:nvPr/>
        </p:nvSpPr>
        <p:spPr>
          <a:xfrm>
            <a:off x="3202615" y="4092750"/>
            <a:ext cx="3007789" cy="968342"/>
          </a:xfrm>
          <a:prstGeom prst="rect">
            <a:avLst/>
          </a:pr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sp>
        <p:nvSpPr>
          <p:cNvPr id="442" name="Google Shape;442;p3"/>
          <p:cNvSpPr txBox="1"/>
          <p:nvPr/>
        </p:nvSpPr>
        <p:spPr>
          <a:xfrm>
            <a:off x="5488723" y="2678953"/>
            <a:ext cx="537006" cy="215444"/>
          </a:xfrm>
          <a:prstGeom prst="rect">
            <a:avLst/>
          </a:prstGeom>
          <a:blipFill rotWithShape="1">
            <a:blip r:embed="rId12">
              <a:alphaModFix/>
            </a:blip>
            <a:stretch>
              <a:fillRect b="-33333" l="-10227" r="-11364"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sp>
        <p:nvSpPr>
          <p:cNvPr id="443" name="Google Shape;443;p3"/>
          <p:cNvSpPr txBox="1"/>
          <p:nvPr/>
        </p:nvSpPr>
        <p:spPr>
          <a:xfrm>
            <a:off x="11419923" y="1585082"/>
            <a:ext cx="537006" cy="215444"/>
          </a:xfrm>
          <a:prstGeom prst="rect">
            <a:avLst/>
          </a:prstGeom>
          <a:blipFill rotWithShape="1">
            <a:blip r:embed="rId13">
              <a:alphaModFix/>
            </a:blip>
            <a:stretch>
              <a:fillRect b="-37142" l="-10227" r="-11364"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sp>
        <p:nvSpPr>
          <p:cNvPr id="444" name="Google Shape;444;p3"/>
          <p:cNvSpPr txBox="1"/>
          <p:nvPr/>
        </p:nvSpPr>
        <p:spPr>
          <a:xfrm>
            <a:off x="6337129" y="2095183"/>
            <a:ext cx="5510596" cy="6155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Eq. 3：Decomposition of the Scaled Dot-Product Attention Score. This expansion why spatial information matters</a:t>
            </a:r>
            <a:endParaRPr b="0" i="0" sz="1400" u="none" cap="none" strike="noStrike">
              <a:solidFill>
                <a:srgbClr val="000000"/>
              </a:solidFill>
              <a:latin typeface="Arial"/>
              <a:ea typeface="Arial"/>
              <a:cs typeface="Arial"/>
              <a:sym typeface="Arial"/>
            </a:endParaRPr>
          </a:p>
        </p:txBody>
      </p:sp>
      <p:sp>
        <p:nvSpPr>
          <p:cNvPr id="445" name="Google Shape;445;p3"/>
          <p:cNvSpPr/>
          <p:nvPr/>
        </p:nvSpPr>
        <p:spPr>
          <a:xfrm>
            <a:off x="6253416" y="1390508"/>
            <a:ext cx="1220274" cy="678408"/>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6" name="Google Shape;446;p3"/>
          <p:cNvSpPr/>
          <p:nvPr/>
        </p:nvSpPr>
        <p:spPr>
          <a:xfrm>
            <a:off x="10041334" y="1350886"/>
            <a:ext cx="1220274" cy="678408"/>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7" name="Google Shape;447;p3"/>
          <p:cNvSpPr txBox="1"/>
          <p:nvPr/>
        </p:nvSpPr>
        <p:spPr>
          <a:xfrm>
            <a:off x="163654" y="6168452"/>
            <a:ext cx="13878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3200" u="none" cap="none" strike="noStrike">
                <a:solidFill>
                  <a:srgbClr val="000000"/>
                </a:solidFill>
                <a:latin typeface="Arial"/>
                <a:ea typeface="Arial"/>
                <a:cs typeface="Arial"/>
                <a:sym typeface="Arial"/>
              </a:rPr>
              <a:t>10</a:t>
            </a:r>
            <a:endParaRPr/>
          </a:p>
        </p:txBody>
      </p:sp>
      <p:pic>
        <p:nvPicPr>
          <p:cNvPr id="448" name="Google Shape;448;p3"/>
          <p:cNvPicPr preferRelativeResize="0"/>
          <p:nvPr/>
        </p:nvPicPr>
        <p:blipFill rotWithShape="1">
          <a:blip r:embed="rId14">
            <a:alphaModFix/>
          </a:blip>
          <a:srcRect b="0" l="0" r="0" t="0"/>
          <a:stretch/>
        </p:blipFill>
        <p:spPr>
          <a:xfrm>
            <a:off x="1398872" y="1458546"/>
            <a:ext cx="3132563" cy="712072"/>
          </a:xfrm>
          <a:prstGeom prst="rect">
            <a:avLst/>
          </a:prstGeom>
          <a:noFill/>
          <a:ln>
            <a:noFill/>
          </a:ln>
        </p:spPr>
      </p:pic>
      <p:sp>
        <p:nvSpPr>
          <p:cNvPr id="449" name="Google Shape;449;p3"/>
          <p:cNvSpPr txBox="1"/>
          <p:nvPr/>
        </p:nvSpPr>
        <p:spPr>
          <a:xfrm>
            <a:off x="1472488" y="1930551"/>
            <a:ext cx="2725409" cy="41007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Eq. 1：Cross attention equation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
          <p:cNvSpPr txBox="1"/>
          <p:nvPr/>
        </p:nvSpPr>
        <p:spPr>
          <a:xfrm>
            <a:off x="115409" y="253985"/>
            <a:ext cx="4738979" cy="7371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90000"/>
              </a:lnSpc>
              <a:spcBef>
                <a:spcPts val="1000"/>
              </a:spcBef>
              <a:spcAft>
                <a:spcPts val="0"/>
              </a:spcAft>
              <a:buClr>
                <a:schemeClr val="dk1"/>
              </a:buClr>
              <a:buSzPts val="4200"/>
              <a:buFont typeface="Arial"/>
              <a:buNone/>
            </a:pPr>
            <a:r>
              <a:rPr b="1" i="0" lang="en-AU" sz="4200" u="none" cap="none" strike="noStrike">
                <a:solidFill>
                  <a:schemeClr val="dk1"/>
                </a:solidFill>
                <a:latin typeface="Arial Narrow"/>
                <a:ea typeface="Arial Narrow"/>
                <a:cs typeface="Arial Narrow"/>
                <a:sym typeface="Arial Narrow"/>
              </a:rPr>
              <a:t>Proposed Research</a:t>
            </a:r>
            <a:endParaRPr/>
          </a:p>
        </p:txBody>
      </p:sp>
      <p:sp>
        <p:nvSpPr>
          <p:cNvPr id="456" name="Google Shape;456;p5"/>
          <p:cNvSpPr txBox="1"/>
          <p:nvPr/>
        </p:nvSpPr>
        <p:spPr>
          <a:xfrm>
            <a:off x="344275" y="857575"/>
            <a:ext cx="5121954" cy="559200"/>
          </a:xfrm>
          <a:prstGeom prst="rect">
            <a:avLst/>
          </a:prstGeom>
          <a:blipFill rotWithShape="1">
            <a:blip r:embed="rId3">
              <a:alphaModFix/>
            </a:blip>
            <a:stretch>
              <a:fillRect b="-16484" l="-1784"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sp>
        <p:nvSpPr>
          <p:cNvPr id="457" name="Google Shape;457;p5"/>
          <p:cNvSpPr/>
          <p:nvPr/>
        </p:nvSpPr>
        <p:spPr>
          <a:xfrm>
            <a:off x="2593726" y="3296009"/>
            <a:ext cx="6583892" cy="2463367"/>
          </a:xfrm>
          <a:prstGeom prst="rect">
            <a:avLst/>
          </a:prstGeom>
          <a:blipFill rotWithShape="1">
            <a:blip r:embed="rId4">
              <a:alphaModFix/>
            </a:blip>
            <a:stretch>
              <a:fillRect b="0" l="-740" r="0" t="-272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pic>
        <p:nvPicPr>
          <p:cNvPr id="458" name="Google Shape;458;p5"/>
          <p:cNvPicPr preferRelativeResize="0"/>
          <p:nvPr/>
        </p:nvPicPr>
        <p:blipFill rotWithShape="1">
          <a:blip r:embed="rId5">
            <a:alphaModFix/>
          </a:blip>
          <a:srcRect b="0" l="0" r="0" t="0"/>
          <a:stretch/>
        </p:blipFill>
        <p:spPr>
          <a:xfrm>
            <a:off x="2907033" y="1839206"/>
            <a:ext cx="5118391" cy="634293"/>
          </a:xfrm>
          <a:prstGeom prst="rect">
            <a:avLst/>
          </a:prstGeom>
          <a:noFill/>
          <a:ln>
            <a:noFill/>
          </a:ln>
        </p:spPr>
      </p:pic>
      <p:sp>
        <p:nvSpPr>
          <p:cNvPr id="459" name="Google Shape;459;p5"/>
          <p:cNvSpPr txBox="1"/>
          <p:nvPr/>
        </p:nvSpPr>
        <p:spPr>
          <a:xfrm>
            <a:off x="4422476" y="2473499"/>
            <a:ext cx="2087504" cy="400079"/>
          </a:xfrm>
          <a:prstGeom prst="rect">
            <a:avLst/>
          </a:prstGeom>
          <a:blipFill rotWithShape="1">
            <a:blip r:embed="rId6">
              <a:alphaModFix/>
            </a:blip>
            <a:stretch>
              <a:fillRect b="-4615" l="-875"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sp>
        <p:nvSpPr>
          <p:cNvPr id="460" name="Google Shape;460;p5"/>
          <p:cNvSpPr txBox="1"/>
          <p:nvPr/>
        </p:nvSpPr>
        <p:spPr>
          <a:xfrm>
            <a:off x="163654" y="6168452"/>
            <a:ext cx="13878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3200" u="none" cap="none" strike="noStrike">
                <a:solidFill>
                  <a:srgbClr val="000000"/>
                </a:solidFill>
                <a:latin typeface="Arial"/>
                <a:ea typeface="Arial"/>
                <a:cs typeface="Arial"/>
                <a:sym typeface="Arial"/>
              </a:rPr>
              <a:t>11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9"/>
          <p:cNvSpPr txBox="1"/>
          <p:nvPr/>
        </p:nvSpPr>
        <p:spPr>
          <a:xfrm>
            <a:off x="115409" y="253985"/>
            <a:ext cx="4738979" cy="7371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90000"/>
              </a:lnSpc>
              <a:spcBef>
                <a:spcPts val="1000"/>
              </a:spcBef>
              <a:spcAft>
                <a:spcPts val="0"/>
              </a:spcAft>
              <a:buClr>
                <a:schemeClr val="dk1"/>
              </a:buClr>
              <a:buSzPts val="4200"/>
              <a:buFont typeface="Arial"/>
              <a:buNone/>
            </a:pPr>
            <a:r>
              <a:rPr b="1" i="0" lang="en-AU" sz="4200" u="none" cap="none" strike="noStrike">
                <a:solidFill>
                  <a:schemeClr val="dk1"/>
                </a:solidFill>
                <a:latin typeface="Arial Narrow"/>
                <a:ea typeface="Arial Narrow"/>
                <a:cs typeface="Arial Narrow"/>
                <a:sym typeface="Arial Narrow"/>
              </a:rPr>
              <a:t>Proposed Research</a:t>
            </a:r>
            <a:endParaRPr/>
          </a:p>
        </p:txBody>
      </p:sp>
      <p:sp>
        <p:nvSpPr>
          <p:cNvPr id="467" name="Google Shape;467;p9"/>
          <p:cNvSpPr txBox="1"/>
          <p:nvPr/>
        </p:nvSpPr>
        <p:spPr>
          <a:xfrm>
            <a:off x="344275" y="857575"/>
            <a:ext cx="5841372" cy="559200"/>
          </a:xfrm>
          <a:prstGeom prst="rect">
            <a:avLst/>
          </a:prstGeom>
          <a:blipFill rotWithShape="1">
            <a:blip r:embed="rId3">
              <a:alphaModFix/>
            </a:blip>
            <a:stretch>
              <a:fillRect b="-16484" l="-1564"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sp>
        <p:nvSpPr>
          <p:cNvPr id="468" name="Google Shape;468;p9"/>
          <p:cNvSpPr txBox="1"/>
          <p:nvPr/>
        </p:nvSpPr>
        <p:spPr>
          <a:xfrm>
            <a:off x="482180" y="1715789"/>
            <a:ext cx="6679800" cy="4186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Added Object position information and human position information</a:t>
            </a:r>
            <a:endParaRPr/>
          </a:p>
          <a:p>
            <a:pPr indent="-285750" lvl="0" marL="285750" marR="0" rtl="0" algn="l">
              <a:lnSpc>
                <a:spcPct val="100000"/>
              </a:lnSpc>
              <a:spcBef>
                <a:spcPts val="0"/>
              </a:spcBef>
              <a:spcAft>
                <a:spcPts val="0"/>
              </a:spcAft>
              <a:buClr>
                <a:srgbClr val="000000"/>
              </a:buClr>
              <a:buSzPts val="1400"/>
              <a:buFont typeface="Arial"/>
              <a:buChar char="•"/>
            </a:pPr>
            <a:r>
              <a:rPr b="0" i="0" lang="en-AU" sz="1400" u="none" cap="none" strike="noStrike">
                <a:solidFill>
                  <a:srgbClr val="000000"/>
                </a:solidFill>
                <a:latin typeface="Arial"/>
                <a:ea typeface="Arial"/>
                <a:cs typeface="Arial"/>
                <a:sym typeface="Arial"/>
              </a:rPr>
              <a:t>Object position information use center of bounding box</a:t>
            </a:r>
            <a:endParaRPr/>
          </a:p>
          <a:p>
            <a:pPr indent="-285750" lvl="0" marL="285750" marR="0" rtl="0" algn="l">
              <a:lnSpc>
                <a:spcPct val="100000"/>
              </a:lnSpc>
              <a:spcBef>
                <a:spcPts val="0"/>
              </a:spcBef>
              <a:spcAft>
                <a:spcPts val="0"/>
              </a:spcAft>
              <a:buClr>
                <a:srgbClr val="000000"/>
              </a:buClr>
              <a:buSzPts val="1400"/>
              <a:buFont typeface="Arial"/>
              <a:buChar char="•"/>
            </a:pPr>
            <a:r>
              <a:rPr b="0" i="0" lang="en-AU" sz="1400" u="none" cap="none" strike="noStrike">
                <a:solidFill>
                  <a:srgbClr val="000000"/>
                </a:solidFill>
                <a:latin typeface="Arial"/>
                <a:ea typeface="Arial"/>
                <a:cs typeface="Arial"/>
                <a:sym typeface="Arial"/>
              </a:rPr>
              <a:t>Human position information use human keypoints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q_pos dimension is same as ho_q (512), Use MLP raise dimonson of position information and then concatenate. Also test how many keypoints input and the dimension arrangement influence the model</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The keypoints I choose is: </a:t>
            </a:r>
            <a:endParaRPr/>
          </a:p>
          <a:p>
            <a:pPr indent="-285750" lvl="0" marL="285750" marR="0" rtl="0" algn="l">
              <a:lnSpc>
                <a:spcPct val="100000"/>
              </a:lnSpc>
              <a:spcBef>
                <a:spcPts val="0"/>
              </a:spcBef>
              <a:spcAft>
                <a:spcPts val="0"/>
              </a:spcAft>
              <a:buClr>
                <a:srgbClr val="000000"/>
              </a:buClr>
              <a:buSzPts val="1400"/>
              <a:buFont typeface="Arial"/>
              <a:buChar char="•"/>
            </a:pPr>
            <a:r>
              <a:rPr b="0" i="0" lang="en-AU" sz="1400" u="none" cap="none" strike="noStrike">
                <a:solidFill>
                  <a:srgbClr val="000000"/>
                </a:solidFill>
                <a:latin typeface="Arial"/>
                <a:ea typeface="Arial"/>
                <a:cs typeface="Arial"/>
                <a:sym typeface="Arial"/>
              </a:rPr>
              <a:t>6   kpts : face, hand , feet, midpoint shoulder</a:t>
            </a:r>
            <a:endParaRPr/>
          </a:p>
          <a:p>
            <a:pPr indent="-285750" lvl="0" marL="285750" marR="0" rtl="0" algn="l">
              <a:lnSpc>
                <a:spcPct val="100000"/>
              </a:lnSpc>
              <a:spcBef>
                <a:spcPts val="0"/>
              </a:spcBef>
              <a:spcAft>
                <a:spcPts val="0"/>
              </a:spcAft>
              <a:buClr>
                <a:srgbClr val="000000"/>
              </a:buClr>
              <a:buSzPts val="1400"/>
              <a:buFont typeface="Arial"/>
              <a:buChar char="•"/>
            </a:pPr>
            <a:r>
              <a:rPr b="0" i="0" lang="en-AU" sz="1400" u="none" cap="none" strike="noStrike">
                <a:solidFill>
                  <a:srgbClr val="000000"/>
                </a:solidFill>
                <a:latin typeface="Arial"/>
                <a:ea typeface="Arial"/>
                <a:cs typeface="Arial"/>
                <a:sym typeface="Arial"/>
              </a:rPr>
              <a:t>17 kpts: 17 standard keypoints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AU" sz="1400" u="none" cap="none" strike="noStrike">
                <a:solidFill>
                  <a:srgbClr val="000000"/>
                </a:solidFill>
                <a:latin typeface="Arial"/>
                <a:ea typeface="Arial"/>
                <a:cs typeface="Arial"/>
                <a:sym typeface="Arial"/>
              </a:rPr>
              <a:t>23 kpts: 17 keypoints and 6 midpoint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AU" sz="1400" u="none" cap="none" strike="noStrike">
                <a:solidFill>
                  <a:srgbClr val="000000"/>
                </a:solidFill>
                <a:latin typeface="Arial"/>
                <a:ea typeface="Arial"/>
                <a:cs typeface="Arial"/>
                <a:sym typeface="Arial"/>
              </a:rPr>
              <a:t>31 kpts: 17 keypoints and 14 midpoint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Ratio means skeleton keypoints </a:t>
            </a:r>
            <a:r>
              <a:rPr lang="en-AU"/>
              <a:t>Dimension</a:t>
            </a:r>
            <a:r>
              <a:rPr b="0" i="0" lang="en-AU" sz="1400" u="none" cap="none" strike="noStrike">
                <a:solidFill>
                  <a:srgbClr val="000000"/>
                </a:solidFill>
                <a:latin typeface="Arial"/>
                <a:ea typeface="Arial"/>
                <a:cs typeface="Arial"/>
                <a:sym typeface="Arial"/>
              </a:rPr>
              <a:t> /object center </a:t>
            </a:r>
            <a:r>
              <a:rPr lang="en-AU"/>
              <a:t>Dimension</a:t>
            </a:r>
            <a:r>
              <a:rPr b="0" i="0" lang="en-AU" sz="1400" u="none" cap="none" strike="noStrike">
                <a:solidFill>
                  <a:srgbClr val="000000"/>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400"/>
              <a:buFont typeface="Arial"/>
              <a:buChar char="•"/>
            </a:pPr>
            <a:r>
              <a:rPr b="0" i="0" lang="en-AU" sz="1400" u="none" cap="none" strike="noStrike">
                <a:solidFill>
                  <a:srgbClr val="000000"/>
                </a:solidFill>
                <a:latin typeface="Arial"/>
                <a:ea typeface="Arial"/>
                <a:cs typeface="Arial"/>
                <a:sym typeface="Arial"/>
              </a:rPr>
              <a:t>Ratio 1: skeleton and object all 256</a:t>
            </a:r>
            <a:endParaRPr/>
          </a:p>
          <a:p>
            <a:pPr indent="-285750" lvl="0" marL="285750" marR="0" rtl="0" algn="l">
              <a:lnSpc>
                <a:spcPct val="100000"/>
              </a:lnSpc>
              <a:spcBef>
                <a:spcPts val="0"/>
              </a:spcBef>
              <a:spcAft>
                <a:spcPts val="0"/>
              </a:spcAft>
              <a:buClr>
                <a:srgbClr val="000000"/>
              </a:buClr>
              <a:buSzPts val="1400"/>
              <a:buFont typeface="Arial"/>
              <a:buChar char="•"/>
            </a:pPr>
            <a:r>
              <a:rPr b="0" i="0" lang="en-AU" sz="1400" u="none" cap="none" strike="noStrike">
                <a:solidFill>
                  <a:srgbClr val="000000"/>
                </a:solidFill>
                <a:latin typeface="Arial"/>
                <a:ea typeface="Arial"/>
                <a:cs typeface="Arial"/>
                <a:sym typeface="Arial"/>
              </a:rPr>
              <a:t>Ratio 3: skeleton 384 object 128</a:t>
            </a:r>
            <a:endParaRPr/>
          </a:p>
          <a:p>
            <a:pPr indent="-285750" lvl="0" marL="285750" marR="0" rtl="0" algn="l">
              <a:lnSpc>
                <a:spcPct val="100000"/>
              </a:lnSpc>
              <a:spcBef>
                <a:spcPts val="0"/>
              </a:spcBef>
              <a:spcAft>
                <a:spcPts val="0"/>
              </a:spcAft>
              <a:buClr>
                <a:srgbClr val="000000"/>
              </a:buClr>
              <a:buSzPts val="1400"/>
              <a:buFont typeface="Arial"/>
              <a:buChar char="•"/>
            </a:pPr>
            <a:r>
              <a:rPr b="0" i="0" lang="en-AU" sz="1400" u="none" cap="none" strike="noStrike">
                <a:solidFill>
                  <a:srgbClr val="000000"/>
                </a:solidFill>
                <a:latin typeface="Arial"/>
                <a:ea typeface="Arial"/>
                <a:cs typeface="Arial"/>
                <a:sym typeface="Arial"/>
              </a:rPr>
              <a:t>Variable: number of keypoints / object point, for example, 6 keypoint variable ratio is 438:74</a:t>
            </a:r>
            <a:endParaRPr/>
          </a:p>
        </p:txBody>
      </p:sp>
      <p:pic>
        <p:nvPicPr>
          <p:cNvPr id="469" name="Google Shape;469;p9"/>
          <p:cNvPicPr preferRelativeResize="0"/>
          <p:nvPr/>
        </p:nvPicPr>
        <p:blipFill rotWithShape="1">
          <a:blip r:embed="rId4">
            <a:alphaModFix/>
          </a:blip>
          <a:srcRect b="0" l="0" r="0" t="0"/>
          <a:stretch/>
        </p:blipFill>
        <p:spPr>
          <a:xfrm>
            <a:off x="7414270" y="991085"/>
            <a:ext cx="4559836" cy="4094129"/>
          </a:xfrm>
          <a:prstGeom prst="rect">
            <a:avLst/>
          </a:prstGeom>
          <a:noFill/>
          <a:ln>
            <a:noFill/>
          </a:ln>
        </p:spPr>
      </p:pic>
      <p:sp>
        <p:nvSpPr>
          <p:cNvPr id="470" name="Google Shape;470;p9"/>
          <p:cNvSpPr txBox="1"/>
          <p:nvPr/>
        </p:nvSpPr>
        <p:spPr>
          <a:xfrm>
            <a:off x="8369991" y="5266823"/>
            <a:ext cx="3604115" cy="4000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Fig.6：17 coco human skeleton keypoints</a:t>
            </a:r>
            <a:endParaRPr b="0" i="0" sz="1400" u="none" cap="none" strike="noStrike">
              <a:solidFill>
                <a:srgbClr val="000000"/>
              </a:solidFill>
              <a:latin typeface="Arial"/>
              <a:ea typeface="Arial"/>
              <a:cs typeface="Arial"/>
              <a:sym typeface="Arial"/>
            </a:endParaRPr>
          </a:p>
        </p:txBody>
      </p:sp>
      <p:sp>
        <p:nvSpPr>
          <p:cNvPr id="471" name="Google Shape;471;p9"/>
          <p:cNvSpPr/>
          <p:nvPr/>
        </p:nvSpPr>
        <p:spPr>
          <a:xfrm>
            <a:off x="8147154" y="2428611"/>
            <a:ext cx="89941" cy="82241"/>
          </a:xfrm>
          <a:prstGeom prst="flowChartConnector">
            <a:avLst/>
          </a:prstGeom>
          <a:solidFill>
            <a:srgbClr val="FFC0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2" name="Google Shape;472;p9"/>
          <p:cNvSpPr txBox="1"/>
          <p:nvPr/>
        </p:nvSpPr>
        <p:spPr>
          <a:xfrm>
            <a:off x="163654" y="6168452"/>
            <a:ext cx="13878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3200" u="none" cap="none" strike="noStrike">
                <a:solidFill>
                  <a:srgbClr val="000000"/>
                </a:solidFill>
                <a:latin typeface="Arial"/>
                <a:ea typeface="Arial"/>
                <a:cs typeface="Arial"/>
                <a:sym typeface="Arial"/>
              </a:rPr>
              <a:t>12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1"/>
          <p:cNvSpPr txBox="1"/>
          <p:nvPr/>
        </p:nvSpPr>
        <p:spPr>
          <a:xfrm>
            <a:off x="115409" y="253985"/>
            <a:ext cx="4738979" cy="7371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90000"/>
              </a:lnSpc>
              <a:spcBef>
                <a:spcPts val="1000"/>
              </a:spcBef>
              <a:spcAft>
                <a:spcPts val="0"/>
              </a:spcAft>
              <a:buClr>
                <a:schemeClr val="dk1"/>
              </a:buClr>
              <a:buSzPts val="4200"/>
              <a:buFont typeface="Arial"/>
              <a:buNone/>
            </a:pPr>
            <a:r>
              <a:rPr b="1" i="0" lang="en-AU" sz="4200" u="none" cap="none" strike="noStrike">
                <a:solidFill>
                  <a:schemeClr val="dk1"/>
                </a:solidFill>
                <a:latin typeface="Arial Narrow"/>
                <a:ea typeface="Arial Narrow"/>
                <a:cs typeface="Arial Narrow"/>
                <a:sym typeface="Arial Narrow"/>
              </a:rPr>
              <a:t>Research Result</a:t>
            </a:r>
            <a:endParaRPr/>
          </a:p>
        </p:txBody>
      </p:sp>
      <p:sp>
        <p:nvSpPr>
          <p:cNvPr id="479" name="Google Shape;479;p11"/>
          <p:cNvSpPr txBox="1"/>
          <p:nvPr/>
        </p:nvSpPr>
        <p:spPr>
          <a:xfrm>
            <a:off x="344275" y="890000"/>
            <a:ext cx="3884100" cy="55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AU" sz="2400" u="none" cap="none" strike="noStrike">
                <a:solidFill>
                  <a:srgbClr val="000000"/>
                </a:solidFill>
                <a:latin typeface="Arial"/>
                <a:ea typeface="Arial"/>
                <a:cs typeface="Arial"/>
                <a:sym typeface="Arial"/>
              </a:rPr>
              <a:t>Model Attention </a:t>
            </a:r>
            <a:endParaRPr b="0" i="0" sz="2400" u="none" cap="none" strike="noStrike">
              <a:solidFill>
                <a:srgbClr val="000000"/>
              </a:solidFill>
              <a:latin typeface="Arial"/>
              <a:ea typeface="Arial"/>
              <a:cs typeface="Arial"/>
              <a:sym typeface="Arial"/>
            </a:endParaRPr>
          </a:p>
        </p:txBody>
      </p:sp>
      <p:grpSp>
        <p:nvGrpSpPr>
          <p:cNvPr id="480" name="Google Shape;480;p11"/>
          <p:cNvGrpSpPr/>
          <p:nvPr/>
        </p:nvGrpSpPr>
        <p:grpSpPr>
          <a:xfrm>
            <a:off x="961465" y="1594675"/>
            <a:ext cx="5777402" cy="3775775"/>
            <a:chOff x="685799" y="1732606"/>
            <a:chExt cx="4901453" cy="3342749"/>
          </a:xfrm>
        </p:grpSpPr>
        <p:pic>
          <p:nvPicPr>
            <p:cNvPr id="481" name="Google Shape;481;p11"/>
            <p:cNvPicPr preferRelativeResize="0"/>
            <p:nvPr/>
          </p:nvPicPr>
          <p:blipFill rotWithShape="1">
            <a:blip r:embed="rId3">
              <a:alphaModFix/>
            </a:blip>
            <a:srcRect b="0" l="0" r="59798" t="0"/>
            <a:stretch/>
          </p:blipFill>
          <p:spPr>
            <a:xfrm>
              <a:off x="685799" y="1732606"/>
              <a:ext cx="4901453" cy="1691517"/>
            </a:xfrm>
            <a:prstGeom prst="rect">
              <a:avLst/>
            </a:prstGeom>
            <a:noFill/>
            <a:ln>
              <a:noFill/>
            </a:ln>
          </p:spPr>
        </p:pic>
        <p:pic>
          <p:nvPicPr>
            <p:cNvPr id="482" name="Google Shape;482;p11"/>
            <p:cNvPicPr preferRelativeResize="0"/>
            <p:nvPr/>
          </p:nvPicPr>
          <p:blipFill rotWithShape="1">
            <a:blip r:embed="rId3">
              <a:alphaModFix/>
            </a:blip>
            <a:srcRect b="0" l="60026" r="184" t="0"/>
            <a:stretch/>
          </p:blipFill>
          <p:spPr>
            <a:xfrm>
              <a:off x="710825" y="3383838"/>
              <a:ext cx="4851400" cy="1691517"/>
            </a:xfrm>
            <a:prstGeom prst="rect">
              <a:avLst/>
            </a:prstGeom>
            <a:noFill/>
            <a:ln>
              <a:noFill/>
            </a:ln>
          </p:spPr>
        </p:pic>
      </p:grpSp>
      <p:pic>
        <p:nvPicPr>
          <p:cNvPr id="483" name="Google Shape;483;p11"/>
          <p:cNvPicPr preferRelativeResize="0"/>
          <p:nvPr/>
        </p:nvPicPr>
        <p:blipFill rotWithShape="1">
          <a:blip r:embed="rId4">
            <a:alphaModFix/>
          </a:blip>
          <a:srcRect b="0" l="0" r="0" t="0"/>
          <a:stretch/>
        </p:blipFill>
        <p:spPr>
          <a:xfrm>
            <a:off x="6768365" y="2180629"/>
            <a:ext cx="3845858" cy="2649370"/>
          </a:xfrm>
          <a:prstGeom prst="rect">
            <a:avLst/>
          </a:prstGeom>
          <a:noFill/>
          <a:ln>
            <a:noFill/>
          </a:ln>
        </p:spPr>
      </p:pic>
      <p:sp>
        <p:nvSpPr>
          <p:cNvPr id="484" name="Google Shape;484;p11"/>
          <p:cNvSpPr txBox="1"/>
          <p:nvPr/>
        </p:nvSpPr>
        <p:spPr>
          <a:xfrm>
            <a:off x="1145608" y="5506664"/>
            <a:ext cx="9248968" cy="838533"/>
          </a:xfrm>
          <a:prstGeom prst="rect">
            <a:avLst/>
          </a:prstGeom>
          <a:blipFill rotWithShape="1">
            <a:blip r:embed="rId5">
              <a:alphaModFix/>
            </a:blip>
            <a:stretch>
              <a:fillRect b="-1449" l="-198"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AU" sz="1400" u="none" cap="none" strike="noStrike">
                <a:latin typeface="Arial"/>
                <a:ea typeface="Arial"/>
                <a:cs typeface="Arial"/>
                <a:sym typeface="Arial"/>
              </a:rPr>
              <a:t> </a:t>
            </a:r>
            <a:endParaRPr/>
          </a:p>
        </p:txBody>
      </p:sp>
      <p:sp>
        <p:nvSpPr>
          <p:cNvPr id="485" name="Google Shape;485;p11"/>
          <p:cNvSpPr txBox="1"/>
          <p:nvPr/>
        </p:nvSpPr>
        <p:spPr>
          <a:xfrm>
            <a:off x="1039894" y="1662043"/>
            <a:ext cx="47737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AU" sz="2800" u="none" cap="none" strike="noStrike">
                <a:solidFill>
                  <a:schemeClr val="lt1"/>
                </a:solidFill>
                <a:latin typeface="Arial"/>
                <a:ea typeface="Arial"/>
                <a:cs typeface="Arial"/>
                <a:sym typeface="Arial"/>
              </a:rPr>
              <a:t>1</a:t>
            </a:r>
            <a:endParaRPr/>
          </a:p>
        </p:txBody>
      </p:sp>
      <p:sp>
        <p:nvSpPr>
          <p:cNvPr id="486" name="Google Shape;486;p11"/>
          <p:cNvSpPr txBox="1"/>
          <p:nvPr/>
        </p:nvSpPr>
        <p:spPr>
          <a:xfrm>
            <a:off x="3889380" y="1662043"/>
            <a:ext cx="47737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AU" sz="2800" u="none" cap="none" strike="noStrike">
                <a:solidFill>
                  <a:schemeClr val="lt1"/>
                </a:solidFill>
                <a:latin typeface="Arial"/>
                <a:ea typeface="Arial"/>
                <a:cs typeface="Arial"/>
                <a:sym typeface="Arial"/>
              </a:rPr>
              <a:t>2</a:t>
            </a:r>
            <a:endParaRPr/>
          </a:p>
        </p:txBody>
      </p:sp>
      <p:sp>
        <p:nvSpPr>
          <p:cNvPr id="487" name="Google Shape;487;p11"/>
          <p:cNvSpPr txBox="1"/>
          <p:nvPr/>
        </p:nvSpPr>
        <p:spPr>
          <a:xfrm>
            <a:off x="1039894" y="3572682"/>
            <a:ext cx="47737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AU" sz="2800" u="none" cap="none" strike="noStrike">
                <a:solidFill>
                  <a:schemeClr val="lt1"/>
                </a:solidFill>
                <a:latin typeface="Arial"/>
                <a:ea typeface="Arial"/>
                <a:cs typeface="Arial"/>
                <a:sym typeface="Arial"/>
              </a:rPr>
              <a:t>3</a:t>
            </a:r>
            <a:endParaRPr/>
          </a:p>
        </p:txBody>
      </p:sp>
      <p:sp>
        <p:nvSpPr>
          <p:cNvPr id="488" name="Google Shape;488;p11"/>
          <p:cNvSpPr txBox="1"/>
          <p:nvPr/>
        </p:nvSpPr>
        <p:spPr>
          <a:xfrm>
            <a:off x="3889380" y="3522943"/>
            <a:ext cx="47737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AU" sz="2800" u="none" cap="none" strike="noStrike">
                <a:solidFill>
                  <a:schemeClr val="lt1"/>
                </a:solidFill>
                <a:latin typeface="Arial"/>
                <a:ea typeface="Arial"/>
                <a:cs typeface="Arial"/>
                <a:sym typeface="Arial"/>
              </a:rPr>
              <a:t>4</a:t>
            </a:r>
            <a:endParaRPr/>
          </a:p>
        </p:txBody>
      </p:sp>
      <p:sp>
        <p:nvSpPr>
          <p:cNvPr id="489" name="Google Shape;489;p11"/>
          <p:cNvSpPr txBox="1"/>
          <p:nvPr/>
        </p:nvSpPr>
        <p:spPr>
          <a:xfrm>
            <a:off x="6852216" y="2288384"/>
            <a:ext cx="47737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AU" sz="2800" u="none" cap="none" strike="noStrike">
                <a:solidFill>
                  <a:schemeClr val="lt1"/>
                </a:solidFill>
                <a:latin typeface="Arial"/>
                <a:ea typeface="Arial"/>
                <a:cs typeface="Arial"/>
                <a:sym typeface="Arial"/>
              </a:rPr>
              <a:t>5</a:t>
            </a:r>
            <a:endParaRPr/>
          </a:p>
        </p:txBody>
      </p:sp>
      <p:sp>
        <p:nvSpPr>
          <p:cNvPr id="490" name="Google Shape;490;p11"/>
          <p:cNvSpPr txBox="1"/>
          <p:nvPr/>
        </p:nvSpPr>
        <p:spPr>
          <a:xfrm>
            <a:off x="163654" y="6168452"/>
            <a:ext cx="13878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3200" u="none" cap="none" strike="noStrike">
                <a:solidFill>
                  <a:srgbClr val="000000"/>
                </a:solidFill>
                <a:latin typeface="Arial"/>
                <a:ea typeface="Arial"/>
                <a:cs typeface="Arial"/>
                <a:sym typeface="Arial"/>
              </a:rPr>
              <a:t>13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2"/>
          <p:cNvSpPr txBox="1"/>
          <p:nvPr>
            <p:ph idx="2" type="body"/>
          </p:nvPr>
        </p:nvSpPr>
        <p:spPr>
          <a:xfrm>
            <a:off x="77309" y="209130"/>
            <a:ext cx="9330300" cy="7371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90000"/>
              </a:lnSpc>
              <a:spcBef>
                <a:spcPts val="1000"/>
              </a:spcBef>
              <a:spcAft>
                <a:spcPts val="0"/>
              </a:spcAft>
              <a:buClr>
                <a:schemeClr val="dk1"/>
              </a:buClr>
              <a:buSzPts val="4200"/>
              <a:buFont typeface="Arial"/>
              <a:buNone/>
            </a:pPr>
            <a:r>
              <a:rPr lang="en-AU"/>
              <a:t>Research Result</a:t>
            </a:r>
            <a:endParaRPr b="1" i="0" sz="4200" u="none" cap="none" strike="noStrike">
              <a:solidFill>
                <a:schemeClr val="dk1"/>
              </a:solidFill>
              <a:latin typeface="Arial Narrow"/>
              <a:ea typeface="Arial Narrow"/>
              <a:cs typeface="Arial Narrow"/>
              <a:sym typeface="Arial Narrow"/>
            </a:endParaRPr>
          </a:p>
        </p:txBody>
      </p:sp>
      <p:sp>
        <p:nvSpPr>
          <p:cNvPr id="497" name="Google Shape;497;p12"/>
          <p:cNvSpPr txBox="1"/>
          <p:nvPr/>
        </p:nvSpPr>
        <p:spPr>
          <a:xfrm>
            <a:off x="344275" y="857575"/>
            <a:ext cx="4519099" cy="55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AU" sz="2400" u="none" cap="none" strike="noStrike">
                <a:solidFill>
                  <a:srgbClr val="000000"/>
                </a:solidFill>
                <a:latin typeface="Arial"/>
                <a:ea typeface="Arial"/>
                <a:cs typeface="Arial"/>
                <a:sym typeface="Arial"/>
              </a:rPr>
              <a:t>Results</a:t>
            </a:r>
            <a:endParaRPr/>
          </a:p>
        </p:txBody>
      </p:sp>
      <p:graphicFrame>
        <p:nvGraphicFramePr>
          <p:cNvPr id="498" name="Google Shape;498;p12"/>
          <p:cNvGraphicFramePr/>
          <p:nvPr/>
        </p:nvGraphicFramePr>
        <p:xfrm>
          <a:off x="815421" y="1684615"/>
          <a:ext cx="9627642" cy="4071608"/>
        </p:xfrm>
        <a:graphic>
          <a:graphicData uri="http://schemas.openxmlformats.org/drawingml/2006/chart">
            <c:chart r:id="rId3"/>
          </a:graphicData>
        </a:graphic>
      </p:graphicFrame>
      <p:sp>
        <p:nvSpPr>
          <p:cNvPr id="499" name="Google Shape;499;p12"/>
          <p:cNvSpPr txBox="1"/>
          <p:nvPr/>
        </p:nvSpPr>
        <p:spPr>
          <a:xfrm>
            <a:off x="3409123" y="5756223"/>
            <a:ext cx="5127776" cy="4000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Table. 1: Ablation Study based on refined V-COCO dataset</a:t>
            </a:r>
            <a:endParaRPr b="0" i="0" sz="1400" u="none" cap="none" strike="noStrike">
              <a:solidFill>
                <a:srgbClr val="000000"/>
              </a:solidFill>
              <a:latin typeface="Arial"/>
              <a:ea typeface="Arial"/>
              <a:cs typeface="Arial"/>
              <a:sym typeface="Arial"/>
            </a:endParaRPr>
          </a:p>
        </p:txBody>
      </p:sp>
      <p:sp>
        <p:nvSpPr>
          <p:cNvPr id="500" name="Google Shape;500;p12"/>
          <p:cNvSpPr txBox="1"/>
          <p:nvPr/>
        </p:nvSpPr>
        <p:spPr>
          <a:xfrm>
            <a:off x="163654" y="6168452"/>
            <a:ext cx="13878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3200" u="none" cap="none" strike="noStrike">
                <a:solidFill>
                  <a:srgbClr val="000000"/>
                </a:solidFill>
                <a:latin typeface="Arial"/>
                <a:ea typeface="Arial"/>
                <a:cs typeface="Arial"/>
                <a:sym typeface="Arial"/>
              </a:rPr>
              <a:t>14</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13"/>
          <p:cNvSpPr txBox="1"/>
          <p:nvPr>
            <p:ph idx="2" type="body"/>
          </p:nvPr>
        </p:nvSpPr>
        <p:spPr>
          <a:xfrm>
            <a:off x="115409" y="234530"/>
            <a:ext cx="9330300" cy="7371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90000"/>
              </a:lnSpc>
              <a:spcBef>
                <a:spcPts val="1000"/>
              </a:spcBef>
              <a:spcAft>
                <a:spcPts val="0"/>
              </a:spcAft>
              <a:buClr>
                <a:schemeClr val="dk1"/>
              </a:buClr>
              <a:buSzPts val="4200"/>
              <a:buFont typeface="Arial"/>
              <a:buNone/>
            </a:pPr>
            <a:r>
              <a:rPr lang="en-AU"/>
              <a:t>Research Result</a:t>
            </a:r>
            <a:endParaRPr b="1" i="0" sz="4200" u="none" cap="none" strike="noStrike">
              <a:solidFill>
                <a:schemeClr val="dk1"/>
              </a:solidFill>
              <a:latin typeface="Arial Narrow"/>
              <a:ea typeface="Arial Narrow"/>
              <a:cs typeface="Arial Narrow"/>
              <a:sym typeface="Arial Narrow"/>
            </a:endParaRPr>
          </a:p>
        </p:txBody>
      </p:sp>
      <p:sp>
        <p:nvSpPr>
          <p:cNvPr id="507" name="Google Shape;507;p13"/>
          <p:cNvSpPr txBox="1"/>
          <p:nvPr/>
        </p:nvSpPr>
        <p:spPr>
          <a:xfrm>
            <a:off x="337925" y="916303"/>
            <a:ext cx="5283386" cy="55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AU" sz="2400" u="none" cap="none" strike="noStrike">
                <a:solidFill>
                  <a:srgbClr val="000000"/>
                </a:solidFill>
                <a:latin typeface="Arial"/>
                <a:ea typeface="Arial"/>
                <a:cs typeface="Arial"/>
                <a:sym typeface="Arial"/>
              </a:rPr>
              <a:t>Results</a:t>
            </a:r>
            <a:endParaRPr/>
          </a:p>
        </p:txBody>
      </p:sp>
      <p:graphicFrame>
        <p:nvGraphicFramePr>
          <p:cNvPr id="508" name="Google Shape;508;p13"/>
          <p:cNvGraphicFramePr/>
          <p:nvPr/>
        </p:nvGraphicFramePr>
        <p:xfrm>
          <a:off x="1488016" y="1475503"/>
          <a:ext cx="3000000" cy="3000000"/>
        </p:xfrm>
        <a:graphic>
          <a:graphicData uri="http://schemas.openxmlformats.org/drawingml/2006/table">
            <a:tbl>
              <a:tblPr>
                <a:noFill/>
                <a:tableStyleId>{DEB9E4B6-BD7D-45AB-9CC1-8DE3A95DDF93}</a:tableStyleId>
              </a:tblPr>
              <a:tblGrid>
                <a:gridCol w="1145450"/>
                <a:gridCol w="2310150"/>
                <a:gridCol w="1266700"/>
                <a:gridCol w="1282700"/>
                <a:gridCol w="1060450"/>
                <a:gridCol w="205250"/>
                <a:gridCol w="1134600"/>
              </a:tblGrid>
              <a:tr h="203950">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00000"/>
                        </a:buClr>
                        <a:buSzPts val="1100"/>
                        <a:buFont typeface="Arial"/>
                        <a:buNone/>
                      </a:pPr>
                      <a:r>
                        <a:rPr b="1" lang="en-AU" sz="1100" u="none" cap="none" strike="noStrike">
                          <a:latin typeface="Times New Roman"/>
                          <a:ea typeface="Times New Roman"/>
                          <a:cs typeface="Times New Roman"/>
                          <a:sym typeface="Times New Roman"/>
                        </a:rPr>
                        <a:t>HICO-DET</a:t>
                      </a:r>
                      <a:endParaRPr b="1"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en-AU" sz="1100" u="none" cap="none" strike="noStrike">
                          <a:latin typeface="Times New Roman"/>
                          <a:ea typeface="Times New Roman"/>
                          <a:cs typeface="Times New Roman"/>
                          <a:sym typeface="Times New Roman"/>
                        </a:rPr>
                        <a:t>V-COCO</a:t>
                      </a:r>
                      <a:endParaRPr b="1"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Default setting</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b="1" lang="en-AU" sz="1100" u="none" cap="none" strike="noStrike">
                          <a:latin typeface="Times New Roman"/>
                          <a:ea typeface="Times New Roman"/>
                          <a:cs typeface="Times New Roman"/>
                          <a:sym typeface="Times New Roman"/>
                        </a:rPr>
                        <a:t>Method</a:t>
                      </a:r>
                      <a:endParaRPr b="1"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en-AU" sz="1100" u="none" cap="none" strike="noStrike">
                          <a:latin typeface="Times New Roman"/>
                          <a:ea typeface="Times New Roman"/>
                          <a:cs typeface="Times New Roman"/>
                          <a:sym typeface="Times New Roman"/>
                        </a:rPr>
                        <a:t>Backbone</a:t>
                      </a:r>
                      <a:endParaRPr b="1"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Full</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Rare</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Non-rare</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mAP</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InteractNet</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ResNet-50-FPN</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9.94</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7.16</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10.77</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40</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GPNN</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ResNet-101</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13.11</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9.34</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14.23</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44</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iCAN</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ResNet-50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14.84</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10.45</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16.15</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45.3</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TIN</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ResNet-50</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17.03</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13.42</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18.11</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47.8</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VSGNet</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RetNet-152</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19.8</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16.05</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20.91</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51.8</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PPDM</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Hourglass-104</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21.94</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13.97</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24.32</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VCL</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ResNet-50</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23.63</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17.21</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25.55</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48.3</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DRG</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ResNet-50-FPN</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24.53</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19.47</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26.04</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51</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IDN</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ResNet-50</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24.58</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20.33</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25.86</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53.3</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HOTR</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ResNet-50</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25.1</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17.34</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27.42</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55.2</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FCL</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ResNet-50</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25.27</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20.57</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26.67</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52.4</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HOI-Trans</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ResNet-101</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26.61</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19.15</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28.84</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52.9</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AS-Net</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ResNet-50</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28.87</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24.25</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30.25</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53.9</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SCG</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ResNet-50-FPN</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29.26</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24.61</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30.65</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54.2</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QPIC</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ResNet-101</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29.9</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23.92</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31.69</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58.8</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CDN</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ResNet-101</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32.07</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27.19</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33.53</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63.9</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UPT</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ResNet-101-DC5</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32.62</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28.62</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33.81</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61.3</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RLIP</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ResNet-50</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32.84</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26.85</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34.63</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61.9</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GEN-VLKT</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ResNet-50</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33.75</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29.25</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35.1</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62.4</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9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PVIC</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ResNet-50</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34.69</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en-AU" sz="1100" u="none" cap="none" strike="noStrike">
                          <a:latin typeface="Times New Roman"/>
                          <a:ea typeface="Times New Roman"/>
                          <a:cs typeface="Times New Roman"/>
                          <a:sym typeface="Times New Roman"/>
                        </a:rPr>
                        <a:t>32.14</a:t>
                      </a:r>
                      <a:endParaRPr b="1"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35.45</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62.8</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946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Ours-17-ratio1</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ResNet-50</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en-AU" sz="1100" u="none" cap="none" strike="noStrike">
                          <a:latin typeface="Times New Roman"/>
                          <a:ea typeface="Times New Roman"/>
                          <a:cs typeface="Times New Roman"/>
                          <a:sym typeface="Times New Roman"/>
                        </a:rPr>
                        <a:t>34.86</a:t>
                      </a:r>
                      <a:endParaRPr b="1"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AU" sz="1100" u="none" cap="none" strike="noStrike">
                          <a:latin typeface="Times New Roman"/>
                          <a:ea typeface="Times New Roman"/>
                          <a:cs typeface="Times New Roman"/>
                          <a:sym typeface="Times New Roman"/>
                        </a:rPr>
                        <a:t>31.92</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en-AU" sz="1100" u="none" cap="none" strike="noStrike">
                          <a:latin typeface="Times New Roman"/>
                          <a:ea typeface="Times New Roman"/>
                          <a:cs typeface="Times New Roman"/>
                          <a:sym typeface="Times New Roman"/>
                        </a:rPr>
                        <a:t>36.15</a:t>
                      </a:r>
                      <a:endParaRPr b="1"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en-AU" sz="1100" u="none" cap="none" strike="noStrike">
                          <a:latin typeface="Times New Roman"/>
                          <a:ea typeface="Times New Roman"/>
                          <a:cs typeface="Times New Roman"/>
                          <a:sym typeface="Times New Roman"/>
                        </a:rPr>
                        <a:t>62.95</a:t>
                      </a:r>
                      <a:endParaRPr b="1" i="0" sz="1100" u="none" cap="none" strike="noStrike">
                        <a:solidFill>
                          <a:srgbClr val="000000"/>
                        </a:solidFill>
                        <a:latin typeface="Times New Roman"/>
                        <a:ea typeface="Times New Roman"/>
                        <a:cs typeface="Times New Roman"/>
                        <a:sym typeface="Times New Roman"/>
                      </a:endParaRPr>
                    </a:p>
                  </a:txBody>
                  <a:tcPr marT="6250" marB="0" marR="6250" marL="62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509" name="Google Shape;509;p13"/>
          <p:cNvSpPr txBox="1"/>
          <p:nvPr/>
        </p:nvSpPr>
        <p:spPr>
          <a:xfrm>
            <a:off x="1834028" y="6372362"/>
            <a:ext cx="9248968" cy="4000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AU" sz="1400" u="none" cap="none" strike="noStrike">
                <a:solidFill>
                  <a:srgbClr val="000000"/>
                </a:solidFill>
                <a:latin typeface="Arial"/>
                <a:ea typeface="Arial"/>
                <a:cs typeface="Arial"/>
                <a:sym typeface="Arial"/>
              </a:rPr>
              <a:t>Table. 2: Performance comparison in original V-COCO and HICO-DET dataset with other Model</a:t>
            </a:r>
            <a:endParaRPr b="0" i="0" sz="1400" u="none" cap="none" strike="noStrike">
              <a:solidFill>
                <a:srgbClr val="000000"/>
              </a:solidFill>
              <a:latin typeface="Arial"/>
              <a:ea typeface="Arial"/>
              <a:cs typeface="Arial"/>
              <a:sym typeface="Arial"/>
            </a:endParaRPr>
          </a:p>
        </p:txBody>
      </p:sp>
      <p:sp>
        <p:nvSpPr>
          <p:cNvPr id="510" name="Google Shape;510;p13"/>
          <p:cNvSpPr txBox="1"/>
          <p:nvPr/>
        </p:nvSpPr>
        <p:spPr>
          <a:xfrm>
            <a:off x="163654" y="6168452"/>
            <a:ext cx="13878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3200" u="none" cap="none" strike="noStrike">
                <a:solidFill>
                  <a:srgbClr val="000000"/>
                </a:solidFill>
                <a:latin typeface="Arial"/>
                <a:ea typeface="Arial"/>
                <a:cs typeface="Arial"/>
                <a:sym typeface="Arial"/>
              </a:rPr>
              <a:t>15</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14"/>
          <p:cNvSpPr txBox="1"/>
          <p:nvPr/>
        </p:nvSpPr>
        <p:spPr>
          <a:xfrm>
            <a:off x="115409" y="253985"/>
            <a:ext cx="4738979" cy="7371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90000"/>
              </a:lnSpc>
              <a:spcBef>
                <a:spcPts val="1000"/>
              </a:spcBef>
              <a:spcAft>
                <a:spcPts val="0"/>
              </a:spcAft>
              <a:buClr>
                <a:schemeClr val="dk1"/>
              </a:buClr>
              <a:buSzPts val="4200"/>
              <a:buFont typeface="Arial"/>
              <a:buNone/>
            </a:pPr>
            <a:r>
              <a:rPr b="1" i="0" lang="en-AU" sz="4200" u="none" cap="none" strike="noStrike">
                <a:solidFill>
                  <a:schemeClr val="dk1"/>
                </a:solidFill>
                <a:latin typeface="Arial Narrow"/>
                <a:ea typeface="Arial Narrow"/>
                <a:cs typeface="Arial Narrow"/>
                <a:sym typeface="Arial Narrow"/>
              </a:rPr>
              <a:t>Timeline</a:t>
            </a:r>
            <a:endParaRPr/>
          </a:p>
        </p:txBody>
      </p:sp>
      <p:graphicFrame>
        <p:nvGraphicFramePr>
          <p:cNvPr id="517" name="Google Shape;517;p14"/>
          <p:cNvGraphicFramePr/>
          <p:nvPr/>
        </p:nvGraphicFramePr>
        <p:xfrm>
          <a:off x="723235" y="4246506"/>
          <a:ext cx="3000000" cy="3000000"/>
        </p:xfrm>
        <a:graphic>
          <a:graphicData uri="http://schemas.openxmlformats.org/drawingml/2006/table">
            <a:tbl>
              <a:tblPr bandRow="1" firstRow="1">
                <a:noFill/>
                <a:tableStyleId>{DEB9E4B6-BD7D-45AB-9CC1-8DE3A95DDF93}</a:tableStyleId>
              </a:tblPr>
              <a:tblGrid>
                <a:gridCol w="5297175"/>
                <a:gridCol w="4389125"/>
                <a:gridCol w="1199700"/>
              </a:tblGrid>
              <a:tr h="421150">
                <a:tc>
                  <a:txBody>
                    <a:bodyPr/>
                    <a:lstStyle/>
                    <a:p>
                      <a:pPr indent="0" lvl="0" marL="0" marR="0" rtl="0" algn="l">
                        <a:lnSpc>
                          <a:spcPct val="100000"/>
                        </a:lnSpc>
                        <a:spcBef>
                          <a:spcPts val="0"/>
                        </a:spcBef>
                        <a:spcAft>
                          <a:spcPts val="0"/>
                        </a:spcAft>
                        <a:buNone/>
                      </a:pPr>
                      <a:r>
                        <a:rPr lang="en-AU" sz="1400" u="none" cap="none" strike="noStrike"/>
                        <a:t>Name</a:t>
                      </a:r>
                      <a:endParaRPr/>
                    </a:p>
                  </a:txBody>
                  <a:tcPr marT="45725" marB="45725" marR="91450" marL="91450"/>
                </a:tc>
                <a:tc>
                  <a:txBody>
                    <a:bodyPr/>
                    <a:lstStyle/>
                    <a:p>
                      <a:pPr indent="0" lvl="0" marL="0" marR="0" rtl="0" algn="l">
                        <a:lnSpc>
                          <a:spcPct val="100000"/>
                        </a:lnSpc>
                        <a:spcBef>
                          <a:spcPts val="0"/>
                        </a:spcBef>
                        <a:spcAft>
                          <a:spcPts val="0"/>
                        </a:spcAft>
                        <a:buNone/>
                      </a:pPr>
                      <a:r>
                        <a:rPr lang="en-AU" sz="1400" u="none" cap="none" strike="noStrike"/>
                        <a:t>Journal</a:t>
                      </a:r>
                      <a:endParaRPr/>
                    </a:p>
                  </a:txBody>
                  <a:tcPr marT="45725" marB="45725" marR="91450" marL="91450"/>
                </a:tc>
                <a:tc>
                  <a:txBody>
                    <a:bodyPr/>
                    <a:lstStyle/>
                    <a:p>
                      <a:pPr indent="0" lvl="0" marL="0" marR="0" rtl="0" algn="l">
                        <a:lnSpc>
                          <a:spcPct val="100000"/>
                        </a:lnSpc>
                        <a:spcBef>
                          <a:spcPts val="0"/>
                        </a:spcBef>
                        <a:spcAft>
                          <a:spcPts val="0"/>
                        </a:spcAft>
                        <a:buNone/>
                      </a:pPr>
                      <a:r>
                        <a:rPr lang="en-AU" sz="1400" u="none" cap="none" strike="noStrike"/>
                        <a:t>Condition</a:t>
                      </a:r>
                      <a:endParaRPr sz="1400" u="none" cap="none" strike="noStrike"/>
                    </a:p>
                  </a:txBody>
                  <a:tcPr marT="45725" marB="45725" marR="91450" marL="91450"/>
                </a:tc>
              </a:tr>
              <a:tr h="421150">
                <a:tc>
                  <a:txBody>
                    <a:bodyPr/>
                    <a:lstStyle/>
                    <a:p>
                      <a:pPr indent="0" lvl="0" marL="0" marR="0" rtl="0" algn="l">
                        <a:lnSpc>
                          <a:spcPct val="100000"/>
                        </a:lnSpc>
                        <a:spcBef>
                          <a:spcPts val="0"/>
                        </a:spcBef>
                        <a:spcAft>
                          <a:spcPts val="0"/>
                        </a:spcAft>
                        <a:buClr>
                          <a:srgbClr val="000000"/>
                        </a:buClr>
                        <a:buSzPts val="1400"/>
                        <a:buFont typeface="Arial"/>
                        <a:buNone/>
                      </a:pPr>
                      <a:r>
                        <a:rPr lang="en-AU" sz="1400" u="none" cap="none" strike="noStrike">
                          <a:solidFill>
                            <a:schemeClr val="dk1"/>
                          </a:solidFill>
                          <a:latin typeface="Arial"/>
                          <a:ea typeface="Arial"/>
                          <a:cs typeface="Arial"/>
                          <a:sym typeface="Arial"/>
                        </a:rPr>
                        <a:t>Position-Aware Visual Interaction Transformers with Human-Centric Priors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i="0" lang="en-AU" sz="1400" u="none" cap="none" strike="noStrike">
                          <a:solidFill>
                            <a:schemeClr val="dk1"/>
                          </a:solidFill>
                          <a:latin typeface="Arial"/>
                          <a:ea typeface="Arial"/>
                          <a:cs typeface="Arial"/>
                          <a:sym typeface="Arial"/>
                        </a:rPr>
                        <a:t>IEEE Transactions on Artificial Intelligence</a:t>
                      </a:r>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AU" sz="1400" u="none" cap="none" strike="noStrike"/>
                        <a:t>Draft</a:t>
                      </a:r>
                      <a:endParaRPr sz="1400" u="none" cap="none" strike="noStrike"/>
                    </a:p>
                  </a:txBody>
                  <a:tcPr marT="45725" marB="45725" marR="91450" marL="91450"/>
                </a:tc>
              </a:tr>
              <a:tr h="421150">
                <a:tc>
                  <a:txBody>
                    <a:bodyPr/>
                    <a:lstStyle/>
                    <a:p>
                      <a:pPr indent="0" lvl="0" marL="0" marR="0" rtl="0" algn="l">
                        <a:lnSpc>
                          <a:spcPct val="100000"/>
                        </a:lnSpc>
                        <a:spcBef>
                          <a:spcPts val="0"/>
                        </a:spcBef>
                        <a:spcAft>
                          <a:spcPts val="0"/>
                        </a:spcAft>
                        <a:buNone/>
                      </a:pPr>
                      <a:r>
                        <a:rPr lang="en-AU" sz="1400" u="none" cap="none" strike="noStrike"/>
                        <a:t>Learning Human-Centric Interaction Evolution in Video Sequences via Temporal Transformers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i="0" lang="en-AU" sz="1400" u="none" cap="none" strike="noStrike">
                          <a:solidFill>
                            <a:schemeClr val="dk1"/>
                          </a:solidFill>
                          <a:latin typeface="Arial"/>
                          <a:ea typeface="Arial"/>
                          <a:cs typeface="Arial"/>
                          <a:sym typeface="Arial"/>
                        </a:rPr>
                        <a:t>IEEE Transactions on Artificial Intelligence</a:t>
                      </a:r>
                      <a:endParaRPr/>
                    </a:p>
                  </a:txBody>
                  <a:tcPr marT="45725" marB="45725" marR="91450" marL="91450"/>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tc>
              </a:tr>
              <a:tr h="421150">
                <a:tc>
                  <a:txBody>
                    <a:bodyPr/>
                    <a:lstStyle/>
                    <a:p>
                      <a:pPr indent="0" lvl="0" marL="0" marR="0" rtl="0" algn="l">
                        <a:lnSpc>
                          <a:spcPct val="100000"/>
                        </a:lnSpc>
                        <a:spcBef>
                          <a:spcPts val="0"/>
                        </a:spcBef>
                        <a:spcAft>
                          <a:spcPts val="0"/>
                        </a:spcAft>
                        <a:buNone/>
                      </a:pPr>
                      <a:r>
                        <a:rPr lang="en-AU" sz="1400" u="none" cap="none" strike="noStrike"/>
                        <a:t>Occlusion-Robust Human Object Detection Detection via Pose-Guided Feature Completion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AU" sz="1400" u="none" cap="none" strike="noStrike"/>
                        <a:t>(IEEE International Conference on Image Processing</a:t>
                      </a:r>
                      <a:endParaRPr/>
                    </a:p>
                  </a:txBody>
                  <a:tcPr marT="45725" marB="45725" marR="91450" marL="91450"/>
                </a:tc>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tc>
              </a:tr>
            </a:tbl>
          </a:graphicData>
        </a:graphic>
      </p:graphicFrame>
      <p:sp>
        <p:nvSpPr>
          <p:cNvPr id="518" name="Google Shape;518;p14"/>
          <p:cNvSpPr txBox="1"/>
          <p:nvPr/>
        </p:nvSpPr>
        <p:spPr>
          <a:xfrm>
            <a:off x="163654" y="6168452"/>
            <a:ext cx="138782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3200" u="none" cap="none" strike="noStrike">
                <a:solidFill>
                  <a:srgbClr val="000000"/>
                </a:solidFill>
                <a:latin typeface="Arial"/>
                <a:ea typeface="Arial"/>
                <a:cs typeface="Arial"/>
                <a:sym typeface="Arial"/>
              </a:rPr>
              <a:t>16</a:t>
            </a:r>
            <a:endParaRPr/>
          </a:p>
        </p:txBody>
      </p:sp>
      <p:pic>
        <p:nvPicPr>
          <p:cNvPr id="519" name="Google Shape;519;p14"/>
          <p:cNvPicPr preferRelativeResize="0"/>
          <p:nvPr/>
        </p:nvPicPr>
        <p:blipFill rotWithShape="1">
          <a:blip r:embed="rId3">
            <a:alphaModFix/>
          </a:blip>
          <a:srcRect b="0" l="0" r="0" t="0"/>
          <a:stretch/>
        </p:blipFill>
        <p:spPr>
          <a:xfrm>
            <a:off x="460343" y="1054882"/>
            <a:ext cx="11534660" cy="312782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46"/>
          <p:cNvSpPr/>
          <p:nvPr/>
        </p:nvSpPr>
        <p:spPr>
          <a:xfrm>
            <a:off x="4378420" y="2347295"/>
            <a:ext cx="6135300" cy="1815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AU" sz="6000" u="none" cap="none" strike="noStrike">
                <a:solidFill>
                  <a:srgbClr val="000000"/>
                </a:solidFill>
                <a:latin typeface="Arial"/>
                <a:ea typeface="Arial"/>
                <a:cs typeface="Arial"/>
                <a:sym typeface="Arial"/>
              </a:rPr>
              <a:t>Thanks </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Image Deck">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mage Deck">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Megan Deacon</dc:creator>
</cp:coreProperties>
</file>